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563" r:id="rId3"/>
    <p:sldId id="568" r:id="rId5"/>
    <p:sldId id="569" r:id="rId6"/>
    <p:sldId id="649" r:id="rId7"/>
    <p:sldId id="650" r:id="rId8"/>
    <p:sldId id="651" r:id="rId9"/>
    <p:sldId id="652" r:id="rId10"/>
    <p:sldId id="653" r:id="rId11"/>
    <p:sldId id="655" r:id="rId12"/>
    <p:sldId id="654" r:id="rId13"/>
    <p:sldId id="656" r:id="rId14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010"/>
    <p:restoredTop sz="87728"/>
  </p:normalViewPr>
  <p:slideViewPr>
    <p:cSldViewPr showGuides="1">
      <p:cViewPr varScale="1">
        <p:scale>
          <a:sx n="67" d="100"/>
          <a:sy n="67" d="100"/>
        </p:scale>
        <p:origin x="252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BBBDA8-A95B-45CD-9D7C-7CB684BFEA81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D30694-67A6-45B8-A42A-CC4B18E9F492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pt-BR" altLang="zh-CN" dirty="0">
                <a:ea typeface="宋体" panose="02010600030101010101" pitchFamily="2" charset="-122"/>
              </a:rPr>
              <a:t> bool r;</a:t>
            </a:r>
            <a:endParaRPr lang="pt-BR" altLang="zh-CN" dirty="0">
              <a:ea typeface="宋体" panose="02010600030101010101" pitchFamily="2" charset="-122"/>
            </a:endParaRPr>
          </a:p>
          <a:p>
            <a:pPr lvl="0"/>
            <a:r>
              <a:rPr lang="pt-BR" altLang="zh-CN" dirty="0">
                <a:ea typeface="宋体" panose="02010600030101010101" pitchFamily="2" charset="-122"/>
              </a:rPr>
              <a:t>     r = (!b) &amp;&amp;(c&gt;a);</a:t>
            </a:r>
            <a:endParaRPr lang="pt-BR" altLang="zh-CN" dirty="0">
              <a:ea typeface="宋体" panose="02010600030101010101" pitchFamily="2" charset="-122"/>
            </a:endParaRPr>
          </a:p>
          <a:p>
            <a:pPr lvl="0"/>
            <a:r>
              <a:rPr lang="pt-BR" altLang="zh-CN" dirty="0">
                <a:ea typeface="宋体" panose="02010600030101010101" pitchFamily="2" charset="-122"/>
              </a:rPr>
              <a:t>     cout&lt;&lt;r&lt;&lt;","&lt;&lt;sizeof(r)&lt;&lt;endl;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逻辑运算的短路效应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逻辑或 </a:t>
            </a:r>
            <a:r>
              <a:rPr lang="en-US" altLang="zh-CN" dirty="0">
                <a:ea typeface="宋体" panose="02010600030101010101" pitchFamily="2" charset="-122"/>
              </a:rPr>
              <a:t>(||) </a:t>
            </a:r>
            <a:r>
              <a:rPr lang="zh-CN" altLang="en-US" dirty="0">
                <a:ea typeface="宋体" panose="02010600030101010101" pitchFamily="2" charset="-122"/>
              </a:rPr>
              <a:t>的短路效应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加法溢出，模运算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加法溢出，模运算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浮点数的大小比较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同一直线上如何？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  <a:r>
              <a:rPr lang="zh-CN" altLang="en-US" dirty="0">
                <a:ea typeface="宋体" panose="02010600030101010101" pitchFamily="2" charset="-122"/>
              </a:rPr>
              <a:t>除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D:/wechatFiles/xwechat_files/wxid_0q5ffxxpcogw22_e167/msg/file/2026-10/http:/www.tju.edu.cn/yx/images/badge.gif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7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2068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DC81D6-E53F-4829-A4E7-973353235736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462838" y="6640513"/>
            <a:ext cx="18415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3" name="文本框 2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高级语言程序设计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00BF27-0B79-4108-820B-303387E65BCD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8226AA-F538-4A3D-87FF-C51979BCA4CF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038683-CFD5-4D83-AEE6-3CB516989825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1CED51-C56C-4244-B83F-4F63593DFDC2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11EC43-B6CD-4060-B465-C0ABEB31790F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8FFB8B-FA72-4FB2-B36A-045CF706EEDE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15097E-4C06-4FAB-A064-564E045CBF8A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EA894B-F79E-415F-8E64-4FC0632EAF1C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467FE7-7FB8-428F-84F6-57D4D7225B79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772253-DDAA-457C-A82C-1E21D9021B1E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1E159E-49A2-4DFB-AD18-15B6A131AABE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D:/wechatFiles/xwechat_files/wxid_0q5ffxxpcogw22_e167/msg/file/2026-10/http:/www.tju.edu.cn/yx/images/badge.gif" TargetMode="Externa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DC81D6-E53F-4829-A4E7-973353235736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3" r:link="rId14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  <a:ln/>
        </p:spPr>
        <p:txBody>
          <a:bodyPr vert="horz" wrap="square" lIns="91440" tIns="45720" rIns="91440" bIns="45720" anchor="ctr" anchorCtr="0"/>
          <a:p>
            <a:pPr>
              <a:buClrTx/>
              <a:buSzTx/>
              <a:buFontTx/>
            </a:pPr>
            <a:r>
              <a:rPr lang="zh-CN" altLang="en-US" sz="4800" i="0" dirty="0">
                <a:latin typeface="微软雅黑" panose="020B0503020204020204" pitchFamily="34" charset="-122"/>
                <a:ea typeface="+mj-ea"/>
                <a:cs typeface="楷体_GB2312"/>
              </a:rPr>
              <a:t>高级语言程序设计</a:t>
            </a:r>
            <a:endParaRPr lang="zh-CN" altLang="en-US" sz="4800" i="0" dirty="0">
              <a:latin typeface="微软雅黑" panose="020B0503020204020204" pitchFamily="34" charset="-122"/>
              <a:ea typeface="+mj-ea"/>
              <a:cs typeface="楷体_GB2312"/>
            </a:endParaRPr>
          </a:p>
        </p:txBody>
      </p:sp>
      <p:sp>
        <p:nvSpPr>
          <p:cNvPr id="15363" name="矩形 1"/>
          <p:cNvSpPr/>
          <p:nvPr/>
        </p:nvSpPr>
        <p:spPr>
          <a:xfrm>
            <a:off x="2895600" y="4267200"/>
            <a:ext cx="40386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任课教师： 李雪威</a:t>
            </a:r>
            <a:endParaRPr lang="en-US" altLang="zh-CN" sz="3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64" name="文本框 1"/>
          <p:cNvSpPr txBox="1"/>
          <p:nvPr/>
        </p:nvSpPr>
        <p:spPr>
          <a:xfrm>
            <a:off x="4930775" y="4876800"/>
            <a:ext cx="18732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</a:rPr>
              <a:t>2026.10.13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1741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总结：变量声明与基本运算 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538" y="1020763"/>
            <a:ext cx="8534400" cy="53435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变量的定义和要素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基本数据类型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字符数据类型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char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数值数据类型（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short, int, long/long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long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 float, double)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类型转换（隐式、显式）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***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bool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类型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基本运算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算术运算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关系运算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位运算（对整数的二进制形式运算）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运算符：</a:t>
            </a:r>
            <a:r>
              <a:rPr kumimoji="0" lang="en-US" altLang="zh-CN" sz="16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&amp;, | ,</a:t>
            </a: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^,  ~,  &lt;&lt;,  &gt;&gt;</a:t>
            </a:r>
            <a:endParaRPr kumimoji="0" lang="en-US" altLang="zh-CN" sz="16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优先级：高于逻辑运算符，但低于关系运算符和算术运算符。</a:t>
            </a:r>
            <a:endParaRPr kumimoji="0" lang="en-US" altLang="zh-CN" sz="16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18435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变量声明与基本运算 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538" y="1020763"/>
            <a:ext cx="8534400" cy="5603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运算符优先级（自学）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843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581150"/>
            <a:ext cx="6934200" cy="518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课上练习题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3400" y="1066800"/>
            <a:ext cx="6096000" cy="59086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#include &lt;iostream&gt;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#include &lt;cstdint&gt;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using namespace std;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main(){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uint32_t u = 0;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u = u - 1;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 &lt;&lt; u &lt;&lt; endl;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 &lt;&lt; (-1 &lt; 1u) &lt;&lt; endl;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uint8_t uc = 250;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uc = uc + 10;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 &lt;&lt; (int)uc &lt;&lt; endl;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short int a=65535;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short int b,c;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b = 10;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c = a + b;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cout&lt;&lt;c&lt;&lt;endl;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a=32767;//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c = a + b;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cout&lt;&lt;c&lt;&lt;endl;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return 0;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461" name="矩形 10"/>
          <p:cNvSpPr/>
          <p:nvPr/>
        </p:nvSpPr>
        <p:spPr>
          <a:xfrm>
            <a:off x="3552825" y="1219200"/>
            <a:ext cx="45577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读代码，写结果并分析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86400" y="2209800"/>
            <a:ext cx="2743200" cy="1938338"/>
          </a:xfrm>
          <a:prstGeom prst="rect">
            <a:avLst/>
          </a:prstGeom>
          <a:noFill/>
          <a:ln w="9525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4294967295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-32759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课上练习题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21508" name="矩形 2"/>
          <p:cNvSpPr/>
          <p:nvPr/>
        </p:nvSpPr>
        <p:spPr>
          <a:xfrm>
            <a:off x="533400" y="1066800"/>
            <a:ext cx="8001000" cy="5632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#include &lt;iostream&gt;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using namespace std;</a:t>
            </a:r>
            <a:b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int main()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int x = 1, y = 0, z = 0;</a:t>
            </a:r>
            <a:b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逻辑或 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||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z = x++ || y++;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"x: " &lt;&lt; x &lt;&lt; ", y: " &lt;&lt; y &lt;&lt; ", z: " &lt;&lt; z &lt;&lt; endl; // </a:t>
            </a: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输出</a:t>
            </a:r>
            <a:b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// </a:t>
            </a: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逻辑与 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&amp;&amp;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x = 0; y = 0; z = 0;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z = x++ &amp;&amp; y++;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cout &lt;&lt; "x: " &lt;&lt; x &lt;&lt; ", y: " &lt;&lt; y &lt;&lt; ", z: " &lt;&lt; z &lt;&lt; endl; // </a:t>
            </a: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输出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int a = 5, b = 10;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bool result = (a &gt; 3) &amp;&amp; (b &lt; 15) || (a == b);//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result&lt;&lt; endl;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result = !b &amp;&amp;(a+b);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result&lt;&lt; endl;//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return 0;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9" name="矩形 10"/>
          <p:cNvSpPr/>
          <p:nvPr/>
        </p:nvSpPr>
        <p:spPr>
          <a:xfrm>
            <a:off x="3552825" y="1219200"/>
            <a:ext cx="45577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读代码，写结果并分析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课上练习题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3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23556" name="矩形 2"/>
          <p:cNvSpPr/>
          <p:nvPr/>
        </p:nvSpPr>
        <p:spPr>
          <a:xfrm>
            <a:off x="228600" y="1219200"/>
            <a:ext cx="8001000" cy="4832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#include &lt;iostream&gt;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using namespace std;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b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int main()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char ch = 'A';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int n = 65;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 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(ch == n) &lt;&lt; endl;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(ch + 1 == 'B') &lt;&lt; endl;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(ch &lt; 'a') &lt;&lt; endl;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(ch + 32 == 'a') &lt;&lt; endl;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(ch + '0' &gt; 100) &lt;&lt; endl;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('9' - '0' == 9) &lt;&lt; endl;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('9' - '0' + 1) &lt;&lt; endl;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7" name="矩形 10"/>
          <p:cNvSpPr/>
          <p:nvPr/>
        </p:nvSpPr>
        <p:spPr>
          <a:xfrm>
            <a:off x="3552825" y="1219200"/>
            <a:ext cx="45577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读代码，写结果并分析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8" name="矩形 4"/>
          <p:cNvSpPr/>
          <p:nvPr/>
        </p:nvSpPr>
        <p:spPr>
          <a:xfrm>
            <a:off x="4495800" y="3124200"/>
            <a:ext cx="4572000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rgbClr val="1B6AC7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ch = </a:t>
            </a:r>
            <a:r>
              <a:rPr lang="en-US" altLang="zh-CN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'G'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rgbClr val="1B6AC7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((ch &gt;= </a:t>
            </a:r>
            <a:r>
              <a:rPr lang="en-US" altLang="zh-CN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 &amp;&amp; (ch &lt;= </a:t>
            </a:r>
            <a:r>
              <a:rPr lang="en-US" altLang="zh-CN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  <a:endParaRPr lang="en-US" altLang="zh-CN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   cout &lt;&lt; </a:t>
            </a:r>
            <a:r>
              <a:rPr lang="en-US" altLang="zh-CN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大写字母</a:t>
            </a:r>
            <a:r>
              <a:rPr lang="en-US" altLang="zh-CN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altLang="zh-CN" sz="2000" b="0" dirty="0">
                <a:solidFill>
                  <a:srgbClr val="1B6AC7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   cout &lt;&lt; </a:t>
            </a:r>
            <a:r>
              <a:rPr lang="en-US" altLang="zh-CN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不是大写字母</a:t>
            </a:r>
            <a:r>
              <a:rPr lang="en-US" altLang="zh-CN" sz="2000" b="0" dirty="0">
                <a:solidFill>
                  <a:srgbClr val="7E0B0B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课上练习题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25604" name="矩形 2"/>
          <p:cNvSpPr/>
          <p:nvPr/>
        </p:nvSpPr>
        <p:spPr>
          <a:xfrm>
            <a:off x="228600" y="1219200"/>
            <a:ext cx="8001000" cy="5078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#include &lt;iostream&gt;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using namespace std;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b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int main()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unsigned char a, b;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int ta, tb;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cin &gt;&gt; ta &gt;&gt; tb;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a = (unsigned char)ta;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b = (unsigned char)tb;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 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unsigned char low   = a + b;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unsigned char carry = (low &lt; a); 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 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cout &lt;&lt; "carry: " &lt;&lt; (int)carry &lt;&lt; endl;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 </a:t>
            </a: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 latinLnBrk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return 0;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5" name="矩形 10"/>
          <p:cNvSpPr/>
          <p:nvPr/>
        </p:nvSpPr>
        <p:spPr>
          <a:xfrm>
            <a:off x="3552825" y="1219200"/>
            <a:ext cx="45577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读代码并分析程序功能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实验题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27652" name="矩形 10"/>
          <p:cNvSpPr/>
          <p:nvPr/>
        </p:nvSpPr>
        <p:spPr>
          <a:xfrm>
            <a:off x="381000" y="1371600"/>
            <a:ext cx="8610600" cy="5114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buNone/>
            </a:pP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回文数。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输入一个三位正整数，输出它的倒序数值，并判断输入的数是否是回文数，如果是输出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，否则输出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。要求不能使用分支、循环结构。</a:t>
            </a:r>
            <a:endParaRPr lang="zh-CN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回文数：如果个位数和百位数相同，即是回文数，比如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131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232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353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等。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endParaRPr lang="zh-CN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示例：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898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实验题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29700" name="矩形 10"/>
          <p:cNvSpPr/>
          <p:nvPr/>
        </p:nvSpPr>
        <p:spPr>
          <a:xfrm>
            <a:off x="381000" y="1371600"/>
            <a:ext cx="8763000" cy="5337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buNone/>
            </a:pP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判断点是否在圆内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对于一个点（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x,y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），判断其是否在以（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Cx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Cy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）为中心的圆内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输入：两行，第一行为圆心坐标及圆的半径；第二行为点的横坐标和纵坐标。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输出：一行，为点是否在圆内的结果，在圆内为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，在圆外为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Font typeface="Wingdings" panose="05000000000000000000" pitchFamily="2" charset="2"/>
              <a:buChar char="Ø"/>
            </a:pPr>
            <a:endParaRPr lang="zh-CN" altLang="en-US" dirty="0"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示例：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2 3 5</a:t>
            </a:r>
            <a:endParaRPr lang="en-US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1 4</a:t>
            </a:r>
            <a:endParaRPr lang="en-US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endParaRPr lang="en-US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实验题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3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1748" name="矩形 10"/>
          <p:cNvSpPr/>
          <p:nvPr/>
        </p:nvSpPr>
        <p:spPr>
          <a:xfrm>
            <a:off x="381000" y="1371600"/>
            <a:ext cx="8610600" cy="4746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buNone/>
            </a:pP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）点到直线的距离。</a:t>
            </a:r>
            <a:endParaRPr lang="zh-CN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要求第一行输入点的坐标，第二行输入直线上两点的坐标。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其中，输入坐标可以为实数，输出的距离需要保留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位小数。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endParaRPr lang="zh-CN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示例：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2 3</a:t>
            </a:r>
            <a:endParaRPr lang="en-US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1 5 4 6</a:t>
            </a:r>
            <a:endParaRPr lang="en-US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2.213594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实验题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3796" name="矩形 10"/>
          <p:cNvSpPr/>
          <p:nvPr/>
        </p:nvSpPr>
        <p:spPr>
          <a:xfrm>
            <a:off x="381000" y="1371600"/>
            <a:ext cx="8610600" cy="2825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buNone/>
            </a:pP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凯撒密码加密（单字符版）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凯撒密码是一种简单的替换加密技术，将字母表中的每个字母向后移动固定数量的位置。例如，偏移量为 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变成 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变成 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变成 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Y 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变成 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Z 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变成 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编写一个程序，输入一个整数 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（表示偏移量，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0≤N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≤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）和一个大写英文字母，输出加密后的密文字母。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7" name="矩形 2"/>
          <p:cNvSpPr/>
          <p:nvPr/>
        </p:nvSpPr>
        <p:spPr>
          <a:xfrm>
            <a:off x="381000" y="4038600"/>
            <a:ext cx="4572000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示例：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en-US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endParaRPr lang="zh-CN" altLang="zh-CN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2388</Words>
  <Application>WPS 演示</Application>
  <PresentationFormat>全屏显示(4:3)</PresentationFormat>
  <Paragraphs>201</Paragraphs>
  <Slides>11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  <vt:variant>
        <vt:lpstr>自定义放映</vt:lpstr>
      </vt:variant>
      <vt:variant>
        <vt:i4>1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楷体_GB2312</vt:lpstr>
      <vt:lpstr>新宋体</vt:lpstr>
      <vt:lpstr>Lucida Sans Unicode</vt:lpstr>
      <vt:lpstr>微软雅黑</vt:lpstr>
      <vt:lpstr>黑体</vt:lpstr>
      <vt:lpstr>楷体</vt:lpstr>
      <vt:lpstr>Consolas</vt:lpstr>
      <vt:lpstr>楷体_GB2312</vt:lpstr>
      <vt:lpstr>Verdana</vt:lpstr>
      <vt:lpstr>Arial Unicode MS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 Show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Java</dc:title>
  <dc:creator>Y. Daniel Liang</dc:creator>
  <cp:lastModifiedBy>赵文惠</cp:lastModifiedBy>
  <cp:revision>768</cp:revision>
  <cp:lastPrinted>1998-02-24T16:19:51Z</cp:lastPrinted>
  <dcterms:created xsi:type="dcterms:W3CDTF">1995-06-10T17:31:50Z</dcterms:created>
  <dcterms:modified xsi:type="dcterms:W3CDTF">2026-10-13T02:37:25Z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33903377AD6A49308E2BEB066A4C0960_13</vt:lpwstr>
  </property>
  <property fmtid="{D5CDD505-2E9C-101B-9397-08002B2CF9AE}" pid="3" name="KSOProductBuildVer">
    <vt:lpwstr>2052-12.1.0.20305</vt:lpwstr>
  </property>
</Properties>
</file>