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6"/>
  </p:notesMasterIdLst>
  <p:sldIdLst>
    <p:sldId id="256" r:id="rId2"/>
    <p:sldId id="258" r:id="rId3"/>
    <p:sldId id="259" r:id="rId4"/>
    <p:sldId id="503" r:id="rId5"/>
    <p:sldId id="260" r:id="rId6"/>
    <p:sldId id="261" r:id="rId7"/>
    <p:sldId id="274" r:id="rId8"/>
    <p:sldId id="271" r:id="rId9"/>
    <p:sldId id="519" r:id="rId10"/>
    <p:sldId id="514" r:id="rId11"/>
    <p:sldId id="515" r:id="rId12"/>
    <p:sldId id="516" r:id="rId13"/>
    <p:sldId id="293" r:id="rId14"/>
    <p:sldId id="273" r:id="rId15"/>
    <p:sldId id="263" r:id="rId16"/>
    <p:sldId id="513" r:id="rId17"/>
    <p:sldId id="262" r:id="rId18"/>
    <p:sldId id="291" r:id="rId19"/>
    <p:sldId id="294" r:id="rId20"/>
    <p:sldId id="517" r:id="rId21"/>
    <p:sldId id="265" r:id="rId22"/>
    <p:sldId id="266" r:id="rId23"/>
    <p:sldId id="518" r:id="rId24"/>
    <p:sldId id="267" r:id="rId25"/>
    <p:sldId id="268" r:id="rId26"/>
    <p:sldId id="270" r:id="rId27"/>
    <p:sldId id="272" r:id="rId28"/>
    <p:sldId id="275" r:id="rId29"/>
    <p:sldId id="276" r:id="rId30"/>
    <p:sldId id="278" r:id="rId31"/>
    <p:sldId id="280" r:id="rId32"/>
    <p:sldId id="282" r:id="rId33"/>
    <p:sldId id="287" r:id="rId34"/>
    <p:sldId id="283" r:id="rId3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C79416E-4776-44C3-8B67-0AFED6E65BCE}">
          <p14:sldIdLst>
            <p14:sldId id="256"/>
            <p14:sldId id="258"/>
            <p14:sldId id="259"/>
            <p14:sldId id="503"/>
            <p14:sldId id="260"/>
            <p14:sldId id="261"/>
            <p14:sldId id="274"/>
            <p14:sldId id="271"/>
            <p14:sldId id="519"/>
            <p14:sldId id="514"/>
            <p14:sldId id="515"/>
            <p14:sldId id="516"/>
            <p14:sldId id="293"/>
            <p14:sldId id="273"/>
            <p14:sldId id="263"/>
            <p14:sldId id="513"/>
            <p14:sldId id="262"/>
            <p14:sldId id="291"/>
            <p14:sldId id="294"/>
            <p14:sldId id="517"/>
            <p14:sldId id="265"/>
            <p14:sldId id="266"/>
            <p14:sldId id="518"/>
            <p14:sldId id="267"/>
            <p14:sldId id="268"/>
            <p14:sldId id="270"/>
            <p14:sldId id="272"/>
            <p14:sldId id="275"/>
            <p14:sldId id="276"/>
            <p14:sldId id="278"/>
            <p14:sldId id="280"/>
            <p14:sldId id="282"/>
            <p14:sldId id="287"/>
            <p14:sldId id="28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61" userDrawn="1">
          <p15:clr>
            <a:srgbClr val="A4A3A4"/>
          </p15:clr>
        </p15:guide>
        <p15:guide id="2" pos="3817" userDrawn="1">
          <p15:clr>
            <a:srgbClr val="A4A3A4"/>
          </p15:clr>
        </p15:guide>
        <p15:guide id="3" pos="1255" userDrawn="1">
          <p15:clr>
            <a:srgbClr val="A4A3A4"/>
          </p15:clr>
        </p15:guide>
        <p15:guide id="4" pos="6425" userDrawn="1">
          <p15:clr>
            <a:srgbClr val="A4A3A4"/>
          </p15:clr>
        </p15:guide>
        <p15:guide id="5" orient="horz" pos="1933" userDrawn="1">
          <p15:clr>
            <a:srgbClr val="A4A3A4"/>
          </p15:clr>
        </p15:guide>
        <p15:guide id="6" pos="2842" userDrawn="1">
          <p15:clr>
            <a:srgbClr val="A4A3A4"/>
          </p15:clr>
        </p15:guide>
        <p15:guide id="7" pos="4838" userDrawn="1">
          <p15:clr>
            <a:srgbClr val="A4A3A4"/>
          </p15:clr>
        </p15:guide>
        <p15:guide id="8" orient="horz" pos="981" userDrawn="1">
          <p15:clr>
            <a:srgbClr val="A4A3A4"/>
          </p15:clr>
        </p15:guide>
        <p15:guide id="9" orient="horz" pos="1729" userDrawn="1">
          <p15:clr>
            <a:srgbClr val="A4A3A4"/>
          </p15:clr>
        </p15:guide>
        <p15:guide id="10" orient="horz" pos="31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ory" initials="l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9D"/>
    <a:srgbClr val="186CA6"/>
    <a:srgbClr val="F7F7F9"/>
    <a:srgbClr val="8F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04" autoAdjust="0"/>
    <p:restoredTop sz="94645" autoAdjust="0"/>
  </p:normalViewPr>
  <p:slideViewPr>
    <p:cSldViewPr snapToGrid="0" showGuides="1">
      <p:cViewPr varScale="1">
        <p:scale>
          <a:sx n="66" d="100"/>
          <a:sy n="66" d="100"/>
        </p:scale>
        <p:origin x="42" y="174"/>
      </p:cViewPr>
      <p:guideLst>
        <p:guide orient="horz" pos="1661"/>
        <p:guide pos="3817"/>
        <p:guide pos="1255"/>
        <p:guide pos="6425"/>
        <p:guide orient="horz" pos="1933"/>
        <p:guide pos="2842"/>
        <p:guide pos="4838"/>
        <p:guide orient="horz" pos="981"/>
        <p:guide orient="horz" pos="1729"/>
        <p:guide orient="horz" pos="31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A6138-7E00-4D99-A34D-5D4B30A9516A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C68A64-069C-4FC3-A227-B9F541D15B3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054454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497969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教材</a:t>
            </a:r>
            <a:r>
              <a:rPr dirty="0"/>
              <a:t> Listing 5.8。现场运行一次让学生看到 49.5。</a:t>
            </a:r>
            <a:endParaRPr lang="en-US" altLang="zh-CN" dirty="0"/>
          </a:p>
          <a:p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浮点数可以做循环控制变量（语法允许），但不应该做循环计数器。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循环次数、边界判断这类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必须精确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的用整数；浮点数只用来表示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值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，不用来表示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第几次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cout</a:t>
            </a:r>
            <a:r>
              <a:rPr lang="en-US" dirty="0"/>
              <a:t>&lt;&lt;</a:t>
            </a:r>
            <a:r>
              <a:rPr lang="en-US" dirty="0" err="1"/>
              <a:t>setprecision</a:t>
            </a:r>
            <a:r>
              <a:rPr lang="en-US" dirty="0"/>
              <a:t>(17)&lt;&lt;a&lt;&lt;</a:t>
            </a:r>
            <a:r>
              <a:rPr lang="en-US" dirty="0" err="1"/>
              <a:t>endl</a:t>
            </a:r>
            <a:r>
              <a:rPr lang="en-US" dirty="0"/>
              <a:t>;</a:t>
            </a:r>
            <a:r>
              <a:rPr lang="en-US" altLang="zh-CN" dirty="0"/>
              <a:t> </a:t>
            </a:r>
            <a:r>
              <a:rPr lang="en-US" altLang="zh-CN" dirty="0" err="1"/>
              <a:t>cout</a:t>
            </a:r>
            <a:r>
              <a:rPr lang="en-US" altLang="zh-CN" dirty="0"/>
              <a:t>&lt;&lt;</a:t>
            </a:r>
            <a:r>
              <a:rPr lang="en-US" altLang="zh-CN" dirty="0" err="1"/>
              <a:t>setprecision</a:t>
            </a:r>
            <a:r>
              <a:rPr lang="en-US" altLang="zh-CN" dirty="0"/>
              <a:t>(17)&lt;&lt;b&lt;&lt;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11958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循环本质上是</a:t>
            </a:r>
            <a:r>
              <a:rPr lang="en-US" altLang="zh-CN" dirty="0"/>
              <a:t>if(  ) </a:t>
            </a:r>
            <a:r>
              <a:rPr lang="en-US" altLang="zh-CN" dirty="0" err="1"/>
              <a:t>goto</a:t>
            </a:r>
            <a:r>
              <a:rPr lang="en-US" altLang="zh-CN" dirty="0"/>
              <a:t> label;</a:t>
            </a:r>
          </a:p>
          <a:p>
            <a:r>
              <a:rPr lang="en-US" altLang="zh-CN" dirty="0"/>
              <a:t>Break</a:t>
            </a:r>
            <a:r>
              <a:rPr lang="zh-CN" altLang="en-US" dirty="0"/>
              <a:t>和</a:t>
            </a:r>
            <a:r>
              <a:rPr lang="en-US" altLang="zh-CN" dirty="0"/>
              <a:t>continue</a:t>
            </a:r>
            <a:r>
              <a:rPr lang="zh-CN" altLang="en-US" dirty="0"/>
              <a:t>是和分支结合使用的；</a:t>
            </a:r>
            <a:endParaRPr lang="en-US" altLang="zh-CN" dirty="0"/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273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45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607574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 dirty="0"/>
              <a:t>前者正确，后者死循环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7155493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298810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altLang="zh-CN" dirty="0"/>
              <a:t>2026=2*10^3+0*10^2+2*10^1+6</a:t>
            </a:r>
          </a:p>
          <a:p>
            <a:r>
              <a:rPr lang="en-US" dirty="0"/>
              <a:t>Rev:  0*10+6</a:t>
            </a:r>
            <a:r>
              <a:rPr lang="en-US" dirty="0">
                <a:sym typeface="Wingdings" panose="05000000000000000000" pitchFamily="2" charset="2"/>
              </a:rPr>
              <a:t>6*10+2-&gt;62*10+0620*10+2=6206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94305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0740342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95898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0416776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9828291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8595163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sz="1400" b="1" i="0" dirty="0">
                <a:solidFill>
                  <a:srgbClr val="2E8B57"/>
                </a:solidFill>
                <a:latin typeface="微软雅黑"/>
                <a:ea typeface="微软雅黑"/>
              </a:rPr>
              <a:t>参考答案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en-US" altLang="zh-CN" sz="1200" b="0" i="0" dirty="0">
                <a:solidFill>
                  <a:srgbClr val="8E2A2A"/>
                </a:solidFill>
                <a:latin typeface="Consolas"/>
                <a:ea typeface="微软雅黑"/>
              </a:rPr>
              <a:t>5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en-US" altLang="zh-CN" sz="1200" b="0" i="0" dirty="0">
                <a:solidFill>
                  <a:srgbClr val="8E2A2A"/>
                </a:solidFill>
                <a:latin typeface="Consolas"/>
                <a:ea typeface="微软雅黑"/>
              </a:rPr>
              <a:t>0369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，循环 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4 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次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初始 </a:t>
            </a:r>
            <a:r>
              <a:rPr lang="en-US" altLang="zh-CN" sz="1200" b="0" i="0" dirty="0">
                <a:solidFill>
                  <a:srgbClr val="8E2A2A"/>
                </a:solidFill>
                <a:latin typeface="Consolas"/>
                <a:ea typeface="微软雅黑"/>
              </a:rPr>
              <a:t>x &lt;= 0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时：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do-while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仍执行一次，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while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一次不执行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en-US" altLang="zh-CN" sz="1200" b="0" i="0" dirty="0">
                <a:solidFill>
                  <a:srgbClr val="8E2A2A"/>
                </a:solidFill>
                <a:latin typeface="Consolas"/>
                <a:ea typeface="微软雅黑"/>
              </a:rPr>
              <a:t>sum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是随机值，结果不可预测（未定义行为）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0 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次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0.1 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累加 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10 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次不等于 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1.0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，条件永远为真 → 死循环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sz="1400" b="1" i="0" dirty="0">
                <a:solidFill>
                  <a:srgbClr val="2E8B57"/>
                </a:solidFill>
                <a:latin typeface="微软雅黑"/>
                <a:ea typeface="微软雅黑"/>
              </a:rPr>
              <a:t>参考答案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①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sum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未初始化，应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int sum = 0;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② 循环体没有更新 </a:t>
            </a:r>
            <a:r>
              <a:rPr lang="en-US" altLang="zh-CN" sz="13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，死循环；加 </a:t>
            </a:r>
            <a:r>
              <a:rPr lang="en-US" altLang="zh-CN" sz="13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++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③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=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是赋值，条件恒为 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5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（真）→ 死循环；应为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==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④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for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后多了分号，循环体为空；且花括号里的 </a:t>
            </a:r>
            <a:r>
              <a:rPr lang="en-US" altLang="zh-CN" sz="13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已出作用域，编译错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⑤ 浮点累加不会恰好等于 </a:t>
            </a:r>
            <a:r>
              <a:rPr lang="en-US" altLang="zh-CN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1.0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，死循环；改用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int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计数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⑥ </a:t>
            </a:r>
            <a:r>
              <a:rPr lang="en-US" altLang="zh-CN" sz="1300" b="0" i="0" dirty="0">
                <a:solidFill>
                  <a:srgbClr val="8E2A2A"/>
                </a:solidFill>
                <a:latin typeface="Consolas"/>
                <a:ea typeface="微软雅黑"/>
              </a:rPr>
              <a:t>do-while</a:t>
            </a:r>
            <a:r>
              <a:rPr lang="zh-CN" altLang="en-US" sz="1200" b="0" i="0" dirty="0">
                <a:solidFill>
                  <a:srgbClr val="262626"/>
                </a:solidFill>
                <a:latin typeface="微软雅黑"/>
                <a:ea typeface="微软雅黑"/>
              </a:rPr>
              <a:t> 末尾必须有分号</a:t>
            </a:r>
            <a:endParaRPr lang="en-US" altLang="zh-CN" sz="1300" b="0" i="0" dirty="0">
              <a:solidFill>
                <a:srgbClr val="8E2A2A"/>
              </a:solidFill>
              <a:latin typeface="Consolas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8152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5504C0B-AA42-4349-AEC0-B1308C9518C5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4D15DCF-B6C0-436A-B323-0F6F8456F1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https://ss0.bdstatic.com/70cFuHSh_Q1YnxGkpoWK1HF6hhy/it/u=504426949,911474391&amp;fm=26&amp;gp=0.jpg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0031" y="92596"/>
            <a:ext cx="1068595" cy="1070732"/>
          </a:xfrm>
          <a:prstGeom prst="ellipse">
            <a:avLst/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unoob.com/cplusplus/cpp-break-statement.html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runoob.com/cplusplus/cpp-goto-statement.html" TargetMode="External"/><Relationship Id="rId4" Type="http://schemas.openxmlformats.org/officeDocument/2006/relationships/hyperlink" Target="https://www.runoob.com/cplusplus/cpp-continue-statement.html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66363" y="1850125"/>
            <a:ext cx="8659271" cy="93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4800" b="1" spc="100" dirty="0">
                <a:solidFill>
                  <a:srgbClr val="005D9D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程序设计原理</a:t>
            </a:r>
            <a:endParaRPr lang="zh-CN" altLang="en-US" sz="2800" b="1" spc="400" dirty="0">
              <a:solidFill>
                <a:srgbClr val="005D9D"/>
              </a:solidFill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766363" y="4599937"/>
            <a:ext cx="8659271" cy="524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400" b="1" spc="100" dirty="0">
                <a:solidFill>
                  <a:srgbClr val="005D9D"/>
                </a:solidFill>
                <a:latin typeface="华文仿宋" panose="02010600040101010101" pitchFamily="2" charset="-122"/>
                <a:ea typeface="华文仿宋" panose="02010600040101010101" pitchFamily="2" charset="-122"/>
                <a:cs typeface="Times New Roman" panose="02020603050405020304" pitchFamily="18" charset="0"/>
              </a:rPr>
              <a:t>任课教师：喻梅 王建荣 于瑞国 李雪威 赵满坤</a:t>
            </a:r>
            <a:endParaRPr lang="zh-CN" altLang="en-US" sz="2400" b="1" spc="400" dirty="0">
              <a:solidFill>
                <a:srgbClr val="005D9D"/>
              </a:solidFill>
              <a:latin typeface="华文仿宋" panose="02010600040101010101" pitchFamily="2" charset="-122"/>
              <a:ea typeface="华文仿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3603017" y="3198813"/>
            <a:ext cx="4985660" cy="46166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循环语句：while、do-while、for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程序里的“重复</a:t>
            </a:r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42143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重复是程序里最常见的事</a:t>
            </a:r>
            <a:endParaRPr sz="2400" b="1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看几个例子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：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计算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 1 + 2 + 3 + … + 100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把一个班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 45 </a:t>
            </a: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名学生的成绩逐个读入、求平均</a:t>
            </a:r>
            <a:endParaRPr sz="20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让用户重复输入，直到输入合法为止</a:t>
            </a:r>
            <a:endParaRPr sz="20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20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银行存款按年计息，多少年后翻倍</a:t>
            </a:r>
            <a:r>
              <a:rPr sz="2000" b="0" i="0" dirty="0">
                <a:solidFill>
                  <a:srgbClr val="262626"/>
                </a:solidFill>
                <a:latin typeface="微软雅黑"/>
                <a:ea typeface="微软雅黑"/>
              </a:rPr>
              <a:t>？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共同点：</a:t>
            </a:r>
            <a:r>
              <a:rPr sz="2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同一</a:t>
            </a:r>
            <a:r>
              <a:rPr lang="zh-CN" altLang="en-US" sz="2400" b="1" i="0" dirty="0">
                <a:solidFill>
                  <a:srgbClr val="262626"/>
                </a:solidFill>
                <a:latin typeface="微软雅黑"/>
                <a:ea typeface="微软雅黑"/>
              </a:rPr>
              <a:t>组操作重复</a:t>
            </a:r>
            <a:r>
              <a:rPr sz="2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多遍，每遍略有变化</a:t>
            </a:r>
            <a:r>
              <a:rPr sz="2400" b="0" i="0" dirty="0">
                <a:solidFill>
                  <a:srgbClr val="262626"/>
                </a:solidFill>
                <a:latin typeface="微软雅黑"/>
                <a:ea typeface="微软雅黑"/>
              </a:rPr>
              <a:t>——</a:t>
            </a: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这正是循环要解决的问题</a:t>
            </a:r>
            <a:endParaRPr sz="2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1" i="0" dirty="0" err="1">
                <a:solidFill>
                  <a:srgbClr val="E8833A"/>
                </a:solidFill>
                <a:latin typeface="微软雅黑"/>
                <a:ea typeface="微软雅黑"/>
              </a:rPr>
              <a:t>循环</a:t>
            </a:r>
            <a:r>
              <a:rPr sz="2400" b="1" i="0" dirty="0">
                <a:solidFill>
                  <a:srgbClr val="E8833A"/>
                </a:solidFill>
                <a:latin typeface="微软雅黑"/>
                <a:ea typeface="微软雅黑"/>
              </a:rPr>
              <a:t> = </a:t>
            </a:r>
            <a:r>
              <a:rPr sz="2400" b="1" i="0" dirty="0" err="1">
                <a:solidFill>
                  <a:srgbClr val="E8833A"/>
                </a:solidFill>
                <a:latin typeface="微软雅黑"/>
                <a:ea typeface="微软雅黑"/>
              </a:rPr>
              <a:t>条件</a:t>
            </a:r>
            <a:r>
              <a:rPr sz="2400" b="1" i="0" dirty="0">
                <a:solidFill>
                  <a:srgbClr val="E8833A"/>
                </a:solidFill>
                <a:latin typeface="微软雅黑"/>
                <a:ea typeface="微软雅黑"/>
              </a:rPr>
              <a:t> + </a:t>
            </a:r>
            <a:r>
              <a:rPr sz="2400" b="1" i="0" dirty="0" err="1">
                <a:solidFill>
                  <a:srgbClr val="E8833A"/>
                </a:solidFill>
                <a:latin typeface="微软雅黑"/>
                <a:ea typeface="微软雅黑"/>
              </a:rPr>
              <a:t>反复执行的语句块，每执行一遍叫一次“迭代</a:t>
            </a:r>
            <a:r>
              <a:rPr sz="2400" b="1" i="0" dirty="0">
                <a:solidFill>
                  <a:srgbClr val="E8833A"/>
                </a:solidFill>
                <a:latin typeface="微软雅黑"/>
                <a:ea typeface="微软雅黑"/>
              </a:rPr>
              <a:t>”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2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三种循环语句：</a:t>
            </a:r>
            <a:r>
              <a:rPr sz="2000" b="1" i="0" dirty="0" err="1">
                <a:solidFill>
                  <a:srgbClr val="8E2A2A"/>
                </a:solidFill>
                <a:ea typeface="微软雅黑"/>
              </a:rPr>
              <a:t>while</a:t>
            </a:r>
            <a:r>
              <a:rPr sz="2400" b="1" i="0" dirty="0" err="1">
                <a:solidFill>
                  <a:srgbClr val="262626"/>
                </a:solidFill>
                <a:ea typeface="微软雅黑"/>
              </a:rPr>
              <a:t>、</a:t>
            </a:r>
            <a:r>
              <a:rPr sz="2000" b="1" i="0" dirty="0" err="1">
                <a:solidFill>
                  <a:srgbClr val="8E2A2A"/>
                </a:solidFill>
                <a:ea typeface="微软雅黑"/>
              </a:rPr>
              <a:t>do-while</a:t>
            </a:r>
            <a:r>
              <a:rPr sz="2400" b="1" i="0" dirty="0" err="1">
                <a:solidFill>
                  <a:srgbClr val="262626"/>
                </a:solidFill>
                <a:ea typeface="微软雅黑"/>
              </a:rPr>
              <a:t>、</a:t>
            </a:r>
            <a:r>
              <a:rPr sz="2000" b="1" i="0" dirty="0" err="1">
                <a:solidFill>
                  <a:srgbClr val="8E2A2A"/>
                </a:solidFill>
                <a:ea typeface="微软雅黑"/>
              </a:rPr>
              <a:t>for</a:t>
            </a:r>
            <a:endParaRPr sz="2000" b="1" i="0" dirty="0">
              <a:solidFill>
                <a:srgbClr val="8E2A2A"/>
              </a:solidFill>
              <a:ea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while </a:t>
            </a:r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循环：语法与流程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b="0" i="0" dirty="0" err="1">
                <a:solidFill>
                  <a:srgbClr val="D4D4D4"/>
                </a:solidFill>
                <a:latin typeface="Consolas"/>
                <a:ea typeface="微软雅黑"/>
              </a:rPr>
              <a:t>循环条件</a:t>
            </a: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) {</a:t>
            </a: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b="0" i="1" dirty="0" err="1">
                <a:solidFill>
                  <a:srgbClr val="6A9955"/>
                </a:solidFill>
                <a:latin typeface="Consolas"/>
                <a:ea typeface="微软雅黑"/>
              </a:rPr>
              <a:t>循环体：条件为</a:t>
            </a:r>
            <a:r>
              <a:rPr b="0" i="1" dirty="0">
                <a:solidFill>
                  <a:srgbClr val="6A9955"/>
                </a:solidFill>
                <a:latin typeface="Consolas"/>
                <a:ea typeface="微软雅黑"/>
              </a:rPr>
              <a:t> true </a:t>
            </a:r>
            <a:r>
              <a:rPr b="0" i="1" dirty="0" err="1">
                <a:solidFill>
                  <a:srgbClr val="6A9955"/>
                </a:solidFill>
                <a:latin typeface="Consolas"/>
                <a:ea typeface="微软雅黑"/>
              </a:rPr>
              <a:t>时反复执行</a:t>
            </a:r>
            <a:endParaRPr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b="0" i="0" dirty="0" err="1">
                <a:solidFill>
                  <a:srgbClr val="D4D4D4"/>
                </a:solidFill>
                <a:latin typeface="Consolas"/>
                <a:ea typeface="微软雅黑"/>
              </a:rPr>
              <a:t>语句</a:t>
            </a: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3200400"/>
            <a:ext cx="5577841" cy="18142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先判断条件，为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true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就执行循环体，然后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回到</a:t>
            </a:r>
            <a:r>
              <a:rPr lang="zh-CN" altLang="en-US" b="1" i="0" dirty="0">
                <a:solidFill>
                  <a:srgbClr val="262626"/>
                </a:solidFill>
                <a:latin typeface="微软雅黑"/>
                <a:ea typeface="微软雅黑"/>
              </a:rPr>
              <a:t>循环</a:t>
            </a:r>
            <a:r>
              <a:rPr b="1" i="0" dirty="0" err="1">
                <a:solidFill>
                  <a:srgbClr val="262626"/>
                </a:solidFill>
                <a:latin typeface="微软雅黑"/>
                <a:ea typeface="微软雅黑"/>
              </a:rPr>
              <a:t>条件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再判断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条件为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false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时跳出循环，执行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}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后面的语句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循环体若只有一条语句，花括号可省略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——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但建议一律加上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772400" y="1234440"/>
            <a:ext cx="219456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初始化</a:t>
            </a:r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循环变量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869680" y="1783080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7589520" y="2148840"/>
            <a:ext cx="2560320" cy="1005840"/>
          </a:xfrm>
          <a:prstGeom prst="diamond">
            <a:avLst/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循环条件?</a:t>
            </a:r>
          </a:p>
        </p:txBody>
      </p:sp>
      <p:cxnSp>
        <p:nvCxnSpPr>
          <p:cNvPr id="12" name="Connector 11"/>
          <p:cNvCxnSpPr>
            <a:cxnSpLocks/>
            <a:endCxn id="14" idx="0"/>
          </p:cNvCxnSpPr>
          <p:nvPr/>
        </p:nvCxnSpPr>
        <p:spPr>
          <a:xfrm>
            <a:off x="8869680" y="3154680"/>
            <a:ext cx="0" cy="528906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006840" y="3154680"/>
            <a:ext cx="55540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 dirty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683586"/>
            <a:ext cx="1737360" cy="521206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循环体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15" name="Connector 14"/>
          <p:cNvCxnSpPr>
            <a:cxnSpLocks/>
            <a:stCxn id="14" idx="2"/>
          </p:cNvCxnSpPr>
          <p:nvPr/>
        </p:nvCxnSpPr>
        <p:spPr>
          <a:xfrm>
            <a:off x="8869680" y="4204792"/>
            <a:ext cx="0" cy="458648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132320" y="4663440"/>
            <a:ext cx="1737360" cy="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132320" y="2651760"/>
            <a:ext cx="0" cy="2011680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2651760"/>
            <a:ext cx="457200" cy="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589657" y="2092523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 dirty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3880" y="5349239"/>
            <a:ext cx="1371600" cy="548640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结束循环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A5DCFA3D-50D0-4515-AB59-6EEF4E1A5F68}"/>
              </a:ext>
            </a:extLst>
          </p:cNvPr>
          <p:cNvCxnSpPr>
            <a:stCxn id="11" idx="3"/>
            <a:endCxn id="21" idx="3"/>
          </p:cNvCxnSpPr>
          <p:nvPr/>
        </p:nvCxnSpPr>
        <p:spPr>
          <a:xfrm flipH="1">
            <a:off x="9555480" y="2651760"/>
            <a:ext cx="594360" cy="2971799"/>
          </a:xfrm>
          <a:prstGeom prst="bentConnector3">
            <a:avLst>
              <a:gd name="adj1" fmla="val -38462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3">
            <a:extLst>
              <a:ext uri="{FF2B5EF4-FFF2-40B4-BE49-F238E27FC236}">
                <a16:creationId xmlns:a16="http://schemas.microsoft.com/office/drawing/2014/main" id="{0D013839-2BF4-4E51-AC3B-3E217A1ADC74}"/>
              </a:ext>
            </a:extLst>
          </p:cNvPr>
          <p:cNvSpPr/>
          <p:nvPr/>
        </p:nvSpPr>
        <p:spPr>
          <a:xfrm>
            <a:off x="6439301" y="3182114"/>
            <a:ext cx="1447399" cy="501465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更新循环变量（可选）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5EAAF9-12C6-47A3-A4A5-0669BCB45694}"/>
              </a:ext>
            </a:extLst>
          </p:cNvPr>
          <p:cNvSpPr/>
          <p:nvPr/>
        </p:nvSpPr>
        <p:spPr>
          <a:xfrm>
            <a:off x="673768" y="1273582"/>
            <a:ext cx="1733478" cy="379342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0AB5F16-48DD-4B13-B0DF-CC5CC1F2C75B}"/>
              </a:ext>
            </a:extLst>
          </p:cNvPr>
          <p:cNvSpPr/>
          <p:nvPr/>
        </p:nvSpPr>
        <p:spPr>
          <a:xfrm>
            <a:off x="1455145" y="2170040"/>
            <a:ext cx="859731" cy="353040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6493B28F-90D7-4DE7-B598-AB720138BB82}"/>
              </a:ext>
            </a:extLst>
          </p:cNvPr>
          <p:cNvSpPr/>
          <p:nvPr/>
        </p:nvSpPr>
        <p:spPr>
          <a:xfrm>
            <a:off x="673768" y="1686057"/>
            <a:ext cx="1379874" cy="379342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E4D8990-E791-4DFD-8EEB-6F84325023FB}"/>
              </a:ext>
            </a:extLst>
          </p:cNvPr>
          <p:cNvSpPr/>
          <p:nvPr/>
        </p:nvSpPr>
        <p:spPr>
          <a:xfrm>
            <a:off x="1363705" y="2946345"/>
            <a:ext cx="1043541" cy="379342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3920" y="133362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</a:t>
            </a:r>
            <a:r>
              <a:rPr lang="zh-CN" altLang="en-US"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三要素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6E0838-793C-40FD-91C6-0556B1C08757}"/>
              </a:ext>
            </a:extLst>
          </p:cNvPr>
          <p:cNvSpPr/>
          <p:nvPr/>
        </p:nvSpPr>
        <p:spPr>
          <a:xfrm>
            <a:off x="615030" y="1304830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int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sum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= 0;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int 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= 1; //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</a:rPr>
              <a:t>初始化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while(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&lt;10) //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</a:rPr>
              <a:t>条件</a:t>
            </a:r>
            <a:endParaRPr lang="en-US" altLang="zh-CN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{	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sum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= </a:t>
            </a:r>
            <a:r>
              <a:rPr lang="en-US" altLang="zh-CN" b="1" dirty="0">
                <a:solidFill>
                  <a:srgbClr val="0070C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sum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+ 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; //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</a:rPr>
              <a:t>循环体</a:t>
            </a:r>
            <a:endParaRPr lang="en-US" altLang="zh-CN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	</a:t>
            </a:r>
            <a:r>
              <a:rPr lang="en-US" altLang="zh-CN" b="1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++;   //</a:t>
            </a:r>
            <a:r>
              <a:rPr lang="zh-CN" altLang="en-US" b="1" dirty="0">
                <a:latin typeface="Courier New" panose="02070309020205020404" pitchFamily="49" charset="0"/>
                <a:ea typeface="宋体" panose="02010600030101010101" pitchFamily="2" charset="-122"/>
              </a:rPr>
              <a:t>更新</a:t>
            </a:r>
            <a:endParaRPr lang="en-US" altLang="zh-CN" b="1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} 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&lt;&lt; "sum is " &lt;&lt; sum;</a:t>
            </a:r>
            <a:endParaRPr lang="zh-CN" altLang="en-US" dirty="0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73071253-F053-4D43-83A4-A74FED5F741B}"/>
              </a:ext>
            </a:extLst>
          </p:cNvPr>
          <p:cNvSpPr/>
          <p:nvPr/>
        </p:nvSpPr>
        <p:spPr>
          <a:xfrm>
            <a:off x="6539568" y="1064447"/>
            <a:ext cx="4110037" cy="327782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int sum = 0, </a:t>
            </a:r>
            <a:r>
              <a:rPr lang="en-US" altLang="zh-CN" sz="1800" b="0" dirty="0" err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= 1;</a:t>
            </a: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while(</a:t>
            </a:r>
            <a:r>
              <a:rPr lang="en-US" altLang="zh-CN" sz="1800" dirty="0" err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&lt;10</a:t>
            </a: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){</a:t>
            </a: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	sum = sum + </a:t>
            </a:r>
            <a:r>
              <a:rPr lang="en-US" altLang="zh-CN" sz="1800" b="0" dirty="0" err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} </a:t>
            </a: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 err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cout</a:t>
            </a: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 &lt;&lt; "sum is " &lt;&lt; sum;</a:t>
            </a: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或</a:t>
            </a:r>
            <a:endParaRPr lang="en-US" altLang="zh-CN" sz="1800" b="0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While(</a:t>
            </a:r>
            <a:r>
              <a:rPr lang="en-US" altLang="zh-CN" sz="180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)</a:t>
            </a:r>
          </a:p>
          <a:p>
            <a:pPr marL="0" indent="0">
              <a:spcBef>
                <a:spcPct val="50000"/>
              </a:spcBef>
              <a:buClr>
                <a:schemeClr val="tx2"/>
              </a:buClr>
              <a:buSzPct val="75000"/>
              <a:buNone/>
            </a:pPr>
            <a:r>
              <a:rPr lang="en-US" altLang="zh-CN" sz="1800" b="0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……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82EDBDBC-E3AE-46D6-B214-2969D126F9B4}"/>
              </a:ext>
            </a:extLst>
          </p:cNvPr>
          <p:cNvSpPr txBox="1"/>
          <p:nvPr/>
        </p:nvSpPr>
        <p:spPr>
          <a:xfrm>
            <a:off x="6539568" y="497744"/>
            <a:ext cx="228151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</a:rPr>
              <a:t>infinite loop</a:t>
            </a:r>
            <a:endParaRPr lang="zh-CN" altLang="en-US" sz="2400" i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CE9C2E-36DC-499C-8345-ED32F7CF086F}"/>
              </a:ext>
            </a:extLst>
          </p:cNvPr>
          <p:cNvSpPr/>
          <p:nvPr/>
        </p:nvSpPr>
        <p:spPr>
          <a:xfrm>
            <a:off x="384048" y="4426194"/>
            <a:ext cx="7832596" cy="817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sz="2000" b="1" dirty="0">
                <a:solidFill>
                  <a:srgbClr val="1F3A5F"/>
                </a:solidFill>
                <a:latin typeface="微软雅黑"/>
                <a:ea typeface="微软雅黑"/>
              </a:rPr>
              <a:t>循环三要素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b="1" dirty="0">
                <a:solidFill>
                  <a:srgbClr val="262626"/>
                </a:solidFill>
                <a:latin typeface="微软雅黑"/>
                <a:ea typeface="微软雅黑"/>
              </a:rPr>
              <a:t>初始化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：循环前给控制变量赋初值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BF4ACC6-DE04-452C-AC4C-568A5B7CFB2F}"/>
              </a:ext>
            </a:extLst>
          </p:cNvPr>
          <p:cNvSpPr/>
          <p:nvPr/>
        </p:nvSpPr>
        <p:spPr>
          <a:xfrm>
            <a:off x="383920" y="5230360"/>
            <a:ext cx="6096000" cy="386196"/>
          </a:xfrm>
          <a:prstGeom prst="rect">
            <a:avLst/>
          </a:prstGeom>
        </p:spPr>
        <p:txBody>
          <a:bodyPr>
            <a:spAutoFit/>
          </a:bodyPr>
          <a:lstStyle/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b="1" dirty="0">
                <a:solidFill>
                  <a:srgbClr val="262626"/>
                </a:solidFill>
                <a:latin typeface="微软雅黑"/>
                <a:ea typeface="微软雅黑"/>
              </a:rPr>
              <a:t>条件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：什么时候继续循环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4EC9E7C-CC12-4422-8BC6-8BB680E3E86A}"/>
              </a:ext>
            </a:extLst>
          </p:cNvPr>
          <p:cNvSpPr/>
          <p:nvPr/>
        </p:nvSpPr>
        <p:spPr>
          <a:xfrm>
            <a:off x="383919" y="5622525"/>
            <a:ext cx="9534915" cy="386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lang="zh-CN" altLang="en-US" b="1" dirty="0">
                <a:solidFill>
                  <a:srgbClr val="262626"/>
                </a:solidFill>
                <a:latin typeface="微软雅黑"/>
                <a:ea typeface="微软雅黑"/>
              </a:rPr>
              <a:t>更新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：循环体里必须更新控制变量，使条件有机会变成 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false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，否则会陷入</a:t>
            </a:r>
            <a:r>
              <a:rPr lang="zh-CN" altLang="en-US" b="1" dirty="0">
                <a:solidFill>
                  <a:srgbClr val="262626"/>
                </a:solidFill>
                <a:latin typeface="微软雅黑"/>
                <a:ea typeface="微软雅黑"/>
              </a:rPr>
              <a:t>死循环</a:t>
            </a:r>
          </a:p>
        </p:txBody>
      </p:sp>
    </p:spTree>
    <p:extLst>
      <p:ext uri="{BB962C8B-B14F-4D97-AF65-F5344CB8AC3E}">
        <p14:creationId xmlns:p14="http://schemas.microsoft.com/office/powerpoint/2010/main" val="482788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6" grpId="0" animBg="1"/>
      <p:bldP spid="29" grpId="0" animBg="1"/>
      <p:bldP spid="28" grpId="0" animBg="1"/>
      <p:bldP spid="23" grpId="0"/>
      <p:bldP spid="25" grpId="0"/>
      <p:bldP spid="26" grpId="0"/>
      <p:bldP spid="30" grpId="0"/>
      <p:bldP spid="3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例 ：</a:t>
            </a:r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计算</a:t>
            </a:r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 1 + 2 + … + 100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603504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main() {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sum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累加器：先清零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①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初始化控制变量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100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{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②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条件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sum +=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   </a:t>
            </a:r>
            <a:r>
              <a:rPr lang="zh-CN" altLang="en-US" sz="1600" b="0" i="1" dirty="0">
                <a:solidFill>
                  <a:srgbClr val="6A9955"/>
                </a:solidFill>
                <a:latin typeface="Consolas"/>
                <a:ea typeface="微软雅黑"/>
              </a:rPr>
              <a:t>循环体：实现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累加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++;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③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更新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}</a:t>
            </a:r>
          </a:p>
          <a:p>
            <a:pPr algn="l">
              <a:lnSpc>
                <a:spcPct val="105000"/>
              </a:lnSpc>
              <a:buNone/>
            </a:pP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"sum =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sum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5050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1234440"/>
            <a:ext cx="5059375" cy="3881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手工跟踪前几步</a:t>
            </a:r>
            <a:endParaRPr sz="17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=1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：1≤100 真 → sum=1,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i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=2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=2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：2≤100 真 → sum=3,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i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=3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……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=100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：真 → sum=5050,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i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=101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=101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：101≤100 </a:t>
            </a:r>
            <a:r>
              <a:rPr sz="1500" b="1" i="0" dirty="0">
                <a:solidFill>
                  <a:srgbClr val="262626"/>
                </a:solidFill>
                <a:latin typeface="微软雅黑"/>
                <a:ea typeface="微软雅黑"/>
              </a:rPr>
              <a:t>假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退出，此时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为 101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7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常见问题</a:t>
            </a:r>
            <a:endParaRPr sz="17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sum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zh-CN" altLang="en-US" sz="1500" dirty="0">
                <a:solidFill>
                  <a:srgbClr val="262626"/>
                </a:solidFill>
                <a:latin typeface="微软雅黑"/>
                <a:ea typeface="微软雅黑"/>
              </a:rPr>
              <a:t>没有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初始化为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0 →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结果是随机数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忘了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++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死循环，程序停不下来（Ctrl+C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终止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把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&lt;=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写成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&lt;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→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少加一个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100（差一错误）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>
                <a:solidFill>
                  <a:srgbClr val="000000"/>
                </a:solidFill>
                <a:latin typeface="华文中宋"/>
                <a:ea typeface="华文中宋"/>
              </a:rPr>
              <a:t>循环的“差一错误”与循环次数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4188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统计循环执行了几次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count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 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0,1,...,9  → 10 次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count++;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++;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count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10</a:t>
            </a:r>
          </a:p>
          <a:p>
            <a:pPr algn="l">
              <a:lnSpc>
                <a:spcPct val="105000"/>
              </a:lnSpc>
              <a:buNone/>
            </a:pP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1,...,10   → 10 次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++;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11：退出时已经越过边界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486400" cy="4188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打印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 1～10 </a:t>
            </a: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的偶数：三种写法</a:t>
            </a:r>
            <a:endParaRPr sz="2000" b="1" i="0" dirty="0">
              <a:solidFill>
                <a:srgbClr val="1F3A5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n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(n &lt;=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n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n +=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</a:t>
            </a:r>
            <a:r>
              <a:rPr lang="zh-CN" altLang="en-US"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  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步长为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 2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endParaRPr sz="14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k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(k &lt;=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(k %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==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k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k++;            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步长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 1，用 if 筛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endParaRPr sz="14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m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(m &gt;=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m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m -=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 }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倒序</a:t>
            </a: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760720"/>
            <a:ext cx="11292840" cy="6400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buNone/>
            </a:pPr>
            <a:r>
              <a:rPr b="1" i="0" dirty="0" err="1">
                <a:solidFill>
                  <a:srgbClr val="FF0000"/>
                </a:solidFill>
                <a:latin typeface="微软雅黑"/>
                <a:ea typeface="微软雅黑"/>
              </a:rPr>
              <a:t>循环次数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=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满足条件的整数个数：从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0 到 n-1 是 n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次，从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1 到 n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也是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n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次。</a:t>
            </a:r>
            <a:r>
              <a:rPr sz="1400" b="0" i="0" dirty="0" err="1">
                <a:solidFill>
                  <a:srgbClr val="FF0000"/>
                </a:solidFill>
                <a:latin typeface="微软雅黑"/>
                <a:ea typeface="微软雅黑"/>
              </a:rPr>
              <a:t>退出循环时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控制变量的值等于</a:t>
            </a:r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”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第一个</a:t>
            </a:r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“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不满足条件的值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25475"/>
            <a:ext cx="10332720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600" b="0" i="0" dirty="0">
                <a:solidFill>
                  <a:srgbClr val="000000"/>
                </a:solidFill>
                <a:latin typeface="华文中宋"/>
                <a:ea typeface="华文中宋"/>
              </a:rPr>
              <a:t>例：</a:t>
            </a:r>
            <a:r>
              <a:rPr lang="zh-CN" altLang="en-US" sz="3600" b="0" i="0" dirty="0">
                <a:solidFill>
                  <a:srgbClr val="000000"/>
                </a:solidFill>
                <a:latin typeface="华文中宋"/>
                <a:ea typeface="华文中宋"/>
              </a:rPr>
              <a:t>每天进步一点点，多少天后成为双倍的自己？</a:t>
            </a:r>
            <a:endParaRPr sz="36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621792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main() {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original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, rate;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lang="zh-CN" altLang="en-US" sz="1600" b="0" i="1" dirty="0">
                <a:solidFill>
                  <a:srgbClr val="6A9955"/>
                </a:solidFill>
                <a:latin typeface="Consolas"/>
                <a:ea typeface="微软雅黑"/>
              </a:rPr>
              <a:t>原始能力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、</a:t>
            </a:r>
            <a:r>
              <a:rPr lang="zh-CN" alt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每天进步的比例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&gt;&gt; 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original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&gt;&gt; rate;</a:t>
            </a:r>
          </a:p>
          <a:p>
            <a:pPr algn="l">
              <a:lnSpc>
                <a:spcPct val="105000"/>
              </a:lnSpc>
              <a:buNone/>
            </a:pP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 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original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days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2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* 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original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{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未翻倍就继续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</a:t>
            </a:r>
            <a:r>
              <a:rPr lang="en-US" altLang="zh-CN" sz="1600" dirty="0">
                <a:solidFill>
                  <a:srgbClr val="D4D4D4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= </a:t>
            </a:r>
            <a:r>
              <a:rPr lang="en-US" altLang="zh-CN" sz="1600" dirty="0">
                <a:solidFill>
                  <a:srgbClr val="D4D4D4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* (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+ rate /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100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</a:t>
            </a:r>
            <a:r>
              <a:rPr lang="en-US" altLang="zh-CN" sz="1600" b="0" i="0" dirty="0">
                <a:solidFill>
                  <a:srgbClr val="D4D4D4"/>
                </a:solidFill>
                <a:latin typeface="Consolas"/>
                <a:ea typeface="微软雅黑"/>
              </a:rPr>
              <a:t>day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s++;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}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lang="en-US" altLang="zh-CN" sz="1600" dirty="0">
                <a:solidFill>
                  <a:srgbClr val="D4D4D4"/>
                </a:solidFill>
                <a:latin typeface="Consolas"/>
                <a:ea typeface="微软雅黑"/>
              </a:rPr>
              <a:t>day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s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 </a:t>
            </a:r>
            <a:r>
              <a:rPr lang="zh-CN" altLang="en-US" sz="1600" b="0" i="0" dirty="0">
                <a:solidFill>
                  <a:srgbClr val="CE9178"/>
                </a:solidFill>
                <a:latin typeface="Consolas"/>
                <a:ea typeface="微软雅黑"/>
              </a:rPr>
              <a:t>天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后</a:t>
            </a:r>
            <a:r>
              <a:rPr lang="zh-CN" altLang="en-US" sz="1600" b="0" i="0" dirty="0">
                <a:solidFill>
                  <a:srgbClr val="CE9178"/>
                </a:solidFill>
                <a:latin typeface="Consolas"/>
                <a:ea typeface="微软雅黑"/>
              </a:rPr>
              <a:t>能力值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lang="en-US" altLang="zh-CN" sz="1600" dirty="0">
                <a:solidFill>
                  <a:srgbClr val="D4D4D4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输入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10000 3    → 24 </a:t>
            </a:r>
            <a:r>
              <a:rPr lang="zh-CN" altLang="en-US" sz="1600" b="0" i="1" dirty="0">
                <a:solidFill>
                  <a:srgbClr val="6A9955"/>
                </a:solidFill>
                <a:latin typeface="Consolas"/>
                <a:ea typeface="微软雅黑"/>
              </a:rPr>
              <a:t>天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后</a:t>
            </a:r>
            <a:r>
              <a:rPr lang="zh-CN" altLang="en-US" sz="1600" b="0" i="1" dirty="0">
                <a:solidFill>
                  <a:srgbClr val="6A9955"/>
                </a:solidFill>
                <a:latin typeface="Consolas"/>
                <a:ea typeface="微软雅黑"/>
              </a:rPr>
              <a:t>能力值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20327.9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输入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10000 </a:t>
            </a:r>
            <a:r>
              <a:rPr lang="en-US" altLang="zh-CN" sz="1600" b="0" i="1" dirty="0">
                <a:solidFill>
                  <a:srgbClr val="6A9955"/>
                </a:solidFill>
                <a:latin typeface="Consolas"/>
                <a:ea typeface="微软雅黑"/>
              </a:rPr>
              <a:t>0.1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 → </a:t>
            </a:r>
            <a:r>
              <a:rPr lang="en-US" altLang="zh-CN" sz="1600" b="0" i="1" dirty="0">
                <a:solidFill>
                  <a:srgbClr val="6A9955"/>
                </a:solidFill>
                <a:latin typeface="Consolas"/>
                <a:ea typeface="微软雅黑"/>
              </a:rPr>
              <a:t>694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</a:t>
            </a:r>
            <a:r>
              <a:rPr lang="zh-CN" alt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天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后</a:t>
            </a:r>
            <a:r>
              <a:rPr lang="zh-CN" altLang="en-US" sz="1600" b="0" i="1" dirty="0">
                <a:solidFill>
                  <a:srgbClr val="6A9955"/>
                </a:solidFill>
                <a:latin typeface="Consolas"/>
                <a:ea typeface="微软雅黑"/>
              </a:rPr>
              <a:t>能力值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200</a:t>
            </a:r>
            <a:r>
              <a:rPr lang="en-US" altLang="zh-CN" sz="1600" b="0" i="1" dirty="0">
                <a:solidFill>
                  <a:srgbClr val="6A9955"/>
                </a:solidFill>
                <a:latin typeface="Consolas"/>
                <a:ea typeface="微软雅黑"/>
              </a:rPr>
              <a:t>10</a:t>
            </a:r>
            <a:r>
              <a:rPr lang="en-US" altLang="zh-CN" sz="1600" i="1" dirty="0">
                <a:solidFill>
                  <a:srgbClr val="6A9955"/>
                </a:solidFill>
                <a:latin typeface="Consolas"/>
                <a:ea typeface="微软雅黑"/>
              </a:rPr>
              <a:t>.1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305" y="1281774"/>
            <a:ext cx="4876495" cy="478823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1" i="0" dirty="0" err="1">
                <a:solidFill>
                  <a:srgbClr val="FF0000"/>
                </a:solidFill>
                <a:latin typeface="微软雅黑"/>
                <a:ea typeface="微软雅黑"/>
              </a:rPr>
              <a:t>循环次数事先不知道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，由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“</a:t>
            </a:r>
            <a:r>
              <a:rPr lang="zh-CN" altLang="en-US" sz="1600" dirty="0">
                <a:solidFill>
                  <a:srgbClr val="262626"/>
                </a:solidFill>
                <a:latin typeface="微软雅黑"/>
                <a:ea typeface="微软雅黑"/>
              </a:rPr>
              <a:t>能力值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是否翻倍”决定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——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while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更新语句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sz="1600" dirty="0">
                <a:solidFill>
                  <a:srgbClr val="8E2A2A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 = </a:t>
            </a:r>
            <a:r>
              <a:rPr lang="en-US" sz="1600" dirty="0">
                <a:solidFill>
                  <a:srgbClr val="8E2A2A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 * (1 + rate/100)</a:t>
            </a:r>
            <a:r>
              <a:rPr sz="1600" b="0" i="0" dirty="0">
                <a:solidFill>
                  <a:srgbClr val="262626"/>
                </a:solidFill>
                <a:latin typeface="微软雅黑"/>
                <a:ea typeface="微软雅黑"/>
              </a:rPr>
              <a:t>：每</a:t>
            </a:r>
            <a:r>
              <a:rPr lang="zh-CN" altLang="en-US" sz="1600" dirty="0">
                <a:solidFill>
                  <a:srgbClr val="262626"/>
                </a:solidFill>
                <a:latin typeface="微软雅黑"/>
                <a:ea typeface="微软雅黑"/>
              </a:rPr>
              <a:t>天更新</a:t>
            </a:r>
            <a:r>
              <a:rPr sz="16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一次</a:t>
            </a:r>
            <a:endParaRPr sz="16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endParaRPr lang="en-US" altLang="zh-CN" sz="16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sz="1600" b="1" dirty="0">
                <a:solidFill>
                  <a:srgbClr val="1F3A5F"/>
                </a:solidFill>
                <a:latin typeface="微软雅黑"/>
                <a:ea typeface="微软雅黑"/>
              </a:rPr>
              <a:t>类似问题</a:t>
            </a:r>
            <a:endParaRPr sz="16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光伏装机若每年增长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20%，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几年翻倍？塞罕坝森林覆盖率从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1962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年的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11.4%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到今天的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82%，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每年增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1.2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个百分点要多少年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？（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while (cover &lt; 82)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）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6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想一想</a:t>
            </a:r>
            <a:endParaRPr sz="16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rate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输入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0？→ </a:t>
            </a:r>
            <a:r>
              <a:rPr lang="en-US" altLang="zh-CN" sz="1600" b="0" i="0" dirty="0">
                <a:solidFill>
                  <a:srgbClr val="8E2A2A"/>
                </a:solidFill>
                <a:latin typeface="Consolas"/>
                <a:ea typeface="微软雅黑"/>
              </a:rPr>
              <a:t>current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不变，</a:t>
            </a:r>
            <a:r>
              <a:rPr sz="1400" b="1" i="0" dirty="0" err="1">
                <a:solidFill>
                  <a:srgbClr val="262626"/>
                </a:solidFill>
                <a:latin typeface="微软雅黑"/>
                <a:ea typeface="微软雅黑"/>
              </a:rPr>
              <a:t>死循环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，应先判断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rate &gt; 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条件改成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current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 != 2 * </a:t>
            </a: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current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？→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浮点数几乎不会恰好相等，也是死循环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729714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02391"/>
            <a:ext cx="10332720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CN" altLang="en-US" sz="3900" dirty="0">
                <a:solidFill>
                  <a:srgbClr val="000000"/>
                </a:solidFill>
                <a:latin typeface="华文中宋"/>
                <a:ea typeface="华文中宋"/>
              </a:rPr>
              <a:t>慎用</a:t>
            </a:r>
            <a:r>
              <a:rPr sz="39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浮点数控制循环</a:t>
            </a:r>
            <a:r>
              <a:rPr lang="zh-CN" altLang="en-US" sz="3900" b="0" i="0" dirty="0">
                <a:solidFill>
                  <a:srgbClr val="000000"/>
                </a:solidFill>
                <a:latin typeface="华文中宋"/>
                <a:ea typeface="华文中宋"/>
              </a:rPr>
              <a:t>次数和循环</a:t>
            </a:r>
            <a:r>
              <a:rPr lang="zh-CN" altLang="en-US" sz="3900" dirty="0">
                <a:solidFill>
                  <a:srgbClr val="000000"/>
                </a:solidFill>
                <a:latin typeface="华文中宋"/>
                <a:ea typeface="华文中宋"/>
              </a:rPr>
              <a:t>边界</a:t>
            </a:r>
            <a:endParaRPr sz="39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680" y="1076844"/>
            <a:ext cx="4499811" cy="38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lang="zh-CN" altLang="en-US" b="1" i="0" dirty="0">
                <a:solidFill>
                  <a:srgbClr val="1F3A5F"/>
                </a:solidFill>
                <a:latin typeface="微软雅黑"/>
                <a:ea typeface="微软雅黑"/>
              </a:rPr>
              <a:t>实现</a:t>
            </a: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浮点</a:t>
            </a:r>
            <a:r>
              <a:rPr lang="zh-CN" altLang="en-US" b="1" i="0" dirty="0">
                <a:solidFill>
                  <a:srgbClr val="1F3A5F"/>
                </a:solidFill>
                <a:latin typeface="微软雅黑"/>
                <a:ea typeface="微软雅黑"/>
              </a:rPr>
              <a:t>数</a:t>
            </a:r>
            <a:r>
              <a:rPr b="1" i="0" dirty="0">
                <a:solidFill>
                  <a:srgbClr val="1F3A5F"/>
                </a:solidFill>
                <a:latin typeface="微软雅黑"/>
                <a:ea typeface="微软雅黑"/>
              </a:rPr>
              <a:t>累加：0.01 + 0.02 + … + 1.0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想法：从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0.01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加到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1.0，步长 0.01，共 100 项</a:t>
            </a:r>
            <a:endParaRPr lang="en-US"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lang="en-US" sz="1600" b="0" i="0" dirty="0">
                <a:solidFill>
                  <a:srgbClr val="4EC9B0"/>
                </a:solidFill>
                <a:latin typeface="Consolas"/>
                <a:ea typeface="微软雅黑"/>
              </a:rPr>
              <a:t> double</a:t>
            </a:r>
            <a:r>
              <a:rPr 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 sum = </a:t>
            </a:r>
            <a:r>
              <a:rPr lang="en-US"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lang="zh-CN" altLang="en-US" sz="1600" b="0" i="0" dirty="0">
                <a:solidFill>
                  <a:srgbClr val="D4D4D4"/>
                </a:solidFill>
                <a:latin typeface="Consolas"/>
                <a:ea typeface="微软雅黑"/>
              </a:rPr>
              <a:t>，</a:t>
            </a:r>
            <a:r>
              <a:rPr lang="en-US" altLang="zh-CN" sz="1600" dirty="0" err="1">
                <a:solidFill>
                  <a:srgbClr val="D4D4D4"/>
                </a:solidFill>
                <a:latin typeface="Consolas"/>
                <a:ea typeface="微软雅黑"/>
              </a:rPr>
              <a:t>i</a:t>
            </a:r>
            <a:r>
              <a:rPr lang="en-US" altLang="zh-CN" sz="1600" dirty="0">
                <a:solidFill>
                  <a:srgbClr val="D4D4D4"/>
                </a:solidFill>
                <a:latin typeface="Consolas"/>
                <a:ea typeface="微软雅黑"/>
              </a:rPr>
              <a:t> = 0.01</a:t>
            </a:r>
            <a:r>
              <a:rPr lang="en-US" sz="160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>
              <a:lnSpc>
                <a:spcPct val="150000"/>
              </a:lnSpc>
            </a:pPr>
            <a:r>
              <a:rPr lang="nn-NO" sz="1600" dirty="0">
                <a:solidFill>
                  <a:srgbClr val="569CD6"/>
                </a:solidFill>
                <a:latin typeface="Consolas"/>
                <a:ea typeface="微软雅黑"/>
              </a:rPr>
              <a:t> while </a:t>
            </a:r>
            <a:r>
              <a:rPr lang="nn-NO" sz="1600" dirty="0">
                <a:solidFill>
                  <a:schemeClr val="bg1"/>
                </a:solidFill>
                <a:latin typeface="Consolas"/>
                <a:ea typeface="微软雅黑"/>
              </a:rPr>
              <a:t>(i &lt;= 1.0) {</a:t>
            </a:r>
          </a:p>
          <a:p>
            <a:pPr>
              <a:lnSpc>
                <a:spcPct val="150000"/>
              </a:lnSpc>
            </a:pPr>
            <a:r>
              <a:rPr lang="nn-NO" sz="1600" dirty="0">
                <a:solidFill>
                  <a:schemeClr val="bg1"/>
                </a:solidFill>
                <a:latin typeface="Consolas"/>
                <a:ea typeface="微软雅黑"/>
              </a:rPr>
              <a:t>        sum += i;</a:t>
            </a:r>
          </a:p>
          <a:p>
            <a:pPr>
              <a:lnSpc>
                <a:spcPct val="150000"/>
              </a:lnSpc>
            </a:pPr>
            <a:r>
              <a:rPr lang="nn-NO" sz="1600" dirty="0">
                <a:solidFill>
                  <a:schemeClr val="bg1"/>
                </a:solidFill>
                <a:latin typeface="Consolas"/>
                <a:ea typeface="微软雅黑"/>
              </a:rPr>
              <a:t>        i += 0.01;</a:t>
            </a:r>
          </a:p>
          <a:p>
            <a:pPr>
              <a:lnSpc>
                <a:spcPct val="150000"/>
              </a:lnSpc>
            </a:pPr>
            <a:r>
              <a:rPr lang="nn-NO" sz="1600" dirty="0">
                <a:solidFill>
                  <a:schemeClr val="bg1"/>
                </a:solidFill>
                <a:latin typeface="Consolas"/>
                <a:ea typeface="微软雅黑"/>
              </a:rPr>
              <a:t>    }</a:t>
            </a:r>
          </a:p>
          <a:p>
            <a:pPr>
              <a:lnSpc>
                <a:spcPct val="150000"/>
              </a:lnSpc>
            </a:pP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sum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期望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50.5，实际输出 49.5！</a:t>
            </a:r>
          </a:p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原因：0.01 </a:t>
            </a:r>
            <a:r>
              <a:rPr sz="1600" b="1" i="1" dirty="0" err="1">
                <a:solidFill>
                  <a:srgbClr val="6A9955"/>
                </a:solidFill>
                <a:latin typeface="Consolas"/>
                <a:ea typeface="微软雅黑"/>
              </a:rPr>
              <a:t>在二进制中不能精确表示</a:t>
            </a:r>
            <a:endParaRPr sz="1600" b="1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累加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100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次后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i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略大于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1.0，最后一项 1.0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没加上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044207"/>
            <a:ext cx="5486400" cy="4188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1" i="0" dirty="0" err="1">
                <a:solidFill>
                  <a:srgbClr val="FF0000"/>
                </a:solidFill>
                <a:latin typeface="微软雅黑"/>
                <a:ea typeface="微软雅黑"/>
              </a:rPr>
              <a:t>改进：</a:t>
            </a: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用整数控制循环，浮点只做计算</a:t>
            </a:r>
            <a:endParaRPr sz="2000" b="1" i="0" dirty="0">
              <a:solidFill>
                <a:srgbClr val="1F3A5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50000"/>
              </a:lnSpc>
              <a:buNone/>
            </a:pP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sum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69CD6"/>
                </a:solidFill>
                <a:latin typeface="Consolas"/>
                <a:ea typeface="微软雅黑"/>
              </a:rPr>
              <a:t>int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微软雅黑"/>
              </a:rPr>
              <a:t>k = 1;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569CD6"/>
                </a:solidFill>
                <a:latin typeface="Consolas"/>
                <a:ea typeface="微软雅黑"/>
              </a:rPr>
              <a:t>while </a:t>
            </a:r>
            <a:r>
              <a:rPr lang="en-US" sz="1600" dirty="0">
                <a:solidFill>
                  <a:schemeClr val="bg1"/>
                </a:solidFill>
                <a:latin typeface="Consolas"/>
                <a:ea typeface="微软雅黑"/>
              </a:rPr>
              <a:t>(k &lt;= 100) {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微软雅黑"/>
              </a:rPr>
              <a:t>     sum += k / 100.0; </a:t>
            </a:r>
            <a:r>
              <a:rPr 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lang="zh-CN" alt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第 </a:t>
            </a:r>
            <a:r>
              <a:rPr 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k </a:t>
            </a:r>
            <a:r>
              <a:rPr lang="zh-CN" alt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项是 </a:t>
            </a:r>
            <a:r>
              <a:rPr lang="en-US" altLang="zh-CN" sz="1600" i="1" dirty="0">
                <a:solidFill>
                  <a:srgbClr val="6A9955"/>
                </a:solidFill>
                <a:latin typeface="Consolas"/>
                <a:ea typeface="微软雅黑"/>
              </a:rPr>
              <a:t>K</a:t>
            </a:r>
            <a:r>
              <a:rPr lang="en-US" sz="1600" i="1" dirty="0">
                <a:solidFill>
                  <a:srgbClr val="6A9955"/>
                </a:solidFill>
                <a:latin typeface="Consolas"/>
                <a:ea typeface="微软雅黑"/>
              </a:rPr>
              <a:t> * 0.01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微软雅黑"/>
              </a:rPr>
              <a:t>     ++k;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  <a:latin typeface="Consolas"/>
                <a:ea typeface="微软雅黑"/>
              </a:rPr>
              <a:t>}</a:t>
            </a:r>
          </a:p>
          <a:p>
            <a:pPr>
              <a:lnSpc>
                <a:spcPct val="150000"/>
              </a:lnSpc>
            </a:pP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sum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50.5</a:t>
            </a:r>
          </a:p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或者从大到小加，先加小误差项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……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不如整数循环可靠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同理，判断浮点数是否“相等”不要用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==：</a:t>
            </a:r>
          </a:p>
          <a:p>
            <a:pPr algn="l">
              <a:lnSpc>
                <a:spcPct val="150000"/>
              </a:lnSpc>
              <a:buNone/>
            </a:pP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if (fabs(a - b) &lt; 1e-9) 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才是稳妥写法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760720"/>
            <a:ext cx="11292840" cy="568152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buNone/>
            </a:pP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①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循环控制变量尽量用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int；② </a:t>
            </a:r>
            <a:r>
              <a:rPr b="0" i="0" dirty="0" err="1">
                <a:solidFill>
                  <a:srgbClr val="FF0000"/>
                </a:solidFill>
                <a:latin typeface="微软雅黑"/>
                <a:ea typeface="微软雅黑"/>
              </a:rPr>
              <a:t>浮点数不要用</a:t>
            </a:r>
            <a:r>
              <a:rPr b="0" i="0" dirty="0">
                <a:solidFill>
                  <a:srgbClr val="FF0000"/>
                </a:solidFill>
                <a:latin typeface="微软雅黑"/>
                <a:ea typeface="微软雅黑"/>
              </a:rPr>
              <a:t> == </a:t>
            </a:r>
            <a:r>
              <a:rPr b="0" i="0" dirty="0" err="1">
                <a:solidFill>
                  <a:srgbClr val="FF0000"/>
                </a:solidFill>
                <a:latin typeface="微软雅黑"/>
                <a:ea typeface="微软雅黑"/>
              </a:rPr>
              <a:t>判等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，</a:t>
            </a:r>
            <a:r>
              <a:rPr lang="zh-CN" altLang="en-US" b="0" i="0" dirty="0">
                <a:solidFill>
                  <a:srgbClr val="262626"/>
                </a:solidFill>
                <a:latin typeface="微软雅黑"/>
                <a:ea typeface="微软雅黑"/>
              </a:rPr>
              <a:t>而是判断两者之差是否足够小，比如定义</a:t>
            </a:r>
            <a:r>
              <a:rPr lang="en-US" altLang="zh-CN" dirty="0">
                <a:solidFill>
                  <a:srgbClr val="262626"/>
                </a:solidFill>
                <a:latin typeface="微软雅黑"/>
                <a:ea typeface="微软雅黑"/>
              </a:rPr>
              <a:t>eps=1e-9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。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02391"/>
            <a:ext cx="10332720" cy="6924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zh-CN" altLang="en-US" sz="3900" dirty="0">
                <a:solidFill>
                  <a:srgbClr val="000000"/>
                </a:solidFill>
                <a:latin typeface="华文中宋"/>
                <a:ea typeface="华文中宋"/>
              </a:rPr>
              <a:t>举例</a:t>
            </a:r>
            <a:r>
              <a:rPr lang="zh-CN" altLang="en-US" sz="3900" b="0" i="0" dirty="0">
                <a:solidFill>
                  <a:srgbClr val="000000"/>
                </a:solidFill>
                <a:latin typeface="华文中宋"/>
                <a:ea typeface="华文中宋"/>
              </a:rPr>
              <a:t>：</a:t>
            </a:r>
            <a:r>
              <a:rPr sz="39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浮点数</a:t>
            </a:r>
            <a:r>
              <a:rPr lang="zh-CN" altLang="en-US" sz="3900" b="0" i="0" dirty="0">
                <a:solidFill>
                  <a:srgbClr val="000000"/>
                </a:solidFill>
                <a:latin typeface="华文中宋"/>
                <a:ea typeface="华文中宋"/>
              </a:rPr>
              <a:t>的比较</a:t>
            </a:r>
            <a:endParaRPr sz="39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16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759AA0-8D60-4BF0-9E8E-BE46DA9F50A9}"/>
              </a:ext>
            </a:extLst>
          </p:cNvPr>
          <p:cNvSpPr/>
          <p:nvPr/>
        </p:nvSpPr>
        <p:spPr>
          <a:xfrm>
            <a:off x="535807" y="1401215"/>
            <a:ext cx="5354854" cy="461151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int main() {</a:t>
            </a:r>
            <a:r>
              <a:rPr lang="zh-CN" altLang="en-US" dirty="0"/>
              <a:t>  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 double a = 0.1 + 0.2;   </a:t>
            </a:r>
            <a:r>
              <a:rPr lang="en-US" altLang="zh-CN" dirty="0">
                <a:solidFill>
                  <a:srgbClr val="00B050"/>
                </a:solidFill>
              </a:rPr>
              <a:t>//0.30000000000000004</a:t>
            </a:r>
            <a:endParaRPr lang="zh-CN" alt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    double b = 0.3;  </a:t>
            </a:r>
            <a:r>
              <a:rPr lang="en-US" altLang="zh-CN" dirty="0">
                <a:solidFill>
                  <a:srgbClr val="00B050"/>
                </a:solidFill>
              </a:rPr>
              <a:t>//0.29999999999999999</a:t>
            </a:r>
            <a:endParaRPr lang="zh-CN" altLang="en-US" dirty="0">
              <a:solidFill>
                <a:srgbClr val="00B05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/>
              <a:t>    if (a == b) 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  cout &lt;&lt; "a == b\n ";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else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  cout&lt;&lt; "a != b\n ";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   return 0;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FED9801-CF8D-4313-AF87-29ECDE001BF7}"/>
              </a:ext>
            </a:extLst>
          </p:cNvPr>
          <p:cNvSpPr/>
          <p:nvPr/>
        </p:nvSpPr>
        <p:spPr>
          <a:xfrm>
            <a:off x="7108257" y="985716"/>
            <a:ext cx="3843688" cy="544251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#include &lt;iostream&gt;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#include &lt;</a:t>
            </a:r>
            <a:r>
              <a:rPr lang="en-US" altLang="zh-CN" dirty="0" err="1">
                <a:solidFill>
                  <a:srgbClr val="FF0000"/>
                </a:solidFill>
              </a:rPr>
              <a:t>cmath</a:t>
            </a:r>
            <a:r>
              <a:rPr lang="en-US" altLang="zh-CN" dirty="0">
                <a:solidFill>
                  <a:srgbClr val="FF0000"/>
                </a:solidFill>
              </a:rPr>
              <a:t>&gt;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using namespace std;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int main() {</a:t>
            </a:r>
            <a:r>
              <a:rPr lang="zh-CN" altLang="en-US" dirty="0"/>
              <a:t>    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    double a = 0.1 + 0.2;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double b = 0.3;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    double eps = 1e-9;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if(</a:t>
            </a:r>
            <a:r>
              <a:rPr lang="zh-CN" altLang="en-US" dirty="0">
                <a:solidFill>
                  <a:srgbClr val="FF0000"/>
                </a:solidFill>
              </a:rPr>
              <a:t>fabs(a-b) &lt; eps</a:t>
            </a:r>
            <a:r>
              <a:rPr lang="zh-CN" altLang="en-US" dirty="0"/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  cout &lt;&lt; "a == b\n ";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else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        cout&lt;&lt; "a != b\n ";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 return 0;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}</a:t>
            </a:r>
          </a:p>
        </p:txBody>
      </p:sp>
      <p:sp>
        <p:nvSpPr>
          <p:cNvPr id="15" name="箭头: 右 14">
            <a:extLst>
              <a:ext uri="{FF2B5EF4-FFF2-40B4-BE49-F238E27FC236}">
                <a16:creationId xmlns:a16="http://schemas.microsoft.com/office/drawing/2014/main" id="{332AF22A-CB2E-4E6D-B507-38C6C48795B0}"/>
              </a:ext>
            </a:extLst>
          </p:cNvPr>
          <p:cNvSpPr/>
          <p:nvPr/>
        </p:nvSpPr>
        <p:spPr>
          <a:xfrm>
            <a:off x="5969115" y="3349592"/>
            <a:ext cx="1082842" cy="5293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1281E9-3B8E-4B79-9E76-E2F71279EEA3}"/>
              </a:ext>
            </a:extLst>
          </p:cNvPr>
          <p:cNvSpPr/>
          <p:nvPr/>
        </p:nvSpPr>
        <p:spPr>
          <a:xfrm>
            <a:off x="5791573" y="2975738"/>
            <a:ext cx="141577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rgbClr val="1F3A5F"/>
                </a:solidFill>
                <a:latin typeface="微软雅黑"/>
                <a:ea typeface="微软雅黑"/>
              </a:rPr>
              <a:t>正确写法之一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17993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</a:t>
            </a:r>
            <a:r>
              <a:rPr lang="zh-CN" altLang="en-US"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控制语句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47B77D3A-1DFC-43C2-A0E0-AE48D64F40E7}"/>
              </a:ext>
            </a:extLst>
          </p:cNvPr>
          <p:cNvGraphicFramePr>
            <a:graphicFrameLocks noGrp="1"/>
          </p:cNvGraphicFramePr>
          <p:nvPr/>
        </p:nvGraphicFramePr>
        <p:xfrm>
          <a:off x="766651" y="1557338"/>
          <a:ext cx="9845202" cy="2372360"/>
        </p:xfrm>
        <a:graphic>
          <a:graphicData uri="http://schemas.openxmlformats.org/drawingml/2006/table">
            <a:tbl>
              <a:tblPr/>
              <a:tblGrid>
                <a:gridCol w="2414498">
                  <a:extLst>
                    <a:ext uri="{9D8B030D-6E8A-4147-A177-3AD203B41FA5}">
                      <a16:colId xmlns:a16="http://schemas.microsoft.com/office/drawing/2014/main" val="1206529071"/>
                    </a:ext>
                  </a:extLst>
                </a:gridCol>
                <a:gridCol w="7430704">
                  <a:extLst>
                    <a:ext uri="{9D8B030D-6E8A-4147-A177-3AD203B41FA5}">
                      <a16:colId xmlns:a16="http://schemas.microsoft.com/office/drawing/2014/main" val="6653575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</a:rPr>
                        <a:t>控制语句</a:t>
                      </a:r>
                    </a:p>
                  </a:txBody>
                  <a:tcPr marL="44450" marR="44450" marT="31750" marB="31750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50000"/>
                        </a:lnSpc>
                      </a:pPr>
                      <a:r>
                        <a:rPr lang="zh-CN" altLang="en-US" sz="2400">
                          <a:solidFill>
                            <a:srgbClr val="FFFFFF"/>
                          </a:solidFill>
                          <a:effectLst/>
                        </a:rPr>
                        <a:t>描述</a:t>
                      </a:r>
                    </a:p>
                  </a:txBody>
                  <a:tcPr marL="44450" marR="44450" marT="31750" marB="31750">
                    <a:lnL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3A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849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2400" u="none" strike="noStrike">
                          <a:solidFill>
                            <a:srgbClr val="006600"/>
                          </a:solidFill>
                          <a:effectLst/>
                          <a:hlinkClick r:id="rId3" tooltip="C++ 中的 break 语句"/>
                        </a:rPr>
                        <a:t>break </a:t>
                      </a:r>
                      <a:r>
                        <a:rPr lang="zh-CN" altLang="en-US" sz="2400" u="none" strike="noStrike">
                          <a:solidFill>
                            <a:srgbClr val="006600"/>
                          </a:solidFill>
                          <a:effectLst/>
                          <a:hlinkClick r:id="rId3" tooltip="C++ 中的 break 语句"/>
                        </a:rPr>
                        <a:t>语句</a:t>
                      </a:r>
                      <a:endParaRPr lang="zh-CN" altLang="en-US" sz="2400">
                        <a:effectLst/>
                      </a:endParaRPr>
                    </a:p>
                  </a:txBody>
                  <a:tcPr marL="15875" marR="15875" marT="15875" marB="22225">
                    <a:lnL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effectLst/>
                        </a:rPr>
                        <a:t>跳出整个循环或 </a:t>
                      </a:r>
                      <a:r>
                        <a:rPr lang="en-US" altLang="zh-CN" sz="2400" b="1" dirty="0">
                          <a:effectLst/>
                        </a:rPr>
                        <a:t>switch</a:t>
                      </a:r>
                      <a:r>
                        <a:rPr lang="zh-CN" altLang="en-US" sz="2400" dirty="0">
                          <a:effectLst/>
                        </a:rPr>
                        <a:t> 语句</a:t>
                      </a:r>
                    </a:p>
                  </a:txBody>
                  <a:tcPr marL="15875" marR="15875" marT="15875" marB="22225">
                    <a:lnL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5387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2400" u="none" strike="noStrike">
                          <a:solidFill>
                            <a:srgbClr val="006600"/>
                          </a:solidFill>
                          <a:effectLst/>
                          <a:hlinkClick r:id="rId4" tooltip="C++ 中的 continue 语句"/>
                        </a:rPr>
                        <a:t>continue </a:t>
                      </a:r>
                      <a:r>
                        <a:rPr lang="zh-CN" altLang="en-US" sz="2400" u="none" strike="noStrike">
                          <a:solidFill>
                            <a:srgbClr val="006600"/>
                          </a:solidFill>
                          <a:effectLst/>
                          <a:hlinkClick r:id="rId4" tooltip="C++ 中的 continue 语句"/>
                        </a:rPr>
                        <a:t>语句</a:t>
                      </a:r>
                      <a:endParaRPr lang="zh-CN" altLang="en-US" sz="2400">
                        <a:effectLst/>
                      </a:endParaRPr>
                    </a:p>
                  </a:txBody>
                  <a:tcPr marL="15875" marR="15875" marT="15875" marB="22225">
                    <a:lnL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effectLst/>
                        </a:rPr>
                        <a:t>跳过循环体的剩余部分，开始重新测试条件</a:t>
                      </a:r>
                    </a:p>
                  </a:txBody>
                  <a:tcPr marL="15875" marR="15875" marT="15875" marB="22225">
                    <a:lnL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79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en-US" sz="2400" u="none" strike="noStrike">
                          <a:solidFill>
                            <a:srgbClr val="006600"/>
                          </a:solidFill>
                          <a:effectLst/>
                          <a:hlinkClick r:id="rId5" tooltip="C++ 中的 goto 语句"/>
                        </a:rPr>
                        <a:t>goto </a:t>
                      </a:r>
                      <a:r>
                        <a:rPr lang="zh-CN" altLang="en-US" sz="2400" u="none" strike="noStrike">
                          <a:solidFill>
                            <a:srgbClr val="006600"/>
                          </a:solidFill>
                          <a:effectLst/>
                          <a:hlinkClick r:id="rId5" tooltip="C++ 中的 goto 语句"/>
                        </a:rPr>
                        <a:t>语句</a:t>
                      </a:r>
                      <a:endParaRPr lang="zh-CN" altLang="en-US" sz="2400">
                        <a:effectLst/>
                      </a:endParaRPr>
                    </a:p>
                  </a:txBody>
                  <a:tcPr marL="15875" marR="15875" marT="15875" marB="22225">
                    <a:lnL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lnSpc>
                          <a:spcPct val="150000"/>
                        </a:lnSpc>
                      </a:pPr>
                      <a:r>
                        <a:rPr lang="zh-CN" altLang="en-US" sz="2400" dirty="0">
                          <a:effectLst/>
                        </a:rPr>
                        <a:t>将控制转移到被标记的语句。不建议使用 </a:t>
                      </a:r>
                    </a:p>
                  </a:txBody>
                  <a:tcPr marL="15875" marR="15875" marT="15875" marB="22225">
                    <a:lnL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A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686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65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</a:t>
            </a:r>
            <a:r>
              <a:rPr lang="zh-CN" altLang="en-US"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控制语句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E2EA29-2AFA-45F3-814B-0BBAC5BA361C}"/>
              </a:ext>
            </a:extLst>
          </p:cNvPr>
          <p:cNvSpPr/>
          <p:nvPr/>
        </p:nvSpPr>
        <p:spPr>
          <a:xfrm>
            <a:off x="752374" y="1866906"/>
            <a:ext cx="4551145" cy="286232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int sum = 0,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= 1;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while(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&lt;10){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	sum = sum +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++;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solidFill>
                  <a:srgbClr val="CA4C48"/>
                </a:solidFill>
                <a:latin typeface="cascadia code" panose="020B0609020000020004" pitchFamily="49" charset="0"/>
              </a:rPr>
              <a:t>       if</a:t>
            </a:r>
            <a:r>
              <a:rPr lang="en-US" altLang="zh-CN" dirty="0">
                <a:solidFill>
                  <a:srgbClr val="3A3A3A"/>
                </a:solidFill>
                <a:latin typeface="cascadia code" panose="020B0609020000020004" pitchFamily="49" charset="0"/>
              </a:rPr>
              <a:t> (</a:t>
            </a:r>
            <a:r>
              <a:rPr lang="en-US" altLang="zh-CN" dirty="0" err="1">
                <a:solidFill>
                  <a:srgbClr val="3A3A3A"/>
                </a:solidFill>
                <a:latin typeface="cascadia code" panose="020B0609020000020004" pitchFamily="49" charset="0"/>
              </a:rPr>
              <a:t>i</a:t>
            </a:r>
            <a:r>
              <a:rPr lang="en-US" altLang="zh-CN" dirty="0">
                <a:solidFill>
                  <a:srgbClr val="3A3A3A"/>
                </a:solidFill>
                <a:latin typeface="cascadia code" panose="020B0609020000020004" pitchFamily="49" charset="0"/>
              </a:rPr>
              <a:t> == 5) </a:t>
            </a:r>
            <a:r>
              <a:rPr lang="en-US" altLang="zh-CN" dirty="0">
                <a:solidFill>
                  <a:srgbClr val="CA4C48"/>
                </a:solidFill>
                <a:latin typeface="cascadia code" panose="020B0609020000020004" pitchFamily="49" charset="0"/>
              </a:rPr>
              <a:t>break</a:t>
            </a:r>
            <a:r>
              <a:rPr lang="en-US" altLang="zh-CN" dirty="0">
                <a:solidFill>
                  <a:srgbClr val="3A3A3A"/>
                </a:solidFill>
                <a:latin typeface="cascadia code" panose="020B0609020000020004" pitchFamily="49" charset="0"/>
              </a:rPr>
              <a:t>;</a:t>
            </a: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} 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&lt;&lt; "sum is " &lt;&lt; sum &lt;&lt;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endl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90216A-6E31-4500-ABFC-CAB1CFDB269B}"/>
              </a:ext>
            </a:extLst>
          </p:cNvPr>
          <p:cNvSpPr/>
          <p:nvPr/>
        </p:nvSpPr>
        <p:spPr>
          <a:xfrm>
            <a:off x="6301340" y="1866906"/>
            <a:ext cx="4551144" cy="286232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int sum = 0,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= 1;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while(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&lt;10){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	sum = sum +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++;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solidFill>
                  <a:srgbClr val="CA4C48"/>
                </a:solidFill>
                <a:latin typeface="cascadia code" panose="020B0609020000020004" pitchFamily="49" charset="0"/>
              </a:rPr>
              <a:t>       if</a:t>
            </a:r>
            <a:r>
              <a:rPr lang="en-US" altLang="zh-CN" dirty="0">
                <a:solidFill>
                  <a:srgbClr val="3A3A3A"/>
                </a:solidFill>
                <a:latin typeface="cascadia code" panose="020B0609020000020004" pitchFamily="49" charset="0"/>
              </a:rPr>
              <a:t> (</a:t>
            </a:r>
            <a:r>
              <a:rPr lang="en-US" altLang="zh-CN" dirty="0" err="1">
                <a:solidFill>
                  <a:srgbClr val="3A3A3A"/>
                </a:solidFill>
                <a:latin typeface="cascadia code" panose="020B0609020000020004" pitchFamily="49" charset="0"/>
              </a:rPr>
              <a:t>i</a:t>
            </a:r>
            <a:r>
              <a:rPr lang="en-US" altLang="zh-CN" dirty="0">
                <a:solidFill>
                  <a:srgbClr val="3A3A3A"/>
                </a:solidFill>
                <a:latin typeface="cascadia code" panose="020B0609020000020004" pitchFamily="49" charset="0"/>
              </a:rPr>
              <a:t> == 5) </a:t>
            </a:r>
            <a:r>
              <a:rPr lang="en-US" altLang="zh-CN" dirty="0">
                <a:solidFill>
                  <a:srgbClr val="CA4C48"/>
                </a:solidFill>
                <a:latin typeface="cascadia code" panose="020B0609020000020004" pitchFamily="49" charset="0"/>
              </a:rPr>
              <a:t>continue</a:t>
            </a:r>
            <a:r>
              <a:rPr lang="en-US" altLang="zh-CN" dirty="0">
                <a:solidFill>
                  <a:srgbClr val="3A3A3A"/>
                </a:solidFill>
                <a:latin typeface="cascadia code" panose="020B0609020000020004" pitchFamily="49" charset="0"/>
              </a:rPr>
              <a:t>;</a:t>
            </a:r>
            <a:endParaRPr lang="en-US" altLang="zh-CN" dirty="0"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} 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&lt;&lt; "sum is " &lt;&lt;sum &lt;&lt;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endl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A1F957-991B-4B89-95FD-F9DA39F5F7FE}"/>
              </a:ext>
            </a:extLst>
          </p:cNvPr>
          <p:cNvSpPr/>
          <p:nvPr/>
        </p:nvSpPr>
        <p:spPr>
          <a:xfrm>
            <a:off x="686231" y="1121964"/>
            <a:ext cx="43622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262626"/>
                </a:solidFill>
                <a:latin typeface="微软雅黑"/>
                <a:ea typeface="微软雅黑"/>
              </a:rPr>
              <a:t>例：分析代码，写结果</a:t>
            </a:r>
            <a:endParaRPr lang="zh-CN" altLang="en-US" sz="20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8BDC07-AF5F-4D22-8589-B00D6DC1832A}"/>
              </a:ext>
            </a:extLst>
          </p:cNvPr>
          <p:cNvSpPr/>
          <p:nvPr/>
        </p:nvSpPr>
        <p:spPr>
          <a:xfrm>
            <a:off x="1799739" y="5279058"/>
            <a:ext cx="213520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sum= 10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97A8F30-D7B2-4836-9292-0C6EF31FCBC5}"/>
              </a:ext>
            </a:extLst>
          </p:cNvPr>
          <p:cNvSpPr/>
          <p:nvPr/>
        </p:nvSpPr>
        <p:spPr>
          <a:xfrm>
            <a:off x="7806416" y="5279058"/>
            <a:ext cx="10759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sum= 45</a:t>
            </a:r>
          </a:p>
        </p:txBody>
      </p:sp>
    </p:spTree>
    <p:extLst>
      <p:ext uri="{BB962C8B-B14F-4D97-AF65-F5344CB8AC3E}">
        <p14:creationId xmlns:p14="http://schemas.microsoft.com/office/powerpoint/2010/main" val="2979126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</a:t>
            </a:r>
            <a:r>
              <a:rPr lang="zh-CN" altLang="en-US"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控制语句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E2EA29-2AFA-45F3-814B-0BBAC5BA361C}"/>
              </a:ext>
            </a:extLst>
          </p:cNvPr>
          <p:cNvSpPr/>
          <p:nvPr/>
        </p:nvSpPr>
        <p:spPr>
          <a:xfrm>
            <a:off x="384048" y="1522074"/>
            <a:ext cx="5281382" cy="452431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sum = 0,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= 1;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while(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&lt;10){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if (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== 5) {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&lt;&lt; “</a:t>
            </a:r>
            <a:r>
              <a:rPr lang="zh-CN" altLang="en-US" dirty="0">
                <a:latin typeface="Courier New" panose="02070309020205020404" pitchFamily="49" charset="0"/>
                <a:ea typeface="宋体" panose="02010600030101010101" pitchFamily="2" charset="-122"/>
              </a:rPr>
              <a:t>跳过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= 5</a:t>
            </a:r>
            <a:r>
              <a:rPr lang="zh-CN" altLang="en-US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"&lt;&lt;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endl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++;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   </a:t>
            </a:r>
            <a:r>
              <a:rPr lang="en-US" altLang="zh-CN" dirty="0">
                <a:solidFill>
                  <a:srgbClr val="CA4C48"/>
                </a:solidFill>
                <a:latin typeface="cascadia code" panose="020B0609020000020004" pitchFamily="49" charset="0"/>
              </a:rPr>
              <a:t>continue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}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sum = sum +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  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++;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}</a:t>
            </a:r>
          </a:p>
          <a:p>
            <a:pPr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cout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 &lt;&lt; "sum is " &lt;&lt; sum&lt;&lt;</a:t>
            </a:r>
            <a:r>
              <a:rPr lang="en-US" altLang="zh-CN" dirty="0" err="1">
                <a:latin typeface="Courier New" panose="02070309020205020404" pitchFamily="49" charset="0"/>
                <a:ea typeface="宋体" panose="02010600030101010101" pitchFamily="2" charset="-122"/>
              </a:rPr>
              <a:t>endl</a:t>
            </a:r>
            <a:r>
              <a:rPr lang="en-US" altLang="zh-CN" dirty="0">
                <a:latin typeface="Courier New" panose="02070309020205020404" pitchFamily="49" charset="0"/>
                <a:ea typeface="宋体" panose="02010600030101010101" pitchFamily="2" charset="-122"/>
              </a:rPr>
              <a:t>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A1F957-991B-4B89-95FD-F9DA39F5F7FE}"/>
              </a:ext>
            </a:extLst>
          </p:cNvPr>
          <p:cNvSpPr/>
          <p:nvPr/>
        </p:nvSpPr>
        <p:spPr>
          <a:xfrm>
            <a:off x="320040" y="977585"/>
            <a:ext cx="7866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262626"/>
                </a:solidFill>
                <a:latin typeface="微软雅黑"/>
                <a:ea typeface="微软雅黑"/>
              </a:rPr>
              <a:t>假设要实现</a:t>
            </a:r>
            <a:r>
              <a:rPr lang="en-US" altLang="zh-CN" sz="2000" dirty="0" err="1">
                <a:solidFill>
                  <a:srgbClr val="262626"/>
                </a:solidFill>
                <a:latin typeface="微软雅黑"/>
                <a:ea typeface="微软雅黑"/>
              </a:rPr>
              <a:t>i</a:t>
            </a:r>
            <a:r>
              <a:rPr lang="en-US" altLang="zh-CN" sz="2000" dirty="0">
                <a:solidFill>
                  <a:srgbClr val="262626"/>
                </a:solidFill>
                <a:latin typeface="微软雅黑"/>
                <a:ea typeface="微软雅黑"/>
              </a:rPr>
              <a:t>==5</a:t>
            </a:r>
            <a:r>
              <a:rPr lang="zh-CN" altLang="en-US" sz="2000" dirty="0">
                <a:solidFill>
                  <a:srgbClr val="262626"/>
                </a:solidFill>
                <a:latin typeface="微软雅黑"/>
                <a:ea typeface="微软雅黑"/>
              </a:rPr>
              <a:t>时不求和，进一步分析以下代码的输出</a:t>
            </a:r>
            <a:endParaRPr lang="zh-CN" altLang="en-US" sz="20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9CC84206-A828-43D9-9692-901A9D16C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671" y="1245075"/>
            <a:ext cx="5018941" cy="49175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int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sum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,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i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1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while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i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&lt;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10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){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if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(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i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==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B76B01"/>
                </a:solidFill>
                <a:effectLst/>
                <a:latin typeface="Arial Unicode MS"/>
                <a:ea typeface="Menlo"/>
              </a:rPr>
              <a:t>5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)</a:t>
            </a: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383A42"/>
                </a:solidFill>
                <a:latin typeface="Arial Unicode MS"/>
              </a:rPr>
              <a:t>{</a:t>
            </a:r>
            <a:r>
              <a:rPr lang="zh-CN" altLang="zh-CN" sz="2400" dirty="0">
                <a:solidFill>
                  <a:srgbClr val="383A42"/>
                </a:solidFill>
                <a:latin typeface="Arial Unicode MS"/>
              </a:rPr>
              <a:t> </a:t>
            </a:r>
            <a:endParaRPr lang="en-US" altLang="zh-CN" sz="2400" dirty="0">
              <a:solidFill>
                <a:srgbClr val="383A42"/>
              </a:solidFill>
              <a:latin typeface="Arial Unicode MS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F1115"/>
                </a:solidFill>
                <a:latin typeface="Arial Unicode MS"/>
                <a:ea typeface="Menlo"/>
              </a:rPr>
              <a:t>       </a:t>
            </a:r>
            <a:r>
              <a:rPr lang="zh-CN" altLang="zh-CN" sz="2400" dirty="0">
                <a:solidFill>
                  <a:srgbClr val="0F1115"/>
                </a:solidFill>
                <a:latin typeface="Arial Unicode MS"/>
                <a:ea typeface="Menlo"/>
              </a:rPr>
              <a:t>cout </a:t>
            </a:r>
            <a:r>
              <a:rPr lang="zh-CN" altLang="zh-CN" sz="2400" dirty="0">
                <a:solidFill>
                  <a:srgbClr val="4078F2"/>
                </a:solidFill>
                <a:latin typeface="Arial Unicode MS"/>
                <a:ea typeface="Menlo"/>
              </a:rPr>
              <a:t>&lt;&lt;</a:t>
            </a:r>
            <a:r>
              <a:rPr lang="zh-CN" altLang="zh-CN" sz="2400" dirty="0">
                <a:solidFill>
                  <a:srgbClr val="0F1115"/>
                </a:solidFill>
                <a:latin typeface="Arial Unicode MS"/>
                <a:ea typeface="Menlo"/>
              </a:rPr>
              <a:t> </a:t>
            </a:r>
            <a:r>
              <a:rPr lang="zh-CN" altLang="zh-CN" sz="2400" dirty="0">
                <a:solidFill>
                  <a:srgbClr val="50A14F"/>
                </a:solidFill>
                <a:latin typeface="Arial Unicode MS"/>
                <a:ea typeface="Menlo"/>
              </a:rPr>
              <a:t>"跳过 i = 5"</a:t>
            </a:r>
            <a:r>
              <a:rPr lang="zh-CN" altLang="zh-CN" sz="2400" dirty="0">
                <a:solidFill>
                  <a:srgbClr val="0F1115"/>
                </a:solidFill>
                <a:latin typeface="Arial Unicode MS"/>
                <a:ea typeface="Menlo"/>
              </a:rPr>
              <a:t> </a:t>
            </a:r>
            <a:r>
              <a:rPr lang="zh-CN" altLang="zh-CN" sz="2400" dirty="0">
                <a:solidFill>
                  <a:srgbClr val="4078F2"/>
                </a:solidFill>
                <a:latin typeface="Arial Unicode MS"/>
                <a:ea typeface="Menlo"/>
              </a:rPr>
              <a:t>&lt;&lt;</a:t>
            </a:r>
            <a:r>
              <a:rPr lang="zh-CN" altLang="zh-CN" sz="2400" dirty="0">
                <a:solidFill>
                  <a:srgbClr val="0F1115"/>
                </a:solidFill>
                <a:latin typeface="Arial Unicode MS"/>
                <a:ea typeface="Menlo"/>
              </a:rPr>
              <a:t> endl</a:t>
            </a:r>
            <a:r>
              <a:rPr lang="zh-CN" altLang="zh-CN" sz="2400" dirty="0">
                <a:solidFill>
                  <a:srgbClr val="383A42"/>
                </a:solidFill>
                <a:latin typeface="Arial Unicode MS"/>
                <a:ea typeface="Menlo"/>
              </a:rPr>
              <a:t>;</a:t>
            </a:r>
            <a:r>
              <a:rPr lang="zh-CN" altLang="zh-CN" sz="2400" dirty="0">
                <a:solidFill>
                  <a:srgbClr val="0F1115"/>
                </a:solidFill>
                <a:latin typeface="Arial Unicode MS"/>
                <a:ea typeface="Menl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Arial Unicode MS"/>
              <a:ea typeface="Menlo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   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A626A4"/>
                </a:solidFill>
                <a:effectLst/>
                <a:latin typeface="Arial Unicode MS"/>
                <a:ea typeface="Menlo"/>
              </a:rPr>
              <a:t>continue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;</a:t>
            </a: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solidFill>
                  <a:srgbClr val="383A42"/>
                </a:solidFill>
                <a:latin typeface="Arial Unicode MS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sum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=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sum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+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i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;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383A42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 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i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4078F2"/>
                </a:solidFill>
                <a:effectLst/>
                <a:latin typeface="Arial Unicode MS"/>
                <a:ea typeface="Menlo"/>
              </a:rPr>
              <a:t>++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;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0F1115"/>
                </a:solidFill>
                <a:effectLst/>
                <a:latin typeface="Arial Unicode MS"/>
                <a:ea typeface="Menlo"/>
              </a:rPr>
              <a:t> 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rgbClr val="0F1115"/>
              </a:solidFill>
              <a:effectLst/>
              <a:latin typeface="Arial Unicode MS"/>
              <a:ea typeface="Menlo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 </a:t>
            </a: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rgbClr val="383A42"/>
                </a:solidFill>
                <a:effectLst/>
                <a:latin typeface="Arial Unicode MS"/>
                <a:ea typeface="Menlo"/>
              </a:rPr>
              <a:t>}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400" dirty="0">
                <a:solidFill>
                  <a:srgbClr val="0F1115"/>
                </a:solidFill>
                <a:latin typeface="Arial Unicode MS"/>
              </a:rPr>
              <a:t> </a:t>
            </a:r>
            <a:r>
              <a:rPr lang="en-US" altLang="zh-CN" sz="2400" dirty="0" err="1">
                <a:solidFill>
                  <a:srgbClr val="0F1115"/>
                </a:solidFill>
                <a:latin typeface="Arial Unicode MS"/>
              </a:rPr>
              <a:t>cout</a:t>
            </a:r>
            <a:r>
              <a:rPr lang="en-US" altLang="zh-CN" sz="2400" dirty="0">
                <a:solidFill>
                  <a:srgbClr val="0F1115"/>
                </a:solidFill>
                <a:latin typeface="Arial Unicode MS"/>
              </a:rPr>
              <a:t> &lt;&lt; "sum is " &lt;&lt; sum&lt;&lt;</a:t>
            </a:r>
            <a:r>
              <a:rPr lang="en-US" altLang="zh-CN" sz="2400" dirty="0" err="1">
                <a:solidFill>
                  <a:srgbClr val="0F1115"/>
                </a:solidFill>
                <a:latin typeface="Arial Unicode MS"/>
              </a:rPr>
              <a:t>endl</a:t>
            </a:r>
            <a:r>
              <a:rPr lang="en-US" altLang="zh-CN" sz="2400" dirty="0">
                <a:solidFill>
                  <a:srgbClr val="0F1115"/>
                </a:solidFill>
                <a:latin typeface="Arial Unicode MS"/>
              </a:rPr>
              <a:t>;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EA4DF0D-56F9-4225-8DB0-C52B70AF4C16}"/>
              </a:ext>
            </a:extLst>
          </p:cNvPr>
          <p:cNvSpPr/>
          <p:nvPr/>
        </p:nvSpPr>
        <p:spPr>
          <a:xfrm>
            <a:off x="506824" y="6046389"/>
            <a:ext cx="22749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跳过 i = 5，sum= 40</a:t>
            </a:r>
          </a:p>
        </p:txBody>
      </p:sp>
    </p:spTree>
    <p:extLst>
      <p:ext uri="{BB962C8B-B14F-4D97-AF65-F5344CB8AC3E}">
        <p14:creationId xmlns:p14="http://schemas.microsoft.com/office/powerpoint/2010/main" val="3759116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7780"/>
            <a:ext cx="1033272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7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课堂编程练习</a:t>
            </a:r>
            <a:r>
              <a:rPr sz="3700" b="0" i="0" dirty="0">
                <a:solidFill>
                  <a:srgbClr val="000000"/>
                </a:solidFill>
                <a:latin typeface="华文中宋"/>
                <a:ea typeface="华文中宋"/>
              </a:rPr>
              <a:t>：</a:t>
            </a:r>
            <a:r>
              <a:rPr lang="zh-CN" altLang="en-US" sz="3700" dirty="0">
                <a:solidFill>
                  <a:srgbClr val="000000"/>
                </a:solidFill>
                <a:latin typeface="华文中宋"/>
                <a:ea typeface="华文中宋"/>
              </a:rPr>
              <a:t>计算</a:t>
            </a:r>
            <a:r>
              <a:rPr lang="en-US" altLang="zh-CN" sz="3700" dirty="0">
                <a:solidFill>
                  <a:srgbClr val="000000"/>
                </a:solidFill>
                <a:latin typeface="华文中宋"/>
                <a:ea typeface="华文中宋"/>
              </a:rPr>
              <a:t>a</a:t>
            </a:r>
            <a:r>
              <a:rPr lang="zh-CN" altLang="en-US" sz="3700" dirty="0">
                <a:solidFill>
                  <a:srgbClr val="000000"/>
                </a:solidFill>
                <a:latin typeface="华文中宋"/>
                <a:ea typeface="华文中宋"/>
              </a:rPr>
              <a:t>到</a:t>
            </a:r>
            <a:r>
              <a:rPr lang="en-US" altLang="zh-CN" sz="3700" dirty="0">
                <a:solidFill>
                  <a:srgbClr val="000000"/>
                </a:solidFill>
                <a:latin typeface="华文中宋"/>
                <a:ea typeface="华文中宋"/>
              </a:rPr>
              <a:t>b</a:t>
            </a:r>
            <a:r>
              <a:rPr lang="zh-CN" altLang="en-US" sz="3700" dirty="0">
                <a:solidFill>
                  <a:srgbClr val="000000"/>
                </a:solidFill>
                <a:latin typeface="华文中宋"/>
                <a:ea typeface="华文中宋"/>
              </a:rPr>
              <a:t>之间</a:t>
            </a:r>
            <a:r>
              <a:rPr lang="en-US" altLang="zh-CN" sz="3700" dirty="0">
                <a:solidFill>
                  <a:srgbClr val="000000"/>
                </a:solidFill>
                <a:latin typeface="华文中宋"/>
                <a:ea typeface="华文中宋"/>
              </a:rPr>
              <a:t>c</a:t>
            </a:r>
            <a:r>
              <a:rPr lang="zh-CN" altLang="en-US" sz="3700" dirty="0">
                <a:solidFill>
                  <a:srgbClr val="000000"/>
                </a:solidFill>
                <a:latin typeface="华文中宋"/>
                <a:ea typeface="华文中宋"/>
              </a:rPr>
              <a:t>的约数个数</a:t>
            </a:r>
            <a:endParaRPr sz="37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30</a:t>
            </a: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6AE7E0CE-6390-4139-9E17-62E69E388D08}"/>
              </a:ext>
            </a:extLst>
          </p:cNvPr>
          <p:cNvSpPr/>
          <p:nvPr/>
        </p:nvSpPr>
        <p:spPr>
          <a:xfrm>
            <a:off x="977153" y="1178645"/>
            <a:ext cx="6329082" cy="489364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How Many Divisors?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Write a program which reads three integers a, b and c, and prints the number of divisors of c between a and b.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Three integers a, b and c are given in a line separated by a single space.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≤ a, b, c ≤ 10000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 ≤ b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Print the number of divisors in a line.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56D8B5ED-DAA3-4467-980A-4A17964BEB9E}"/>
              </a:ext>
            </a:extLst>
          </p:cNvPr>
          <p:cNvSpPr/>
          <p:nvPr/>
        </p:nvSpPr>
        <p:spPr>
          <a:xfrm>
            <a:off x="8189259" y="2510119"/>
            <a:ext cx="3886200" cy="15696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1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5 14 80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1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11469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例 ：逐位处理一个整数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575" y="1082227"/>
            <a:ext cx="6217920" cy="5299322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endParaRPr sz="16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main() {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n;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&gt;&gt; n;   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例如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2026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digits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, sum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rev 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翻转后的数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(n &gt;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) {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</a:t>
            </a:r>
            <a:r>
              <a:rPr sz="16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d = n %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取个位：6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digits++;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sum += d;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rev = rev *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+ d;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把 d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接到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 rev </a:t>
            </a:r>
            <a:r>
              <a:rPr sz="1600" b="0" i="1" dirty="0" err="1">
                <a:solidFill>
                  <a:srgbClr val="6A9955"/>
                </a:solidFill>
                <a:latin typeface="Consolas"/>
                <a:ea typeface="微软雅黑"/>
              </a:rPr>
              <a:t>末尾</a:t>
            </a:r>
            <a:endParaRPr sz="16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n /=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10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         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去掉个位：202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}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600" b="0" i="0" dirty="0" err="1">
                <a:solidFill>
                  <a:srgbClr val="CE9178"/>
                </a:solidFill>
                <a:latin typeface="Consolas"/>
                <a:ea typeface="微软雅黑"/>
              </a:rPr>
              <a:t>位数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digits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  </a:t>
            </a:r>
            <a:r>
              <a:rPr sz="1600" b="0" i="0" dirty="0" err="1">
                <a:solidFill>
                  <a:srgbClr val="CE9178"/>
                </a:solidFill>
                <a:latin typeface="Consolas"/>
                <a:ea typeface="微软雅黑"/>
              </a:rPr>
              <a:t>数位和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sum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     &lt;&lt; 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"  </a:t>
            </a:r>
            <a:r>
              <a:rPr sz="1600" b="0" i="0" dirty="0" err="1">
                <a:solidFill>
                  <a:srgbClr val="CE9178"/>
                </a:solidFill>
                <a:latin typeface="Consolas"/>
                <a:ea typeface="微软雅黑"/>
              </a:rPr>
              <a:t>翻转</a:t>
            </a:r>
            <a:r>
              <a:rPr sz="1600" b="0" i="0" dirty="0">
                <a:solidFill>
                  <a:srgbClr val="CE9178"/>
                </a:solidFill>
                <a:latin typeface="Consolas"/>
                <a:ea typeface="微软雅黑"/>
              </a:rPr>
              <a:t> "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&lt;&lt; rev &lt;&lt; </a:t>
            </a:r>
            <a:r>
              <a:rPr sz="16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   </a:t>
            </a:r>
            <a:r>
              <a:rPr sz="1600" b="0" i="1" dirty="0">
                <a:solidFill>
                  <a:srgbClr val="6A9955"/>
                </a:solidFill>
                <a:latin typeface="Consolas"/>
                <a:ea typeface="微软雅黑"/>
              </a:rPr>
              <a:t>// 4  10  6202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6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6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6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1234440"/>
            <a:ext cx="4876495" cy="44601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跟踪</a:t>
            </a:r>
            <a:r>
              <a:rPr sz="1500" b="1" i="0" dirty="0">
                <a:solidFill>
                  <a:srgbClr val="1F3A5F"/>
                </a:solidFill>
                <a:latin typeface="微软雅黑"/>
                <a:ea typeface="微软雅黑"/>
              </a:rPr>
              <a:t> n = 2026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d=6 → digits=1 sum=6 rev=6 n=202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d=2 → digits=2 sum=8 rev=62 n=20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d=0 → digits=3 sum=8 rev=620 n=2</a:t>
            </a: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300" b="0" i="0" dirty="0">
                <a:solidFill>
                  <a:srgbClr val="262626"/>
                </a:solidFill>
                <a:latin typeface="微软雅黑"/>
                <a:ea typeface="微软雅黑"/>
              </a:rPr>
              <a:t>d=2 → digits=4 sum=10 rev=6202 n=0 → 停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% 10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取个位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、</a:t>
            </a: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/ 10</a:t>
            </a:r>
            <a:r>
              <a:rPr sz="15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去个位：处理数位的固定搭配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400" b="0" i="0" dirty="0">
                <a:solidFill>
                  <a:srgbClr val="8E2A2A"/>
                </a:solidFill>
                <a:latin typeface="Consolas"/>
                <a:ea typeface="微软雅黑"/>
              </a:rPr>
              <a:t>rev = rev * 10 + </a:t>
            </a:r>
            <a:r>
              <a:rPr sz="1400" b="0" i="0" dirty="0" err="1">
                <a:solidFill>
                  <a:srgbClr val="8E2A2A"/>
                </a:solidFill>
                <a:latin typeface="Consolas"/>
                <a:ea typeface="微软雅黑"/>
              </a:rPr>
              <a:t>d</a:t>
            </a:r>
            <a:r>
              <a:rPr sz="15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：旧结果左移一位再加新数字</a:t>
            </a:r>
            <a:endParaRPr sz="15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“乘 10 再加下一位”正是秦九韶算法（1247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年《数书九章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》，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西方称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Horner 法）求多项式值的思路：2026 = ((2×10+0)×10+2)×10+6</a:t>
            </a: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sz="15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注意</a:t>
            </a:r>
            <a:endParaRPr sz="1500" b="1" i="0" dirty="0">
              <a:solidFill>
                <a:srgbClr val="1F3A5F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n = 0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时一次都不进，位数得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0——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需特殊处理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翻转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1200 得 21：前导零消失；</a:t>
            </a:r>
            <a:endParaRPr lang="en-US" altLang="zh-CN"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Char char="–"/>
            </a:pP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大数翻转可能溢出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int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，用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long </a:t>
            </a:r>
            <a:r>
              <a:rPr sz="1600" b="0" i="0" dirty="0" err="1">
                <a:solidFill>
                  <a:srgbClr val="8E2A2A"/>
                </a:solidFill>
                <a:latin typeface="Consolas"/>
                <a:ea typeface="微软雅黑"/>
              </a:rPr>
              <a:t>long</a:t>
            </a:r>
            <a:endParaRPr sz="1600" b="0" i="0" dirty="0">
              <a:solidFill>
                <a:srgbClr val="8E2A2A"/>
              </a:solidFill>
              <a:latin typeface="Consolas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83891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例 ：</a:t>
            </a:r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以“哨兵值”结束输入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21521"/>
            <a:ext cx="5486400" cy="4188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读入若干成绩，输入</a:t>
            </a:r>
            <a:r>
              <a:rPr sz="2000" b="1" i="0" dirty="0">
                <a:solidFill>
                  <a:srgbClr val="1F3A5F"/>
                </a:solidFill>
                <a:latin typeface="微软雅黑"/>
                <a:ea typeface="微软雅黑"/>
              </a:rPr>
              <a:t> -1 </a:t>
            </a:r>
            <a:r>
              <a:rPr sz="2000" b="1" i="0" dirty="0" err="1">
                <a:solidFill>
                  <a:srgbClr val="1F3A5F"/>
                </a:solidFill>
                <a:latin typeface="微软雅黑"/>
                <a:ea typeface="微软雅黑"/>
              </a:rPr>
              <a:t>结束，求总和与个数</a:t>
            </a:r>
            <a:endParaRPr sz="2000" b="1" i="0" dirty="0">
              <a:solidFill>
                <a:srgbClr val="1F3A5F"/>
              </a:solidFill>
              <a:latin typeface="微软雅黑"/>
              <a:ea typeface="微软雅黑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536191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C586C0"/>
                </a:solidFill>
                <a:latin typeface="Consolas"/>
                <a:ea typeface="微软雅黑"/>
              </a:rPr>
              <a:t>#include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&lt;iostream&gt;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using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namespace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std;</a:t>
            </a:r>
          </a:p>
          <a:p>
            <a:pPr algn="l">
              <a:lnSpc>
                <a:spcPct val="105000"/>
              </a:lnSpc>
              <a:buNone/>
            </a:pPr>
            <a:endParaRPr sz="14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main() 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sum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, count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score;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400" b="0" i="0" dirty="0" err="1">
                <a:solidFill>
                  <a:srgbClr val="CE9178"/>
                </a:solidFill>
                <a:latin typeface="Consolas"/>
                <a:ea typeface="微软雅黑"/>
              </a:rPr>
              <a:t>输入成绩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（-1 </a:t>
            </a:r>
            <a:r>
              <a:rPr sz="1400" b="0" i="0" dirty="0" err="1">
                <a:solidFill>
                  <a:srgbClr val="CE9178"/>
                </a:solidFill>
                <a:latin typeface="Consolas"/>
                <a:ea typeface="微软雅黑"/>
              </a:rPr>
              <a:t>结束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）: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&gt;&gt; score;            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先读第一个</a:t>
            </a: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(score != -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    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哨兵值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：-1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  sum += score;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  count++;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&gt;&gt; score;            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再读下一个（更新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）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"共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count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 </a:t>
            </a:r>
            <a:r>
              <a:rPr sz="1400" b="0" i="0" dirty="0" err="1">
                <a:solidFill>
                  <a:srgbClr val="CE9178"/>
                </a:solidFill>
                <a:latin typeface="Consolas"/>
                <a:ea typeface="微软雅黑"/>
              </a:rPr>
              <a:t>个，总和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 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sum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return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7112" y="994023"/>
            <a:ext cx="4177364" cy="38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None/>
            </a:pPr>
            <a:r>
              <a:rPr b="1" i="0" dirty="0" err="1">
                <a:solidFill>
                  <a:srgbClr val="1F3A5F"/>
                </a:solidFill>
                <a:latin typeface="微软雅黑"/>
                <a:ea typeface="微软雅黑"/>
              </a:rPr>
              <a:t>同一模式的另一种写法</a:t>
            </a:r>
            <a:endParaRPr b="1" i="0" dirty="0">
              <a:solidFill>
                <a:srgbClr val="1F3A5F"/>
              </a:solidFill>
              <a:latin typeface="微软雅黑"/>
              <a:ea typeface="微软雅黑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536191"/>
            <a:ext cx="5532120" cy="4566225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sum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, count =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int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score;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cin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&gt;&gt; score &amp;&amp; score != -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1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 {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sum += score;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count++;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cin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 &gt;&gt; score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成功且不是哨兵值才进入循环体</a:t>
            </a: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输入结束（</a:t>
            </a:r>
            <a:r>
              <a:rPr sz="1400" b="1" i="1" dirty="0" err="1">
                <a:solidFill>
                  <a:srgbClr val="6A9955"/>
                </a:solidFill>
                <a:latin typeface="Consolas"/>
                <a:ea typeface="微软雅黑"/>
              </a:rPr>
              <a:t>Ctrl+Z</a:t>
            </a:r>
            <a:r>
              <a:rPr sz="1400" b="1" i="1" dirty="0">
                <a:solidFill>
                  <a:srgbClr val="6A9955"/>
                </a:solidFill>
                <a:latin typeface="Consolas"/>
                <a:ea typeface="微软雅黑"/>
              </a:rPr>
              <a:t> </a:t>
            </a: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文件末尾）也会退出</a:t>
            </a: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sz="1400" b="0" i="1" dirty="0" err="1">
                <a:solidFill>
                  <a:srgbClr val="6A9955"/>
                </a:solidFill>
                <a:latin typeface="Consolas"/>
                <a:ea typeface="微软雅黑"/>
              </a:rPr>
              <a:t>平均值要防止除零</a:t>
            </a:r>
            <a:endParaRPr sz="1400"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if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(count &gt; </a:t>
            </a:r>
            <a:r>
              <a:rPr sz="1400" b="0" i="0" dirty="0">
                <a:solidFill>
                  <a:srgbClr val="B5CEA8"/>
                </a:solidFill>
                <a:latin typeface="Consolas"/>
                <a:ea typeface="微软雅黑"/>
              </a:rPr>
              <a:t>0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(</a:t>
            </a:r>
            <a:r>
              <a:rPr sz="1400" b="0" i="0" dirty="0">
                <a:solidFill>
                  <a:srgbClr val="4EC9B0"/>
                </a:solidFill>
                <a:latin typeface="Consolas"/>
                <a:ea typeface="微软雅黑"/>
              </a:rPr>
              <a:t>double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)sum / count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569CD6"/>
                </a:solidFill>
                <a:latin typeface="Consolas"/>
                <a:ea typeface="微软雅黑"/>
              </a:rPr>
              <a:t>else</a:t>
            </a:r>
          </a:p>
          <a:p>
            <a:pPr algn="l">
              <a:lnSpc>
                <a:spcPct val="105000"/>
              </a:lnSpc>
              <a:buNone/>
            </a:pP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cout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400" b="0" i="0" dirty="0" err="1">
                <a:solidFill>
                  <a:srgbClr val="CE9178"/>
                </a:solidFill>
                <a:latin typeface="Consolas"/>
                <a:ea typeface="微软雅黑"/>
              </a:rPr>
              <a:t>没有数据</a:t>
            </a:r>
            <a:r>
              <a:rPr sz="1400" b="0" i="0" dirty="0">
                <a:solidFill>
                  <a:srgbClr val="CE9178"/>
                </a:solidFill>
                <a:latin typeface="Consolas"/>
                <a:ea typeface="微软雅黑"/>
              </a:rPr>
              <a:t>"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 &lt;&lt; </a:t>
            </a:r>
            <a:r>
              <a:rPr sz="1400" b="0" i="0" dirty="0" err="1">
                <a:solidFill>
                  <a:srgbClr val="D4D4D4"/>
                </a:solidFill>
                <a:latin typeface="Consolas"/>
                <a:ea typeface="微软雅黑"/>
              </a:rPr>
              <a:t>endl</a:t>
            </a:r>
            <a:r>
              <a:rPr sz="1400"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  <a:endParaRPr lang="en-US" altLang="zh-CN" sz="1400" b="0" i="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>
              <a:lnSpc>
                <a:spcPct val="105000"/>
              </a:lnSpc>
            </a:pPr>
            <a:endParaRPr lang="en-US" altLang="zh-CN" sz="140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>
              <a:lnSpc>
                <a:spcPct val="105000"/>
              </a:lnSpc>
            </a:pPr>
            <a:r>
              <a:rPr lang="en-US" altLang="zh-CN" sz="140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lang="zh-CN" altLang="en-US" sz="1400" i="1" dirty="0">
                <a:solidFill>
                  <a:srgbClr val="6A9955"/>
                </a:solidFill>
                <a:latin typeface="Consolas"/>
                <a:ea typeface="微软雅黑"/>
              </a:rPr>
              <a:t>若无输入结束条件，则默认为读到文件尾，可用如下方式输入：</a:t>
            </a:r>
            <a:endParaRPr lang="en-US" altLang="zh-CN" sz="140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>
              <a:lnSpc>
                <a:spcPct val="105000"/>
              </a:lnSpc>
            </a:pPr>
            <a:r>
              <a:rPr lang="gsw-FR" altLang="zh-CN" sz="1400" dirty="0">
                <a:solidFill>
                  <a:srgbClr val="569CD6"/>
                </a:solidFill>
                <a:latin typeface="Consolas"/>
                <a:ea typeface="微软雅黑"/>
              </a:rPr>
              <a:t>while</a:t>
            </a:r>
            <a:r>
              <a:rPr lang="gsw-FR" altLang="zh-CN" sz="1400" dirty="0">
                <a:solidFill>
                  <a:srgbClr val="D4D4D4"/>
                </a:solidFill>
                <a:latin typeface="Consolas"/>
                <a:ea typeface="微软雅黑"/>
              </a:rPr>
              <a:t> (cin &gt;&gt; score) {</a:t>
            </a:r>
          </a:p>
          <a:p>
            <a:pPr>
              <a:lnSpc>
                <a:spcPct val="105000"/>
              </a:lnSpc>
            </a:pPr>
            <a:r>
              <a:rPr lang="gsw-FR" altLang="zh-CN" sz="1400" dirty="0">
                <a:solidFill>
                  <a:srgbClr val="D4D4D4"/>
                </a:solidFill>
                <a:latin typeface="Consolas"/>
                <a:ea typeface="微软雅黑"/>
              </a:rPr>
              <a:t>    sum += score;</a:t>
            </a:r>
          </a:p>
          <a:p>
            <a:pPr>
              <a:lnSpc>
                <a:spcPct val="105000"/>
              </a:lnSpc>
            </a:pPr>
            <a:r>
              <a:rPr lang="gsw-FR" altLang="zh-CN" sz="1400" dirty="0">
                <a:solidFill>
                  <a:srgbClr val="D4D4D4"/>
                </a:solidFill>
                <a:latin typeface="Consolas"/>
                <a:ea typeface="微软雅黑"/>
              </a:rPr>
              <a:t>    count++; }</a:t>
            </a:r>
          </a:p>
          <a:p>
            <a:pPr algn="l">
              <a:lnSpc>
                <a:spcPct val="105000"/>
              </a:lnSpc>
              <a:buNone/>
            </a:pPr>
            <a:endParaRPr sz="1250" b="0" i="0" dirty="0">
              <a:solidFill>
                <a:srgbClr val="D4D4D4"/>
              </a:solidFill>
              <a:latin typeface="Consolas"/>
              <a:ea typeface="微软雅黑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760720"/>
            <a:ext cx="11292840" cy="6400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>
              <a:buNone/>
            </a:pPr>
            <a:r>
              <a:rPr sz="1600" b="1" i="0" dirty="0">
                <a:solidFill>
                  <a:srgbClr val="FF0000"/>
                </a:solidFill>
                <a:latin typeface="微软雅黑"/>
                <a:ea typeface="微软雅黑"/>
              </a:rPr>
              <a:t>哨兵值是一个不可能作为正常数据出现的特殊值，用来告诉程序“</a:t>
            </a:r>
            <a:r>
              <a:rPr sz="1600" b="1" i="0" dirty="0" err="1">
                <a:solidFill>
                  <a:srgbClr val="FF0000"/>
                </a:solidFill>
                <a:latin typeface="微软雅黑"/>
                <a:ea typeface="微软雅黑"/>
              </a:rPr>
              <a:t>输入到此为止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”。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成绩用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-1、正整数序列用 0、字符串用 "end"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都常见。注意“先读一次，循环体最后再读一次”的结构，以及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count 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可能为</a:t>
            </a:r>
            <a:r>
              <a:rPr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 0。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217780"/>
            <a:ext cx="10332720" cy="661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7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课堂编程练习</a:t>
            </a:r>
            <a:r>
              <a:rPr sz="3700" b="0" i="0" dirty="0">
                <a:solidFill>
                  <a:srgbClr val="000000"/>
                </a:solidFill>
                <a:latin typeface="华文中宋"/>
                <a:ea typeface="华文中宋"/>
              </a:rPr>
              <a:t>：</a:t>
            </a:r>
            <a:r>
              <a:rPr lang="zh-CN" altLang="en-US" sz="3700" dirty="0">
                <a:solidFill>
                  <a:srgbClr val="000000"/>
                </a:solidFill>
                <a:latin typeface="华文中宋"/>
                <a:ea typeface="华文中宋"/>
              </a:rPr>
              <a:t>简单</a:t>
            </a:r>
            <a:r>
              <a:rPr lang="zh-CN" altLang="en-US" sz="3700" b="0" i="0" dirty="0">
                <a:solidFill>
                  <a:srgbClr val="000000"/>
                </a:solidFill>
                <a:latin typeface="华文中宋"/>
                <a:ea typeface="华文中宋"/>
              </a:rPr>
              <a:t>计算器</a:t>
            </a:r>
            <a:endParaRPr sz="37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30</a:t>
            </a:r>
          </a:p>
        </p:txBody>
      </p:sp>
      <p:sp>
        <p:nvSpPr>
          <p:cNvPr id="9" name="矩形 4">
            <a:extLst>
              <a:ext uri="{FF2B5EF4-FFF2-40B4-BE49-F238E27FC236}">
                <a16:creationId xmlns:a16="http://schemas.microsoft.com/office/drawing/2014/main" id="{87CB7D3A-0756-4A94-A2AD-17E563E1F0F0}"/>
              </a:ext>
            </a:extLst>
          </p:cNvPr>
          <p:cNvSpPr/>
          <p:nvPr/>
        </p:nvSpPr>
        <p:spPr>
          <a:xfrm>
            <a:off x="672353" y="1143001"/>
            <a:ext cx="7001435" cy="53245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Simple Calculator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Write a program which reads two integers a, b and an operator op, and then prints the value of a op b.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The operator op is '+', '-', '*' or '/' (sum, difference, product or quotient). The division should truncate any fractional part.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The input consists of multiple datasets. Each dataset is given in the following format.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a op b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The input ends with a dataset where op = '?'. Your program should not process for this dataset.</a:t>
            </a: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 ≤ a, b ≤ 20000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No divisions by zero are given.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en-US" altLang="zh-CN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For each dataset, print the value in a line.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zh-CN" altLang="en-US" sz="20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" name="矩形 5">
            <a:extLst>
              <a:ext uri="{FF2B5EF4-FFF2-40B4-BE49-F238E27FC236}">
                <a16:creationId xmlns:a16="http://schemas.microsoft.com/office/drawing/2014/main" id="{CA3C1C7A-1D20-4C13-8737-419733528845}"/>
              </a:ext>
            </a:extLst>
          </p:cNvPr>
          <p:cNvSpPr/>
          <p:nvPr/>
        </p:nvSpPr>
        <p:spPr>
          <a:xfrm>
            <a:off x="8090647" y="1537447"/>
            <a:ext cx="3429000" cy="409342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 1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+ 2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56 - 18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13 * 2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100 / 10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27 + 81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 ? 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 1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38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26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0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108</a:t>
            </a:r>
          </a:p>
        </p:txBody>
      </p:sp>
    </p:spTree>
    <p:extLst>
      <p:ext uri="{BB962C8B-B14F-4D97-AF65-F5344CB8AC3E}">
        <p14:creationId xmlns:p14="http://schemas.microsoft.com/office/powerpoint/2010/main" val="1697893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例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：猜数字（循环直到猜对）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11002"/>
            <a:ext cx="6949440" cy="4944077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cstdlib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ctime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using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namespace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std;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srand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(time(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));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number = rand() %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101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</a:t>
            </a:r>
            <a:r>
              <a:rPr kumimoji="0" sz="125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lang="zh-CN" altLang="en-US" sz="125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生成 </a:t>
            </a:r>
            <a:r>
              <a:rPr kumimoji="0" sz="125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0~100 </a:t>
            </a:r>
            <a:r>
              <a:rPr kumimoji="0" sz="125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的随机数</a:t>
            </a:r>
            <a:endParaRPr kumimoji="0" sz="125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我想了一个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0~100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的数，猜猜是多少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guess = -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           </a:t>
            </a:r>
            <a:r>
              <a:rPr kumimoji="0" sz="125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25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初始化为不可能猜对的值</a:t>
            </a:r>
            <a:endParaRPr kumimoji="0" sz="125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(guess != number)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输入你的猜测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: "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guess;</a:t>
            </a: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//</a:t>
            </a:r>
            <a:r>
              <a:rPr kumimoji="0" lang="zh-CN" alt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或者 </a:t>
            </a: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guess ++</a:t>
            </a:r>
            <a:r>
              <a:rPr lang="en-US" altLang="zh-CN" sz="125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if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(guess == number)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对了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！"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else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if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(guess &gt; number)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太大了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else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太小了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return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825" y="1386840"/>
            <a:ext cx="4474020" cy="47062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循环次数</a:t>
            </a: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事先不知道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——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取决于用户什么时候猜对，这正是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的用武之地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guess = -1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：初始化成一个一定不等于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number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的值，保证循环至少进一次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循环体里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guess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就是“更新</a:t>
            </a:r>
            <a:r>
              <a:rPr kumimoji="0" sz="17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”——</a:t>
            </a:r>
            <a:r>
              <a:rPr kumimoji="0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每次迭代都可能改变条件</a:t>
            </a:r>
            <a:endParaRPr kumimoji="0" sz="17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对比分支语句</a:t>
            </a:r>
            <a:endParaRPr kumimoji="0" lang="zh-CN" altLang="en-US" sz="17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分支只能判断一次；套上循环就能反复猜</a:t>
            </a:r>
          </a:p>
          <a:p>
            <a:pPr marL="7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分支决定“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做哪件事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”，循环决定“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做多少遍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”，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两者组合出所有程序逻辑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二分策略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4E1F18-DA59-405C-8FB5-63045628AF70}"/>
              </a:ext>
            </a:extLst>
          </p:cNvPr>
          <p:cNvSpPr txBox="1"/>
          <p:nvPr/>
        </p:nvSpPr>
        <p:spPr>
          <a:xfrm>
            <a:off x="457200" y="969749"/>
            <a:ext cx="6847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随机生成一个</a:t>
            </a:r>
            <a:r>
              <a:rPr lang="en-US" altLang="zh-CN" dirty="0"/>
              <a:t>0~100</a:t>
            </a:r>
            <a:r>
              <a:rPr lang="zh-CN" altLang="en-US" dirty="0"/>
              <a:t>的数，写程序猜出这个数是多少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例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：猜数字（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二分策略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5510" y="1107806"/>
            <a:ext cx="5991092" cy="7490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7150" marR="0" lvl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二分策略</a:t>
            </a:r>
            <a:r>
              <a:rPr lang="zh-CN" altLang="en-US" dirty="0">
                <a:solidFill>
                  <a:srgbClr val="C00000"/>
                </a:solidFill>
                <a:latin typeface="微软雅黑"/>
                <a:ea typeface="微软雅黑"/>
              </a:rPr>
              <a:t>：每次猜</a:t>
            </a:r>
            <a:r>
              <a:rPr lang="zh-CN" altLang="en-US" b="1" dirty="0">
                <a:solidFill>
                  <a:srgbClr val="C00000"/>
                </a:solidFill>
                <a:latin typeface="微软雅黑"/>
                <a:ea typeface="微软雅黑"/>
              </a:rPr>
              <a:t>当前范围中间的那个数</a:t>
            </a:r>
            <a:endParaRPr lang="en-US" altLang="zh-CN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AutoShape 20">
            <a:extLst>
              <a:ext uri="{FF2B5EF4-FFF2-40B4-BE49-F238E27FC236}">
                <a16:creationId xmlns:a16="http://schemas.microsoft.com/office/drawing/2014/main" id="{AE4EEF9B-86B9-4F76-90D2-2AF42A338015}"/>
              </a:ext>
            </a:extLst>
          </p:cNvPr>
          <p:cNvSpPr txBox="1"/>
          <p:nvPr/>
        </p:nvSpPr>
        <p:spPr>
          <a:xfrm>
            <a:off x="4760133" y="2145294"/>
            <a:ext cx="304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r>
              <a:rPr lang="en-US" sz="13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3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需要猜的是</a:t>
            </a:r>
            <a:r>
              <a:rPr lang="en-US" sz="13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 73</a:t>
            </a:r>
            <a:endParaRPr lang="en-US" sz="1100" dirty="0"/>
          </a:p>
        </p:txBody>
      </p:sp>
      <p:sp>
        <p:nvSpPr>
          <p:cNvPr id="10" name="AutoShape 21">
            <a:extLst>
              <a:ext uri="{FF2B5EF4-FFF2-40B4-BE49-F238E27FC236}">
                <a16:creationId xmlns:a16="http://schemas.microsoft.com/office/drawing/2014/main" id="{504FE728-8739-4A0F-945C-5211CC13EF22}"/>
              </a:ext>
            </a:extLst>
          </p:cNvPr>
          <p:cNvSpPr/>
          <p:nvPr/>
        </p:nvSpPr>
        <p:spPr>
          <a:xfrm>
            <a:off x="7681133" y="2170694"/>
            <a:ext cx="152400" cy="127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1" name="AutoShape 22">
            <a:extLst>
              <a:ext uri="{FF2B5EF4-FFF2-40B4-BE49-F238E27FC236}">
                <a16:creationId xmlns:a16="http://schemas.microsoft.com/office/drawing/2014/main" id="{C59EAC52-1B70-4C87-AA86-2863E5AE370A}"/>
              </a:ext>
            </a:extLst>
          </p:cNvPr>
          <p:cNvSpPr txBox="1"/>
          <p:nvPr/>
        </p:nvSpPr>
        <p:spPr>
          <a:xfrm>
            <a:off x="7884333" y="2119894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候选范围</a:t>
            </a:r>
            <a:endParaRPr lang="en-US" sz="1100"/>
          </a:p>
        </p:txBody>
      </p:sp>
      <p:sp>
        <p:nvSpPr>
          <p:cNvPr id="12" name="AutoShape 23">
            <a:extLst>
              <a:ext uri="{FF2B5EF4-FFF2-40B4-BE49-F238E27FC236}">
                <a16:creationId xmlns:a16="http://schemas.microsoft.com/office/drawing/2014/main" id="{F36DC802-4EAF-43C9-8626-5D311C61F2F0}"/>
              </a:ext>
            </a:extLst>
          </p:cNvPr>
          <p:cNvSpPr/>
          <p:nvPr/>
        </p:nvSpPr>
        <p:spPr>
          <a:xfrm>
            <a:off x="8697133" y="2170694"/>
            <a:ext cx="152400" cy="1270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3" name="AutoShape 24">
            <a:extLst>
              <a:ext uri="{FF2B5EF4-FFF2-40B4-BE49-F238E27FC236}">
                <a16:creationId xmlns:a16="http://schemas.microsoft.com/office/drawing/2014/main" id="{64CD26D6-833B-4C1B-B0C0-6B88B7AA4359}"/>
              </a:ext>
            </a:extLst>
          </p:cNvPr>
          <p:cNvSpPr txBox="1"/>
          <p:nvPr/>
        </p:nvSpPr>
        <p:spPr>
          <a:xfrm>
            <a:off x="8900333" y="2119894"/>
            <a:ext cx="762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已排除</a:t>
            </a:r>
            <a:endParaRPr lang="en-US" sz="1100"/>
          </a:p>
        </p:txBody>
      </p:sp>
      <p:sp>
        <p:nvSpPr>
          <p:cNvPr id="14" name="AutoShape 25">
            <a:extLst>
              <a:ext uri="{FF2B5EF4-FFF2-40B4-BE49-F238E27FC236}">
                <a16:creationId xmlns:a16="http://schemas.microsoft.com/office/drawing/2014/main" id="{B93771E1-518D-4B14-8A45-96A1769888E4}"/>
              </a:ext>
            </a:extLst>
          </p:cNvPr>
          <p:cNvSpPr/>
          <p:nvPr/>
        </p:nvSpPr>
        <p:spPr>
          <a:xfrm>
            <a:off x="9713133" y="2170694"/>
            <a:ext cx="152400" cy="1270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5" name="AutoShape 26">
            <a:extLst>
              <a:ext uri="{FF2B5EF4-FFF2-40B4-BE49-F238E27FC236}">
                <a16:creationId xmlns:a16="http://schemas.microsoft.com/office/drawing/2014/main" id="{64004308-5B74-4304-BB2C-8A2140CDE077}"/>
              </a:ext>
            </a:extLst>
          </p:cNvPr>
          <p:cNvSpPr txBox="1"/>
          <p:nvPr/>
        </p:nvSpPr>
        <p:spPr>
          <a:xfrm>
            <a:off x="9916333" y="2119894"/>
            <a:ext cx="1016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猜中的数字</a:t>
            </a:r>
            <a:endParaRPr lang="en-US" sz="1100"/>
          </a:p>
        </p:txBody>
      </p:sp>
      <p:sp>
        <p:nvSpPr>
          <p:cNvPr id="16" name="AutoShape 27">
            <a:extLst>
              <a:ext uri="{FF2B5EF4-FFF2-40B4-BE49-F238E27FC236}">
                <a16:creationId xmlns:a16="http://schemas.microsoft.com/office/drawing/2014/main" id="{C41B1B67-41B2-4F0B-B2CD-DBD3C402F235}"/>
              </a:ext>
            </a:extLst>
          </p:cNvPr>
          <p:cNvSpPr/>
          <p:nvPr/>
        </p:nvSpPr>
        <p:spPr>
          <a:xfrm>
            <a:off x="4760133" y="2577094"/>
            <a:ext cx="5207000" cy="2286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7" name="AutoShape 28">
            <a:extLst>
              <a:ext uri="{FF2B5EF4-FFF2-40B4-BE49-F238E27FC236}">
                <a16:creationId xmlns:a16="http://schemas.microsoft.com/office/drawing/2014/main" id="{B72E9BA9-B749-4C25-90DA-CB41F7AFFB4F}"/>
              </a:ext>
            </a:extLst>
          </p:cNvPr>
          <p:cNvSpPr/>
          <p:nvPr/>
        </p:nvSpPr>
        <p:spPr>
          <a:xfrm>
            <a:off x="4760133" y="2577094"/>
            <a:ext cx="5207000" cy="228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18" name="AutoShape 29">
            <a:extLst>
              <a:ext uri="{FF2B5EF4-FFF2-40B4-BE49-F238E27FC236}">
                <a16:creationId xmlns:a16="http://schemas.microsoft.com/office/drawing/2014/main" id="{0BEC5998-EEB6-43B0-B1CA-848DF0CCB417}"/>
              </a:ext>
            </a:extLst>
          </p:cNvPr>
          <p:cNvSpPr txBox="1"/>
          <p:nvPr/>
        </p:nvSpPr>
        <p:spPr>
          <a:xfrm>
            <a:off x="7389033" y="2577094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50</a:t>
            </a:r>
            <a:endParaRPr lang="en-US" sz="1100"/>
          </a:p>
        </p:txBody>
      </p:sp>
      <p:sp>
        <p:nvSpPr>
          <p:cNvPr id="19" name="AutoShape 30">
            <a:extLst>
              <a:ext uri="{FF2B5EF4-FFF2-40B4-BE49-F238E27FC236}">
                <a16:creationId xmlns:a16="http://schemas.microsoft.com/office/drawing/2014/main" id="{DB30FDD6-5204-4A90-B60D-DD27E72C0B7C}"/>
              </a:ext>
            </a:extLst>
          </p:cNvPr>
          <p:cNvSpPr txBox="1"/>
          <p:nvPr/>
        </p:nvSpPr>
        <p:spPr>
          <a:xfrm>
            <a:off x="10119533" y="2577094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① 猜 50 · 猜小了</a:t>
            </a:r>
            <a:endParaRPr lang="en-US" sz="1100"/>
          </a:p>
        </p:txBody>
      </p:sp>
      <p:sp>
        <p:nvSpPr>
          <p:cNvPr id="20" name="AutoShape 31">
            <a:extLst>
              <a:ext uri="{FF2B5EF4-FFF2-40B4-BE49-F238E27FC236}">
                <a16:creationId xmlns:a16="http://schemas.microsoft.com/office/drawing/2014/main" id="{D392613B-35C0-4D6E-A051-611B5D9FCD8E}"/>
              </a:ext>
            </a:extLst>
          </p:cNvPr>
          <p:cNvSpPr/>
          <p:nvPr/>
        </p:nvSpPr>
        <p:spPr>
          <a:xfrm>
            <a:off x="4760133" y="2983494"/>
            <a:ext cx="5207000" cy="2286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21" name="AutoShape 32">
            <a:extLst>
              <a:ext uri="{FF2B5EF4-FFF2-40B4-BE49-F238E27FC236}">
                <a16:creationId xmlns:a16="http://schemas.microsoft.com/office/drawing/2014/main" id="{004035C8-EDF5-4F2E-93CB-DBF5881447F3}"/>
              </a:ext>
            </a:extLst>
          </p:cNvPr>
          <p:cNvSpPr/>
          <p:nvPr/>
        </p:nvSpPr>
        <p:spPr>
          <a:xfrm>
            <a:off x="7389033" y="2983494"/>
            <a:ext cx="2578100" cy="228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22" name="AutoShape 33">
            <a:extLst>
              <a:ext uri="{FF2B5EF4-FFF2-40B4-BE49-F238E27FC236}">
                <a16:creationId xmlns:a16="http://schemas.microsoft.com/office/drawing/2014/main" id="{C0AA4810-586A-4912-A01D-11A99F1C4CCD}"/>
              </a:ext>
            </a:extLst>
          </p:cNvPr>
          <p:cNvSpPr txBox="1"/>
          <p:nvPr/>
        </p:nvSpPr>
        <p:spPr>
          <a:xfrm>
            <a:off x="8747933" y="2983494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75</a:t>
            </a:r>
            <a:endParaRPr lang="en-US" sz="1100"/>
          </a:p>
        </p:txBody>
      </p:sp>
      <p:sp>
        <p:nvSpPr>
          <p:cNvPr id="23" name="AutoShape 34">
            <a:extLst>
              <a:ext uri="{FF2B5EF4-FFF2-40B4-BE49-F238E27FC236}">
                <a16:creationId xmlns:a16="http://schemas.microsoft.com/office/drawing/2014/main" id="{3E0C874E-80EF-4DA4-9E0A-6DDF10CC32A3}"/>
              </a:ext>
            </a:extLst>
          </p:cNvPr>
          <p:cNvSpPr txBox="1"/>
          <p:nvPr/>
        </p:nvSpPr>
        <p:spPr>
          <a:xfrm>
            <a:off x="10119533" y="2983494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② 猜 75 · 猜大了</a:t>
            </a:r>
            <a:endParaRPr lang="en-US" sz="1100"/>
          </a:p>
        </p:txBody>
      </p:sp>
      <p:sp>
        <p:nvSpPr>
          <p:cNvPr id="24" name="AutoShape 35">
            <a:extLst>
              <a:ext uri="{FF2B5EF4-FFF2-40B4-BE49-F238E27FC236}">
                <a16:creationId xmlns:a16="http://schemas.microsoft.com/office/drawing/2014/main" id="{BAF4EDD0-C2E7-4E0B-9902-6FD0F3EE2B11}"/>
              </a:ext>
            </a:extLst>
          </p:cNvPr>
          <p:cNvSpPr/>
          <p:nvPr/>
        </p:nvSpPr>
        <p:spPr>
          <a:xfrm>
            <a:off x="4760133" y="3389894"/>
            <a:ext cx="5207000" cy="2286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25" name="AutoShape 36">
            <a:extLst>
              <a:ext uri="{FF2B5EF4-FFF2-40B4-BE49-F238E27FC236}">
                <a16:creationId xmlns:a16="http://schemas.microsoft.com/office/drawing/2014/main" id="{324B9E96-B2FC-4063-8B8F-470F2B5D3076}"/>
              </a:ext>
            </a:extLst>
          </p:cNvPr>
          <p:cNvSpPr/>
          <p:nvPr/>
        </p:nvSpPr>
        <p:spPr>
          <a:xfrm>
            <a:off x="7389033" y="3389894"/>
            <a:ext cx="1206500" cy="228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26" name="AutoShape 37">
            <a:extLst>
              <a:ext uri="{FF2B5EF4-FFF2-40B4-BE49-F238E27FC236}">
                <a16:creationId xmlns:a16="http://schemas.microsoft.com/office/drawing/2014/main" id="{3CD5027C-8B21-4470-BA6F-D2898F61B97C}"/>
              </a:ext>
            </a:extLst>
          </p:cNvPr>
          <p:cNvSpPr txBox="1"/>
          <p:nvPr/>
        </p:nvSpPr>
        <p:spPr>
          <a:xfrm>
            <a:off x="8062133" y="3389894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62</a:t>
            </a:r>
            <a:endParaRPr lang="en-US" sz="1100"/>
          </a:p>
        </p:txBody>
      </p:sp>
      <p:sp>
        <p:nvSpPr>
          <p:cNvPr id="27" name="AutoShape 38">
            <a:extLst>
              <a:ext uri="{FF2B5EF4-FFF2-40B4-BE49-F238E27FC236}">
                <a16:creationId xmlns:a16="http://schemas.microsoft.com/office/drawing/2014/main" id="{A1A64F66-7B7E-4509-9EF4-EE2E0F02F192}"/>
              </a:ext>
            </a:extLst>
          </p:cNvPr>
          <p:cNvSpPr txBox="1"/>
          <p:nvPr/>
        </p:nvSpPr>
        <p:spPr>
          <a:xfrm>
            <a:off x="10119533" y="3389894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③ 猜 62 · 猜小了</a:t>
            </a:r>
            <a:endParaRPr lang="en-US" sz="1100"/>
          </a:p>
        </p:txBody>
      </p:sp>
      <p:sp>
        <p:nvSpPr>
          <p:cNvPr id="28" name="AutoShape 39">
            <a:extLst>
              <a:ext uri="{FF2B5EF4-FFF2-40B4-BE49-F238E27FC236}">
                <a16:creationId xmlns:a16="http://schemas.microsoft.com/office/drawing/2014/main" id="{64C8B385-0BEA-4D02-9574-150D7ACE9A69}"/>
              </a:ext>
            </a:extLst>
          </p:cNvPr>
          <p:cNvSpPr/>
          <p:nvPr/>
        </p:nvSpPr>
        <p:spPr>
          <a:xfrm>
            <a:off x="4760133" y="3796294"/>
            <a:ext cx="5207000" cy="2286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29" name="AutoShape 40">
            <a:extLst>
              <a:ext uri="{FF2B5EF4-FFF2-40B4-BE49-F238E27FC236}">
                <a16:creationId xmlns:a16="http://schemas.microsoft.com/office/drawing/2014/main" id="{0B5A2A2A-1010-4B1E-8B51-02BD04BFD23C}"/>
              </a:ext>
            </a:extLst>
          </p:cNvPr>
          <p:cNvSpPr/>
          <p:nvPr/>
        </p:nvSpPr>
        <p:spPr>
          <a:xfrm>
            <a:off x="8024033" y="3796294"/>
            <a:ext cx="571500" cy="228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0" name="AutoShape 41">
            <a:extLst>
              <a:ext uri="{FF2B5EF4-FFF2-40B4-BE49-F238E27FC236}">
                <a16:creationId xmlns:a16="http://schemas.microsoft.com/office/drawing/2014/main" id="{C4BB5EAC-07AB-4269-8262-C235C0997AED}"/>
              </a:ext>
            </a:extLst>
          </p:cNvPr>
          <p:cNvSpPr txBox="1"/>
          <p:nvPr/>
        </p:nvSpPr>
        <p:spPr>
          <a:xfrm>
            <a:off x="8214533" y="3796294"/>
            <a:ext cx="2286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68</a:t>
            </a:r>
            <a:endParaRPr lang="en-US" sz="1100"/>
          </a:p>
        </p:txBody>
      </p:sp>
      <p:sp>
        <p:nvSpPr>
          <p:cNvPr id="31" name="AutoShape 42">
            <a:extLst>
              <a:ext uri="{FF2B5EF4-FFF2-40B4-BE49-F238E27FC236}">
                <a16:creationId xmlns:a16="http://schemas.microsoft.com/office/drawing/2014/main" id="{4E7CF079-F4B7-4E6E-B859-9AC5CE8FE882}"/>
              </a:ext>
            </a:extLst>
          </p:cNvPr>
          <p:cNvSpPr txBox="1"/>
          <p:nvPr/>
        </p:nvSpPr>
        <p:spPr>
          <a:xfrm>
            <a:off x="10119533" y="3796294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④ 猜 68 · 猜小了</a:t>
            </a:r>
            <a:endParaRPr lang="en-US" sz="1100"/>
          </a:p>
        </p:txBody>
      </p:sp>
      <p:sp>
        <p:nvSpPr>
          <p:cNvPr id="32" name="AutoShape 43">
            <a:extLst>
              <a:ext uri="{FF2B5EF4-FFF2-40B4-BE49-F238E27FC236}">
                <a16:creationId xmlns:a16="http://schemas.microsoft.com/office/drawing/2014/main" id="{31CC9A63-4DF6-4400-89FD-D344C01BB747}"/>
              </a:ext>
            </a:extLst>
          </p:cNvPr>
          <p:cNvSpPr/>
          <p:nvPr/>
        </p:nvSpPr>
        <p:spPr>
          <a:xfrm>
            <a:off x="4760133" y="4202694"/>
            <a:ext cx="5207000" cy="2286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3" name="AutoShape 44">
            <a:extLst>
              <a:ext uri="{FF2B5EF4-FFF2-40B4-BE49-F238E27FC236}">
                <a16:creationId xmlns:a16="http://schemas.microsoft.com/office/drawing/2014/main" id="{27C58959-F1EA-4AD4-8CFB-42B5C942B39E}"/>
              </a:ext>
            </a:extLst>
          </p:cNvPr>
          <p:cNvSpPr/>
          <p:nvPr/>
        </p:nvSpPr>
        <p:spPr>
          <a:xfrm>
            <a:off x="8341533" y="4202694"/>
            <a:ext cx="254000" cy="2286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4" name="AutoShape 45">
            <a:extLst>
              <a:ext uri="{FF2B5EF4-FFF2-40B4-BE49-F238E27FC236}">
                <a16:creationId xmlns:a16="http://schemas.microsoft.com/office/drawing/2014/main" id="{24DD0F8B-CAC8-4C33-BDF8-1ECDFBC4CABA}"/>
              </a:ext>
            </a:extLst>
          </p:cNvPr>
          <p:cNvSpPr txBox="1"/>
          <p:nvPr/>
        </p:nvSpPr>
        <p:spPr>
          <a:xfrm>
            <a:off x="8646333" y="4202694"/>
            <a:ext cx="25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71</a:t>
            </a:r>
            <a:endParaRPr lang="en-US" sz="1100"/>
          </a:p>
        </p:txBody>
      </p:sp>
      <p:sp>
        <p:nvSpPr>
          <p:cNvPr id="35" name="AutoShape 46">
            <a:extLst>
              <a:ext uri="{FF2B5EF4-FFF2-40B4-BE49-F238E27FC236}">
                <a16:creationId xmlns:a16="http://schemas.microsoft.com/office/drawing/2014/main" id="{9514F196-49E8-4C48-AD5C-BF1070D87CDB}"/>
              </a:ext>
            </a:extLst>
          </p:cNvPr>
          <p:cNvSpPr txBox="1"/>
          <p:nvPr/>
        </p:nvSpPr>
        <p:spPr>
          <a:xfrm>
            <a:off x="10119533" y="4202694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⑤ 猜 71 · 猜小了</a:t>
            </a:r>
            <a:endParaRPr lang="en-US" sz="1100"/>
          </a:p>
        </p:txBody>
      </p:sp>
      <p:sp>
        <p:nvSpPr>
          <p:cNvPr id="36" name="AutoShape 47">
            <a:extLst>
              <a:ext uri="{FF2B5EF4-FFF2-40B4-BE49-F238E27FC236}">
                <a16:creationId xmlns:a16="http://schemas.microsoft.com/office/drawing/2014/main" id="{6F2CA10B-95F8-4DE2-A7C5-F0477DEECA25}"/>
              </a:ext>
            </a:extLst>
          </p:cNvPr>
          <p:cNvSpPr/>
          <p:nvPr/>
        </p:nvSpPr>
        <p:spPr>
          <a:xfrm>
            <a:off x="4760133" y="4609094"/>
            <a:ext cx="5207000" cy="228600"/>
          </a:xfrm>
          <a:prstGeom prst="roundRect">
            <a:avLst>
              <a:gd name="adj" fmla="val 0"/>
            </a:avLst>
          </a:prstGeom>
          <a:solidFill>
            <a:srgbClr val="E5E7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7" name="AutoShape 48">
            <a:extLst>
              <a:ext uri="{FF2B5EF4-FFF2-40B4-BE49-F238E27FC236}">
                <a16:creationId xmlns:a16="http://schemas.microsoft.com/office/drawing/2014/main" id="{DE5780A4-40B6-41D8-BE16-B86A48F586B2}"/>
              </a:ext>
            </a:extLst>
          </p:cNvPr>
          <p:cNvSpPr/>
          <p:nvPr/>
        </p:nvSpPr>
        <p:spPr>
          <a:xfrm>
            <a:off x="8493933" y="4609094"/>
            <a:ext cx="203200" cy="228600"/>
          </a:xfrm>
          <a:prstGeom prst="roundRect">
            <a:avLst>
              <a:gd name="adj" fmla="val 0"/>
            </a:avLst>
          </a:prstGeom>
          <a:solidFill>
            <a:srgbClr val="16A34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/>
          </a:p>
        </p:txBody>
      </p:sp>
      <p:sp>
        <p:nvSpPr>
          <p:cNvPr id="38" name="AutoShape 49">
            <a:extLst>
              <a:ext uri="{FF2B5EF4-FFF2-40B4-BE49-F238E27FC236}">
                <a16:creationId xmlns:a16="http://schemas.microsoft.com/office/drawing/2014/main" id="{981228B3-092D-4797-80D8-52C666A4B8B2}"/>
              </a:ext>
            </a:extLst>
          </p:cNvPr>
          <p:cNvSpPr txBox="1"/>
          <p:nvPr/>
        </p:nvSpPr>
        <p:spPr>
          <a:xfrm>
            <a:off x="8747933" y="4609094"/>
            <a:ext cx="3048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0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73</a:t>
            </a:r>
            <a:endParaRPr lang="en-US" sz="1100"/>
          </a:p>
        </p:txBody>
      </p:sp>
      <p:sp>
        <p:nvSpPr>
          <p:cNvPr id="39" name="AutoShape 50">
            <a:extLst>
              <a:ext uri="{FF2B5EF4-FFF2-40B4-BE49-F238E27FC236}">
                <a16:creationId xmlns:a16="http://schemas.microsoft.com/office/drawing/2014/main" id="{240D424B-B2EF-4113-8AC6-2F5463EF458F}"/>
              </a:ext>
            </a:extLst>
          </p:cNvPr>
          <p:cNvSpPr txBox="1"/>
          <p:nvPr/>
        </p:nvSpPr>
        <p:spPr>
          <a:xfrm>
            <a:off x="10119533" y="4609094"/>
            <a:ext cx="1524000" cy="228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100" b="1" i="0" u="none" strike="noStrike">
                <a:solidFill>
                  <a:srgbClr val="16A34A"/>
                </a:solidFill>
                <a:latin typeface="Noto Sans SC"/>
                <a:ea typeface="Noto Sans SC"/>
                <a:cs typeface="Noto Sans SC"/>
                <a:sym typeface="Noto Sans SC"/>
              </a:rPr>
              <a:t>⑥ 猜 73 · 猜对了</a:t>
            </a:r>
            <a:endParaRPr lang="en-US" sz="1100"/>
          </a:p>
        </p:txBody>
      </p:sp>
      <p:sp>
        <p:nvSpPr>
          <p:cNvPr id="40" name="AutoShape 51">
            <a:extLst>
              <a:ext uri="{FF2B5EF4-FFF2-40B4-BE49-F238E27FC236}">
                <a16:creationId xmlns:a16="http://schemas.microsoft.com/office/drawing/2014/main" id="{ED9C6939-2BE0-4590-8D91-6E1C7B6A3BC2}"/>
              </a:ext>
            </a:extLst>
          </p:cNvPr>
          <p:cNvSpPr txBox="1"/>
          <p:nvPr/>
        </p:nvSpPr>
        <p:spPr>
          <a:xfrm>
            <a:off x="4709333" y="4888494"/>
            <a:ext cx="381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100"/>
          </a:p>
        </p:txBody>
      </p:sp>
      <p:sp>
        <p:nvSpPr>
          <p:cNvPr id="41" name="AutoShape 52">
            <a:extLst>
              <a:ext uri="{FF2B5EF4-FFF2-40B4-BE49-F238E27FC236}">
                <a16:creationId xmlns:a16="http://schemas.microsoft.com/office/drawing/2014/main" id="{16B6FF0C-8EBC-4BC2-84E3-0D76C8F2E907}"/>
              </a:ext>
            </a:extLst>
          </p:cNvPr>
          <p:cNvSpPr txBox="1"/>
          <p:nvPr/>
        </p:nvSpPr>
        <p:spPr>
          <a:xfrm>
            <a:off x="9586133" y="4888494"/>
            <a:ext cx="381000" cy="203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r">
              <a:lnSpc>
                <a:spcPct val="125000"/>
              </a:lnSpc>
              <a:defRPr/>
            </a:pPr>
            <a:r>
              <a:rPr lang="en-US" sz="9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100</a:t>
            </a:r>
            <a:endParaRPr lang="en-US" sz="1100"/>
          </a:p>
        </p:txBody>
      </p:sp>
      <p:sp>
        <p:nvSpPr>
          <p:cNvPr id="42" name="AutoShape 6">
            <a:extLst>
              <a:ext uri="{FF2B5EF4-FFF2-40B4-BE49-F238E27FC236}">
                <a16:creationId xmlns:a16="http://schemas.microsoft.com/office/drawing/2014/main" id="{CADCA681-22AD-4348-A9E3-DFE734913353}"/>
              </a:ext>
            </a:extLst>
          </p:cNvPr>
          <p:cNvSpPr txBox="1"/>
          <p:nvPr/>
        </p:nvSpPr>
        <p:spPr>
          <a:xfrm>
            <a:off x="604982" y="1787422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① </a:t>
            </a:r>
            <a:r>
              <a:rPr lang="en-US" sz="1600" b="1" i="0" u="none" strike="noStrike" dirty="0" err="1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问题情境</a:t>
            </a:r>
            <a:endParaRPr lang="en-US" dirty="0"/>
          </a:p>
        </p:txBody>
      </p:sp>
      <p:sp>
        <p:nvSpPr>
          <p:cNvPr id="43" name="AutoShape 7">
            <a:extLst>
              <a:ext uri="{FF2B5EF4-FFF2-40B4-BE49-F238E27FC236}">
                <a16:creationId xmlns:a16="http://schemas.microsoft.com/office/drawing/2014/main" id="{640DA649-FBF7-4771-A151-3EB34F242E47}"/>
              </a:ext>
            </a:extLst>
          </p:cNvPr>
          <p:cNvSpPr txBox="1"/>
          <p:nvPr/>
        </p:nvSpPr>
        <p:spPr>
          <a:xfrm>
            <a:off x="604982" y="2067698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zh-CN" altLang="en-US" sz="1600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每次猜一个数，</a:t>
            </a:r>
            <a:r>
              <a:rPr lang="en-US" sz="16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反馈三种结果</a:t>
            </a:r>
            <a:r>
              <a:rPr lang="en-US" sz="16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</p:txBody>
      </p:sp>
      <p:sp>
        <p:nvSpPr>
          <p:cNvPr id="44" name="AutoShape 8">
            <a:extLst>
              <a:ext uri="{FF2B5EF4-FFF2-40B4-BE49-F238E27FC236}">
                <a16:creationId xmlns:a16="http://schemas.microsoft.com/office/drawing/2014/main" id="{8F2D7F0D-9B1D-45FA-8EDD-C687392A9D22}"/>
              </a:ext>
            </a:extLst>
          </p:cNvPr>
          <p:cNvSpPr/>
          <p:nvPr/>
        </p:nvSpPr>
        <p:spPr>
          <a:xfrm>
            <a:off x="604982" y="2612382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 sz="1800"/>
          </a:p>
        </p:txBody>
      </p:sp>
      <p:sp>
        <p:nvSpPr>
          <p:cNvPr id="45" name="AutoShape 9">
            <a:extLst>
              <a:ext uri="{FF2B5EF4-FFF2-40B4-BE49-F238E27FC236}">
                <a16:creationId xmlns:a16="http://schemas.microsoft.com/office/drawing/2014/main" id="{944B8B0E-F4C2-40EA-BADA-2F9ABBE5D4B7}"/>
              </a:ext>
            </a:extLst>
          </p:cNvPr>
          <p:cNvSpPr txBox="1"/>
          <p:nvPr/>
        </p:nvSpPr>
        <p:spPr>
          <a:xfrm>
            <a:off x="604982" y="2612382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猜对了</a:t>
            </a:r>
            <a:endParaRPr lang="en-US"/>
          </a:p>
        </p:txBody>
      </p:sp>
      <p:sp>
        <p:nvSpPr>
          <p:cNvPr id="46" name="AutoShape 10">
            <a:extLst>
              <a:ext uri="{FF2B5EF4-FFF2-40B4-BE49-F238E27FC236}">
                <a16:creationId xmlns:a16="http://schemas.microsoft.com/office/drawing/2014/main" id="{A770632E-0933-4B44-9803-491372ECF8A5}"/>
              </a:ext>
            </a:extLst>
          </p:cNvPr>
          <p:cNvSpPr/>
          <p:nvPr/>
        </p:nvSpPr>
        <p:spPr>
          <a:xfrm>
            <a:off x="1747982" y="2612382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EF4444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 sz="1800"/>
          </a:p>
        </p:txBody>
      </p:sp>
      <p:sp>
        <p:nvSpPr>
          <p:cNvPr id="47" name="AutoShape 11">
            <a:extLst>
              <a:ext uri="{FF2B5EF4-FFF2-40B4-BE49-F238E27FC236}">
                <a16:creationId xmlns:a16="http://schemas.microsoft.com/office/drawing/2014/main" id="{52AE0AFE-F64D-475B-8E42-8F688E166A9E}"/>
              </a:ext>
            </a:extLst>
          </p:cNvPr>
          <p:cNvSpPr txBox="1"/>
          <p:nvPr/>
        </p:nvSpPr>
        <p:spPr>
          <a:xfrm>
            <a:off x="1747982" y="2612382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猜大了</a:t>
            </a:r>
            <a:endParaRPr lang="en-US"/>
          </a:p>
        </p:txBody>
      </p:sp>
      <p:sp>
        <p:nvSpPr>
          <p:cNvPr id="48" name="AutoShape 12">
            <a:extLst>
              <a:ext uri="{FF2B5EF4-FFF2-40B4-BE49-F238E27FC236}">
                <a16:creationId xmlns:a16="http://schemas.microsoft.com/office/drawing/2014/main" id="{9FAB92AA-8CD7-4C87-A8CD-D155E8BD3230}"/>
              </a:ext>
            </a:extLst>
          </p:cNvPr>
          <p:cNvSpPr/>
          <p:nvPr/>
        </p:nvSpPr>
        <p:spPr>
          <a:xfrm>
            <a:off x="2890982" y="2612382"/>
            <a:ext cx="1016000" cy="304800"/>
          </a:xfrm>
          <a:prstGeom prst="roundRect">
            <a:avLst>
              <a:gd name="adj" fmla="val 50000"/>
            </a:avLst>
          </a:prstGeom>
          <a:solidFill>
            <a:srgbClr val="F59E0B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defRPr/>
            </a:pPr>
            <a:endParaRPr sz="1800"/>
          </a:p>
        </p:txBody>
      </p:sp>
      <p:sp>
        <p:nvSpPr>
          <p:cNvPr id="49" name="AutoShape 13">
            <a:extLst>
              <a:ext uri="{FF2B5EF4-FFF2-40B4-BE49-F238E27FC236}">
                <a16:creationId xmlns:a16="http://schemas.microsoft.com/office/drawing/2014/main" id="{3BBC1497-6DC1-4F73-B2EB-54E6D6D32A0C}"/>
              </a:ext>
            </a:extLst>
          </p:cNvPr>
          <p:cNvSpPr txBox="1"/>
          <p:nvPr/>
        </p:nvSpPr>
        <p:spPr>
          <a:xfrm>
            <a:off x="2890982" y="2612382"/>
            <a:ext cx="101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猜小了</a:t>
            </a:r>
            <a:endParaRPr lang="en-US"/>
          </a:p>
        </p:txBody>
      </p:sp>
      <p:sp>
        <p:nvSpPr>
          <p:cNvPr id="50" name="AutoShape 14">
            <a:extLst>
              <a:ext uri="{FF2B5EF4-FFF2-40B4-BE49-F238E27FC236}">
                <a16:creationId xmlns:a16="http://schemas.microsoft.com/office/drawing/2014/main" id="{42D6BFAE-9F55-42D4-94A4-D358F9DFA427}"/>
              </a:ext>
            </a:extLst>
          </p:cNvPr>
          <p:cNvSpPr txBox="1"/>
          <p:nvPr/>
        </p:nvSpPr>
        <p:spPr>
          <a:xfrm>
            <a:off x="604982" y="3171182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② 维护一个候选范围</a:t>
            </a:r>
            <a:endParaRPr lang="en-US"/>
          </a:p>
        </p:txBody>
      </p:sp>
      <p:sp>
        <p:nvSpPr>
          <p:cNvPr id="52" name="AutoShape 16">
            <a:extLst>
              <a:ext uri="{FF2B5EF4-FFF2-40B4-BE49-F238E27FC236}">
                <a16:creationId xmlns:a16="http://schemas.microsoft.com/office/drawing/2014/main" id="{E255DA8B-E43F-4DEE-BDE0-DA89797381A2}"/>
              </a:ext>
            </a:extLst>
          </p:cNvPr>
          <p:cNvSpPr txBox="1"/>
          <p:nvPr/>
        </p:nvSpPr>
        <p:spPr>
          <a:xfrm>
            <a:off x="782782" y="3602982"/>
            <a:ext cx="330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low = 1</a:t>
            </a:r>
            <a:endParaRPr lang="en-US"/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high = 100</a:t>
            </a:r>
          </a:p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11827"/>
                </a:solidFill>
                <a:latin typeface="Roboto Mono"/>
                <a:ea typeface="Roboto Mono"/>
                <a:cs typeface="Roboto Mono"/>
                <a:sym typeface="Roboto Mono"/>
              </a:rPr>
              <a:t>mid = (low + high) / 2</a:t>
            </a:r>
          </a:p>
        </p:txBody>
      </p:sp>
      <p:sp>
        <p:nvSpPr>
          <p:cNvPr id="53" name="AutoShape 17">
            <a:extLst>
              <a:ext uri="{FF2B5EF4-FFF2-40B4-BE49-F238E27FC236}">
                <a16:creationId xmlns:a16="http://schemas.microsoft.com/office/drawing/2014/main" id="{5AA70F28-C201-4EBD-964A-E2849642AD21}"/>
              </a:ext>
            </a:extLst>
          </p:cNvPr>
          <p:cNvSpPr txBox="1"/>
          <p:nvPr/>
        </p:nvSpPr>
        <p:spPr>
          <a:xfrm>
            <a:off x="604982" y="4491982"/>
            <a:ext cx="355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③ 根据反馈砍掉一半</a:t>
            </a:r>
            <a:endParaRPr lang="en-US"/>
          </a:p>
        </p:txBody>
      </p:sp>
      <p:sp>
        <p:nvSpPr>
          <p:cNvPr id="54" name="AutoShape 18">
            <a:extLst>
              <a:ext uri="{FF2B5EF4-FFF2-40B4-BE49-F238E27FC236}">
                <a16:creationId xmlns:a16="http://schemas.microsoft.com/office/drawing/2014/main" id="{4D83EF6A-E464-4467-B1AC-B60DE5A65CF2}"/>
              </a:ext>
            </a:extLst>
          </p:cNvPr>
          <p:cNvSpPr txBox="1"/>
          <p:nvPr/>
        </p:nvSpPr>
        <p:spPr>
          <a:xfrm>
            <a:off x="604982" y="4822182"/>
            <a:ext cx="3556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l">
              <a:lnSpc>
                <a:spcPct val="133333"/>
              </a:lnSpc>
              <a:defRPr/>
            </a:pPr>
            <a:r>
              <a:rPr lang="en-US" sz="1600" b="0" i="0" u="none" strike="noStrike">
                <a:solidFill>
                  <a:srgbClr val="DC2626"/>
                </a:solidFill>
                <a:latin typeface="Roboto Mono"/>
                <a:ea typeface="Roboto Mono"/>
                <a:cs typeface="Roboto Mono"/>
                <a:sym typeface="Roboto Mono"/>
              </a:rPr>
              <a:t>猜大了</a:t>
            </a:r>
            <a:r>
              <a:rPr lang="en-US" sz="16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→ high = mid - 1</a:t>
            </a:r>
            <a:endParaRPr lang="en-US"/>
          </a:p>
          <a:p>
            <a:pPr marL="0" indent="0" algn="l">
              <a:lnSpc>
                <a:spcPct val="133333"/>
              </a:lnSpc>
            </a:pPr>
            <a:r>
              <a:rPr lang="en-US" sz="1600" b="0" i="0" u="none" strike="noStrike">
                <a:solidFill>
                  <a:srgbClr val="B45309"/>
                </a:solidFill>
                <a:latin typeface="Roboto Mono"/>
                <a:ea typeface="Roboto Mono"/>
                <a:cs typeface="Roboto Mono"/>
                <a:sym typeface="Roboto Mono"/>
              </a:rPr>
              <a:t>猜小了</a:t>
            </a:r>
            <a:r>
              <a:rPr lang="en-US" sz="1600" b="0" i="0" u="none" strike="noStrike">
                <a:solidFill>
                  <a:srgbClr val="374151"/>
                </a:solidFill>
                <a:latin typeface="Roboto Mono"/>
                <a:ea typeface="Roboto Mono"/>
                <a:cs typeface="Roboto Mono"/>
                <a:sym typeface="Roboto Mono"/>
              </a:rPr>
              <a:t> → low = mid + 1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C6ABF4-2A1A-4E48-B48A-B9549714EAD3}"/>
              </a:ext>
            </a:extLst>
          </p:cNvPr>
          <p:cNvSpPr/>
          <p:nvPr/>
        </p:nvSpPr>
        <p:spPr>
          <a:xfrm>
            <a:off x="4760133" y="5483560"/>
            <a:ext cx="6096000" cy="781689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285750">
              <a:lnSpc>
                <a:spcPct val="115000"/>
              </a:lnSpc>
              <a:spcAft>
                <a:spcPts val="600"/>
              </a:spcAft>
              <a:buFontTx/>
              <a:buChar char="•"/>
              <a:defRPr/>
            </a:pPr>
            <a:r>
              <a:rPr lang="zh-CN" altLang="en-US" b="1" dirty="0">
                <a:solidFill>
                  <a:srgbClr val="C00000"/>
                </a:solidFill>
                <a:latin typeface="微软雅黑"/>
                <a:ea typeface="微软雅黑"/>
              </a:rPr>
              <a:t>思考：</a:t>
            </a:r>
            <a:r>
              <a:rPr lang="en-US" altLang="zh-CN" b="1" dirty="0">
                <a:solidFill>
                  <a:srgbClr val="C00000"/>
                </a:solidFill>
                <a:latin typeface="微软雅黑"/>
                <a:ea typeface="微软雅黑"/>
              </a:rPr>
              <a:t>100</a:t>
            </a:r>
            <a:r>
              <a:rPr lang="zh-CN" altLang="en-US" b="1" dirty="0">
                <a:solidFill>
                  <a:srgbClr val="C00000"/>
                </a:solidFill>
                <a:latin typeface="微软雅黑"/>
                <a:ea typeface="微软雅黑"/>
              </a:rPr>
              <a:t>以内的数最多猜几次？</a:t>
            </a:r>
            <a:endParaRPr lang="en-US" altLang="zh-CN" b="1" dirty="0">
              <a:solidFill>
                <a:srgbClr val="C00000"/>
              </a:solidFill>
              <a:latin typeface="微软雅黑"/>
              <a:ea typeface="微软雅黑"/>
            </a:endParaRPr>
          </a:p>
          <a:p>
            <a:pPr marL="342900" lvl="0" indent="-285750">
              <a:lnSpc>
                <a:spcPct val="115000"/>
              </a:lnSpc>
              <a:spcAft>
                <a:spcPts val="600"/>
              </a:spcAft>
              <a:buFontTx/>
              <a:buChar char="•"/>
              <a:defRPr/>
            </a:pP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如何通过循环实现？</a:t>
            </a:r>
            <a:endParaRPr lang="en-US" altLang="zh-CN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64771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例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：猜数字（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二分策略实现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7</a:t>
            </a:r>
          </a:p>
        </p:txBody>
      </p:sp>
      <p:sp>
        <p:nvSpPr>
          <p:cNvPr id="14" name="AutoShape 11">
            <a:extLst>
              <a:ext uri="{FF2B5EF4-FFF2-40B4-BE49-F238E27FC236}">
                <a16:creationId xmlns:a16="http://schemas.microsoft.com/office/drawing/2014/main" id="{75F1B0BB-18BC-4A87-9F5F-418F65D747BF}"/>
              </a:ext>
            </a:extLst>
          </p:cNvPr>
          <p:cNvSpPr/>
          <p:nvPr/>
        </p:nvSpPr>
        <p:spPr>
          <a:xfrm>
            <a:off x="6499049" y="1460941"/>
            <a:ext cx="330200" cy="330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15" name="AutoShape 12">
            <a:extLst>
              <a:ext uri="{FF2B5EF4-FFF2-40B4-BE49-F238E27FC236}">
                <a16:creationId xmlns:a16="http://schemas.microsoft.com/office/drawing/2014/main" id="{5CC04908-A00B-4DD4-B035-F49CA7A2687D}"/>
              </a:ext>
            </a:extLst>
          </p:cNvPr>
          <p:cNvSpPr txBox="1"/>
          <p:nvPr/>
        </p:nvSpPr>
        <p:spPr>
          <a:xfrm>
            <a:off x="6499049" y="1460941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endParaRPr lang="en-US" sz="1400"/>
          </a:p>
        </p:txBody>
      </p:sp>
      <p:sp>
        <p:nvSpPr>
          <p:cNvPr id="16" name="AutoShape 13">
            <a:extLst>
              <a:ext uri="{FF2B5EF4-FFF2-40B4-BE49-F238E27FC236}">
                <a16:creationId xmlns:a16="http://schemas.microsoft.com/office/drawing/2014/main" id="{6A2F211C-9DC3-491F-9DD4-251A640F4151}"/>
              </a:ext>
            </a:extLst>
          </p:cNvPr>
          <p:cNvSpPr txBox="1"/>
          <p:nvPr/>
        </p:nvSpPr>
        <p:spPr>
          <a:xfrm>
            <a:off x="6956249" y="1435541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初始化：确定候选范围</a:t>
            </a:r>
            <a:endParaRPr lang="en-US" sz="1400"/>
          </a:p>
        </p:txBody>
      </p:sp>
      <p:sp>
        <p:nvSpPr>
          <p:cNvPr id="17" name="AutoShape 14">
            <a:extLst>
              <a:ext uri="{FF2B5EF4-FFF2-40B4-BE49-F238E27FC236}">
                <a16:creationId xmlns:a16="http://schemas.microsoft.com/office/drawing/2014/main" id="{A40A4FB8-5135-454C-8770-53D218A4B5A1}"/>
              </a:ext>
            </a:extLst>
          </p:cNvPr>
          <p:cNvSpPr txBox="1"/>
          <p:nvPr/>
        </p:nvSpPr>
        <p:spPr>
          <a:xfrm>
            <a:off x="6956249" y="1765741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low = 0, high = 100, found = false</a:t>
            </a:r>
            <a:endParaRPr lang="en-US" sz="1400" dirty="0"/>
          </a:p>
        </p:txBody>
      </p:sp>
      <p:sp>
        <p:nvSpPr>
          <p:cNvPr id="18" name="AutoShape 15">
            <a:extLst>
              <a:ext uri="{FF2B5EF4-FFF2-40B4-BE49-F238E27FC236}">
                <a16:creationId xmlns:a16="http://schemas.microsoft.com/office/drawing/2014/main" id="{1C00049E-8666-4BA9-B630-0D27F5D43EBF}"/>
              </a:ext>
            </a:extLst>
          </p:cNvPr>
          <p:cNvSpPr/>
          <p:nvPr/>
        </p:nvSpPr>
        <p:spPr>
          <a:xfrm>
            <a:off x="6499049" y="2476941"/>
            <a:ext cx="330200" cy="330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19" name="AutoShape 16">
            <a:extLst>
              <a:ext uri="{FF2B5EF4-FFF2-40B4-BE49-F238E27FC236}">
                <a16:creationId xmlns:a16="http://schemas.microsoft.com/office/drawing/2014/main" id="{9CB16531-85C8-4041-B476-DDD000F499CF}"/>
              </a:ext>
            </a:extLst>
          </p:cNvPr>
          <p:cNvSpPr txBox="1"/>
          <p:nvPr/>
        </p:nvSpPr>
        <p:spPr>
          <a:xfrm>
            <a:off x="6499049" y="2476941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endParaRPr lang="en-US" sz="1400"/>
          </a:p>
        </p:txBody>
      </p:sp>
      <p:sp>
        <p:nvSpPr>
          <p:cNvPr id="20" name="AutoShape 17">
            <a:extLst>
              <a:ext uri="{FF2B5EF4-FFF2-40B4-BE49-F238E27FC236}">
                <a16:creationId xmlns:a16="http://schemas.microsoft.com/office/drawing/2014/main" id="{712FB06B-A21D-4595-8558-9BE871260AAE}"/>
              </a:ext>
            </a:extLst>
          </p:cNvPr>
          <p:cNvSpPr txBox="1"/>
          <p:nvPr/>
        </p:nvSpPr>
        <p:spPr>
          <a:xfrm>
            <a:off x="6956249" y="2451541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 dirty="0" err="1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循环条件：什么时候继续猜</a:t>
            </a:r>
            <a:r>
              <a:rPr lang="en-US" b="1" i="0" u="none" strike="noStrike" dirty="0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？</a:t>
            </a:r>
            <a:endParaRPr lang="en-US" sz="1400" dirty="0"/>
          </a:p>
        </p:txBody>
      </p:sp>
      <p:sp>
        <p:nvSpPr>
          <p:cNvPr id="21" name="AutoShape 18">
            <a:extLst>
              <a:ext uri="{FF2B5EF4-FFF2-40B4-BE49-F238E27FC236}">
                <a16:creationId xmlns:a16="http://schemas.microsoft.com/office/drawing/2014/main" id="{949AE77F-35A9-40C3-B800-8475CA2CC8A3}"/>
              </a:ext>
            </a:extLst>
          </p:cNvPr>
          <p:cNvSpPr txBox="1"/>
          <p:nvPr/>
        </p:nvSpPr>
        <p:spPr>
          <a:xfrm>
            <a:off x="6956249" y="2781741"/>
            <a:ext cx="4182806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范围还没空（low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&lt;= high），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且还没猜中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（!found）—— 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两个条件同时成立才继续</a:t>
            </a:r>
            <a:r>
              <a:rPr lang="en-US" sz="1400" b="0" i="0" u="none" strike="noStrike" dirty="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400" dirty="0"/>
          </a:p>
        </p:txBody>
      </p:sp>
      <p:sp>
        <p:nvSpPr>
          <p:cNvPr id="22" name="AutoShape 19">
            <a:extLst>
              <a:ext uri="{FF2B5EF4-FFF2-40B4-BE49-F238E27FC236}">
                <a16:creationId xmlns:a16="http://schemas.microsoft.com/office/drawing/2014/main" id="{BA2196BB-97F5-42BE-ADF6-8CEA94F04C1E}"/>
              </a:ext>
            </a:extLst>
          </p:cNvPr>
          <p:cNvSpPr/>
          <p:nvPr/>
        </p:nvSpPr>
        <p:spPr>
          <a:xfrm>
            <a:off x="6499049" y="3670741"/>
            <a:ext cx="330200" cy="330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23" name="AutoShape 20">
            <a:extLst>
              <a:ext uri="{FF2B5EF4-FFF2-40B4-BE49-F238E27FC236}">
                <a16:creationId xmlns:a16="http://schemas.microsoft.com/office/drawing/2014/main" id="{CDC4595C-CA1A-47CF-8DEE-C9E9A1DC2939}"/>
              </a:ext>
            </a:extLst>
          </p:cNvPr>
          <p:cNvSpPr txBox="1"/>
          <p:nvPr/>
        </p:nvSpPr>
        <p:spPr>
          <a:xfrm>
            <a:off x="6499049" y="3670741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endParaRPr lang="en-US" sz="1400"/>
          </a:p>
        </p:txBody>
      </p:sp>
      <p:sp>
        <p:nvSpPr>
          <p:cNvPr id="24" name="AutoShape 21">
            <a:extLst>
              <a:ext uri="{FF2B5EF4-FFF2-40B4-BE49-F238E27FC236}">
                <a16:creationId xmlns:a16="http://schemas.microsoft.com/office/drawing/2014/main" id="{078E96E9-76B8-4BEA-9840-B6C3A8FF0B80}"/>
              </a:ext>
            </a:extLst>
          </p:cNvPr>
          <p:cNvSpPr txBox="1"/>
          <p:nvPr/>
        </p:nvSpPr>
        <p:spPr>
          <a:xfrm>
            <a:off x="6956249" y="3645341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每轮：取中间值来猜</a:t>
            </a:r>
            <a:endParaRPr lang="en-US" sz="1400"/>
          </a:p>
        </p:txBody>
      </p:sp>
      <p:sp>
        <p:nvSpPr>
          <p:cNvPr id="25" name="AutoShape 22">
            <a:extLst>
              <a:ext uri="{FF2B5EF4-FFF2-40B4-BE49-F238E27FC236}">
                <a16:creationId xmlns:a16="http://schemas.microsoft.com/office/drawing/2014/main" id="{18877AE1-F866-407C-962F-58C3FAB64873}"/>
              </a:ext>
            </a:extLst>
          </p:cNvPr>
          <p:cNvSpPr txBox="1"/>
          <p:nvPr/>
        </p:nvSpPr>
        <p:spPr>
          <a:xfrm>
            <a:off x="6956249" y="4076699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mid = low + (high - low) / 2</a:t>
            </a:r>
            <a:endParaRPr lang="en-US" sz="1400" dirty="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避免</a:t>
            </a:r>
            <a:r>
              <a:rPr lang="en-US" sz="14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low+high</a:t>
            </a:r>
            <a:r>
              <a:rPr lang="en-US" sz="14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) </a:t>
            </a:r>
            <a:r>
              <a:rPr lang="en-US" sz="1400" b="0" i="0" u="none" strike="noStrike" dirty="0" err="1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溢出，且正好落在范围中点</a:t>
            </a:r>
            <a:r>
              <a:rPr lang="en-US" sz="1400" b="0" i="0" u="none" strike="noStrike" dirty="0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。</a:t>
            </a:r>
          </a:p>
        </p:txBody>
      </p:sp>
      <p:sp>
        <p:nvSpPr>
          <p:cNvPr id="26" name="AutoShape 23">
            <a:extLst>
              <a:ext uri="{FF2B5EF4-FFF2-40B4-BE49-F238E27FC236}">
                <a16:creationId xmlns:a16="http://schemas.microsoft.com/office/drawing/2014/main" id="{53D929A4-8C14-4AF9-A236-FA54A995B38F}"/>
              </a:ext>
            </a:extLst>
          </p:cNvPr>
          <p:cNvSpPr/>
          <p:nvPr/>
        </p:nvSpPr>
        <p:spPr>
          <a:xfrm>
            <a:off x="6499049" y="4864541"/>
            <a:ext cx="330200" cy="330200"/>
          </a:xfrm>
          <a:prstGeom prst="ellipse">
            <a:avLst/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27" name="AutoShape 24">
            <a:extLst>
              <a:ext uri="{FF2B5EF4-FFF2-40B4-BE49-F238E27FC236}">
                <a16:creationId xmlns:a16="http://schemas.microsoft.com/office/drawing/2014/main" id="{45B97518-FEA8-4F90-80C1-5B7F64AC4A15}"/>
              </a:ext>
            </a:extLst>
          </p:cNvPr>
          <p:cNvSpPr txBox="1"/>
          <p:nvPr/>
        </p:nvSpPr>
        <p:spPr>
          <a:xfrm>
            <a:off x="6499049" y="4864541"/>
            <a:ext cx="330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4</a:t>
            </a:r>
            <a:endParaRPr lang="en-US" sz="1400"/>
          </a:p>
        </p:txBody>
      </p:sp>
      <p:sp>
        <p:nvSpPr>
          <p:cNvPr id="28" name="AutoShape 25">
            <a:extLst>
              <a:ext uri="{FF2B5EF4-FFF2-40B4-BE49-F238E27FC236}">
                <a16:creationId xmlns:a16="http://schemas.microsoft.com/office/drawing/2014/main" id="{86D7A45A-7F45-4E74-9BF1-1D800A549DAE}"/>
              </a:ext>
            </a:extLst>
          </p:cNvPr>
          <p:cNvSpPr txBox="1"/>
          <p:nvPr/>
        </p:nvSpPr>
        <p:spPr>
          <a:xfrm>
            <a:off x="6956249" y="4839141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更新状态：必须缩小范围</a:t>
            </a:r>
            <a:endParaRPr lang="en-US" sz="1400"/>
          </a:p>
        </p:txBody>
      </p:sp>
      <p:sp>
        <p:nvSpPr>
          <p:cNvPr id="29" name="AutoShape 26">
            <a:extLst>
              <a:ext uri="{FF2B5EF4-FFF2-40B4-BE49-F238E27FC236}">
                <a16:creationId xmlns:a16="http://schemas.microsoft.com/office/drawing/2014/main" id="{538D413D-D0A6-4AFF-AB03-29BBABF246FB}"/>
              </a:ext>
            </a:extLst>
          </p:cNvPr>
          <p:cNvSpPr txBox="1"/>
          <p:nvPr/>
        </p:nvSpPr>
        <p:spPr>
          <a:xfrm>
            <a:off x="6956249" y="5169341"/>
            <a:ext cx="355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猜大了 → high = mid - 1</a:t>
            </a:r>
            <a:endParaRPr lang="en-US" sz="14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6B7280"/>
                </a:solidFill>
                <a:latin typeface="Roboto Mono"/>
                <a:ea typeface="Roboto Mono"/>
                <a:cs typeface="Roboto Mono"/>
                <a:sym typeface="Roboto Mono"/>
              </a:rPr>
              <a:t>猜小了 → low = mid + 1 （否则会死循环）</a:t>
            </a:r>
          </a:p>
        </p:txBody>
      </p:sp>
      <p:cxnSp>
        <p:nvCxnSpPr>
          <p:cNvPr id="30" name="Connector 27">
            <a:extLst>
              <a:ext uri="{FF2B5EF4-FFF2-40B4-BE49-F238E27FC236}">
                <a16:creationId xmlns:a16="http://schemas.microsoft.com/office/drawing/2014/main" id="{529BAFD6-A100-4451-AD7B-BD5ADDBA6212}"/>
              </a:ext>
            </a:extLst>
          </p:cNvPr>
          <p:cNvCxnSpPr/>
          <p:nvPr/>
        </p:nvCxnSpPr>
        <p:spPr>
          <a:xfrm rot="21595908">
            <a:off x="762004" y="61912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28">
            <a:extLst>
              <a:ext uri="{FF2B5EF4-FFF2-40B4-BE49-F238E27FC236}">
                <a16:creationId xmlns:a16="http://schemas.microsoft.com/office/drawing/2014/main" id="{D4E88049-6108-42A5-914E-AE77E9057C4B}"/>
              </a:ext>
            </a:extLst>
          </p:cNvPr>
          <p:cNvSpPr txBox="1"/>
          <p:nvPr/>
        </p:nvSpPr>
        <p:spPr>
          <a:xfrm>
            <a:off x="762000" y="63500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while 三要素</a:t>
            </a:r>
            <a:endParaRPr lang="en-US" sz="1100"/>
          </a:p>
        </p:txBody>
      </p:sp>
      <p:sp>
        <p:nvSpPr>
          <p:cNvPr id="32" name="AutoShape 29">
            <a:extLst>
              <a:ext uri="{FF2B5EF4-FFF2-40B4-BE49-F238E27FC236}">
                <a16:creationId xmlns:a16="http://schemas.microsoft.com/office/drawing/2014/main" id="{7B8FCFCB-771D-4918-BBE2-17950661EE5E}"/>
              </a:ext>
            </a:extLst>
          </p:cNvPr>
          <p:cNvSpPr/>
          <p:nvPr/>
        </p:nvSpPr>
        <p:spPr>
          <a:xfrm>
            <a:off x="2794000" y="6375400"/>
            <a:ext cx="2032000" cy="3302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0">
            <a:extLst>
              <a:ext uri="{FF2B5EF4-FFF2-40B4-BE49-F238E27FC236}">
                <a16:creationId xmlns:a16="http://schemas.microsoft.com/office/drawing/2014/main" id="{9F070D7A-3EC7-4387-A86A-F843098B1F88}"/>
              </a:ext>
            </a:extLst>
          </p:cNvPr>
          <p:cNvSpPr txBox="1"/>
          <p:nvPr/>
        </p:nvSpPr>
        <p:spPr>
          <a:xfrm>
            <a:off x="2794000" y="63754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初始状态</a:t>
            </a:r>
            <a:endParaRPr lang="en-US" sz="1100"/>
          </a:p>
        </p:txBody>
      </p:sp>
      <p:sp>
        <p:nvSpPr>
          <p:cNvPr id="34" name="AutoShape 31">
            <a:extLst>
              <a:ext uri="{FF2B5EF4-FFF2-40B4-BE49-F238E27FC236}">
                <a16:creationId xmlns:a16="http://schemas.microsoft.com/office/drawing/2014/main" id="{0465ABD3-E656-4E61-B58E-510B54B9A45D}"/>
              </a:ext>
            </a:extLst>
          </p:cNvPr>
          <p:cNvSpPr txBox="1"/>
          <p:nvPr/>
        </p:nvSpPr>
        <p:spPr>
          <a:xfrm>
            <a:off x="4889500" y="6375400"/>
            <a:ext cx="30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35" name="AutoShape 32">
            <a:extLst>
              <a:ext uri="{FF2B5EF4-FFF2-40B4-BE49-F238E27FC236}">
                <a16:creationId xmlns:a16="http://schemas.microsoft.com/office/drawing/2014/main" id="{53E1B66D-358B-440D-8678-A4EEAD68E62D}"/>
              </a:ext>
            </a:extLst>
          </p:cNvPr>
          <p:cNvSpPr/>
          <p:nvPr/>
        </p:nvSpPr>
        <p:spPr>
          <a:xfrm>
            <a:off x="5232400" y="6375400"/>
            <a:ext cx="2032000" cy="3302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6" name="AutoShape 33">
            <a:extLst>
              <a:ext uri="{FF2B5EF4-FFF2-40B4-BE49-F238E27FC236}">
                <a16:creationId xmlns:a16="http://schemas.microsoft.com/office/drawing/2014/main" id="{913965CE-2347-4125-9E2C-8B4821CABC5F}"/>
              </a:ext>
            </a:extLst>
          </p:cNvPr>
          <p:cNvSpPr txBox="1"/>
          <p:nvPr/>
        </p:nvSpPr>
        <p:spPr>
          <a:xfrm>
            <a:off x="5232400" y="63754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循环条件</a:t>
            </a:r>
            <a:endParaRPr lang="en-US" sz="1100"/>
          </a:p>
        </p:txBody>
      </p:sp>
      <p:sp>
        <p:nvSpPr>
          <p:cNvPr id="37" name="AutoShape 34">
            <a:extLst>
              <a:ext uri="{FF2B5EF4-FFF2-40B4-BE49-F238E27FC236}">
                <a16:creationId xmlns:a16="http://schemas.microsoft.com/office/drawing/2014/main" id="{663870A7-587E-4223-8E03-1D20B284F0BD}"/>
              </a:ext>
            </a:extLst>
          </p:cNvPr>
          <p:cNvSpPr txBox="1"/>
          <p:nvPr/>
        </p:nvSpPr>
        <p:spPr>
          <a:xfrm>
            <a:off x="7327900" y="6375400"/>
            <a:ext cx="304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→</a:t>
            </a:r>
            <a:endParaRPr lang="en-US" sz="1100"/>
          </a:p>
        </p:txBody>
      </p:sp>
      <p:sp>
        <p:nvSpPr>
          <p:cNvPr id="38" name="AutoShape 35">
            <a:extLst>
              <a:ext uri="{FF2B5EF4-FFF2-40B4-BE49-F238E27FC236}">
                <a16:creationId xmlns:a16="http://schemas.microsoft.com/office/drawing/2014/main" id="{E0E16D33-9AE1-4BC6-B120-B81CA4C78788}"/>
              </a:ext>
            </a:extLst>
          </p:cNvPr>
          <p:cNvSpPr/>
          <p:nvPr/>
        </p:nvSpPr>
        <p:spPr>
          <a:xfrm>
            <a:off x="7670800" y="6375400"/>
            <a:ext cx="2032000" cy="33020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6">
            <a:extLst>
              <a:ext uri="{FF2B5EF4-FFF2-40B4-BE49-F238E27FC236}">
                <a16:creationId xmlns:a16="http://schemas.microsoft.com/office/drawing/2014/main" id="{248E0A49-4766-46C9-AE5A-806069020A7B}"/>
              </a:ext>
            </a:extLst>
          </p:cNvPr>
          <p:cNvSpPr txBox="1"/>
          <p:nvPr/>
        </p:nvSpPr>
        <p:spPr>
          <a:xfrm>
            <a:off x="7670800" y="63754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1D4ED8"/>
                </a:solidFill>
                <a:latin typeface="Noto Sans SC"/>
                <a:ea typeface="Noto Sans SC"/>
                <a:cs typeface="Noto Sans SC"/>
                <a:sym typeface="Noto Sans SC"/>
              </a:rPr>
              <a:t>状态更新</a:t>
            </a:r>
            <a:endParaRPr lang="en-US" sz="1100"/>
          </a:p>
        </p:txBody>
      </p:sp>
      <p:sp>
        <p:nvSpPr>
          <p:cNvPr id="40" name="Rounded Rectangle 6">
            <a:extLst>
              <a:ext uri="{FF2B5EF4-FFF2-40B4-BE49-F238E27FC236}">
                <a16:creationId xmlns:a16="http://schemas.microsoft.com/office/drawing/2014/main" id="{6326BCB0-278F-48AD-880A-14D629500924}"/>
              </a:ext>
            </a:extLst>
          </p:cNvPr>
          <p:cNvSpPr/>
          <p:nvPr/>
        </p:nvSpPr>
        <p:spPr>
          <a:xfrm>
            <a:off x="407028" y="894080"/>
            <a:ext cx="5425389" cy="5528056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cstdlib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ctime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using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namespace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std;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5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srand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(time(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));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number = rand() %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101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</a:t>
            </a:r>
            <a:r>
              <a:rPr kumimoji="0" sz="125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0~100 </a:t>
            </a:r>
            <a:r>
              <a:rPr kumimoji="0" sz="125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的随机数</a:t>
            </a:r>
            <a:endParaRPr kumimoji="0" sz="125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我想了一个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0~100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的数，猜猜是多少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2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  <a:endParaRPr kumimoji="0" lang="en-US" altLang="zh-CN" sz="125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lang="en-US" altLang="zh-CN" sz="1400" dirty="0">
                <a:solidFill>
                  <a:srgbClr val="60A5FA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int low = 0, high = 100;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60A5FA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bool found = false;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FBBF24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while (low &lt;= high &amp;&amp; !found)</a:t>
            </a: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{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4ADE8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int guess = low + (high - low) / 2;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94A3B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</a:t>
            </a:r>
            <a:r>
              <a:rPr lang="en-US" altLang="zh-CN" sz="1400" dirty="0" err="1">
                <a:solidFill>
                  <a:srgbClr val="94A3B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cout</a:t>
            </a: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&lt;&lt; </a:t>
            </a:r>
            <a:r>
              <a:rPr lang="en-US" altLang="zh-CN" sz="1400" dirty="0">
                <a:solidFill>
                  <a:srgbClr val="F8717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"</a:t>
            </a:r>
            <a:r>
              <a:rPr lang="en-US" altLang="zh-CN" sz="1400" dirty="0" err="1">
                <a:solidFill>
                  <a:srgbClr val="F8717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我猜是</a:t>
            </a:r>
            <a:r>
              <a:rPr lang="en-US" altLang="zh-CN" sz="1400" dirty="0">
                <a:solidFill>
                  <a:srgbClr val="F87171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" &lt;&lt; mid &lt;&lt; "\n"</a:t>
            </a: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;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94A3B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if</a:t>
            </a: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(mid == number) {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    found = true;</a:t>
            </a:r>
          </a:p>
          <a:p>
            <a:pPr lvl="0">
              <a:lnSpc>
                <a:spcPct val="105000"/>
              </a:lnSpc>
              <a:defRPr/>
            </a:pP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    </a:t>
            </a:r>
            <a:r>
              <a:rPr lang="gsw-FR" altLang="zh-CN" sz="1400" dirty="0">
                <a:solidFill>
                  <a:srgbClr val="D4D4D4"/>
                </a:solidFill>
                <a:latin typeface="Consolas" panose="020B0609020204030204" pitchFamily="49" charset="0"/>
                <a:ea typeface="微软雅黑"/>
              </a:rPr>
              <a:t>cout &lt;&lt; </a:t>
            </a:r>
            <a:r>
              <a:rPr lang="gsw-FR" altLang="zh-CN" sz="1400" dirty="0">
                <a:solidFill>
                  <a:srgbClr val="CE9178"/>
                </a:solidFill>
                <a:latin typeface="Consolas" panose="020B0609020204030204" pitchFamily="49" charset="0"/>
                <a:ea typeface="微软雅黑"/>
              </a:rPr>
              <a:t>"</a:t>
            </a:r>
            <a:r>
              <a:rPr lang="zh-CN" altLang="en-US" sz="1400" dirty="0">
                <a:solidFill>
                  <a:srgbClr val="CE9178"/>
                </a:solidFill>
                <a:latin typeface="Consolas" panose="020B0609020204030204" pitchFamily="49" charset="0"/>
                <a:ea typeface="微软雅黑"/>
              </a:rPr>
              <a:t>对了！</a:t>
            </a:r>
            <a:r>
              <a:rPr lang="en-US" altLang="zh-CN" sz="1400" dirty="0">
                <a:solidFill>
                  <a:srgbClr val="CE9178"/>
                </a:solidFill>
                <a:latin typeface="Consolas" panose="020B0609020204030204" pitchFamily="49" charset="0"/>
                <a:ea typeface="微软雅黑"/>
              </a:rPr>
              <a:t>"</a:t>
            </a:r>
            <a:r>
              <a:rPr lang="zh-CN" altLang="en-US" sz="1400" dirty="0">
                <a:solidFill>
                  <a:srgbClr val="D4D4D4"/>
                </a:solidFill>
                <a:latin typeface="Consolas" panose="020B0609020204030204" pitchFamily="49" charset="0"/>
                <a:ea typeface="微软雅黑"/>
              </a:rPr>
              <a:t> </a:t>
            </a:r>
            <a:r>
              <a:rPr lang="en-US" altLang="zh-CN" sz="1400" dirty="0">
                <a:solidFill>
                  <a:srgbClr val="D4D4D4"/>
                </a:solidFill>
                <a:latin typeface="Consolas" panose="020B0609020204030204" pitchFamily="49" charset="0"/>
                <a:ea typeface="微软雅黑"/>
              </a:rPr>
              <a:t>&lt;&lt; </a:t>
            </a:r>
            <a:r>
              <a:rPr lang="gsw-FR" altLang="zh-CN" sz="1400" dirty="0">
                <a:solidFill>
                  <a:srgbClr val="D4D4D4"/>
                </a:solidFill>
                <a:latin typeface="Consolas" panose="020B0609020204030204" pitchFamily="49" charset="0"/>
                <a:ea typeface="微软雅黑"/>
              </a:rPr>
              <a:t>endl;</a:t>
            </a:r>
          </a:p>
          <a:p>
            <a:pPr lvl="0">
              <a:lnSpc>
                <a:spcPct val="105000"/>
              </a:lnSpc>
              <a:defRPr/>
            </a:pPr>
            <a:r>
              <a:rPr lang="gsw-FR" altLang="zh-CN" sz="1400" dirty="0">
                <a:solidFill>
                  <a:srgbClr val="D4D4D4"/>
                </a:solidFill>
                <a:latin typeface="Consolas" panose="020B0609020204030204" pitchFamily="49" charset="0"/>
                <a:ea typeface="微软雅黑"/>
              </a:rPr>
              <a:t>         } </a:t>
            </a:r>
            <a:r>
              <a:rPr lang="en-US" altLang="zh-CN" sz="1400" dirty="0">
                <a:solidFill>
                  <a:srgbClr val="94A3B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else if</a:t>
            </a: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(mid &gt; number) {</a:t>
            </a:r>
          </a:p>
          <a:p>
            <a:pPr lvl="0">
              <a:lnSpc>
                <a:spcPct val="105000"/>
              </a:lnSpc>
              <a:defRPr/>
            </a:pP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    </a:t>
            </a:r>
            <a:r>
              <a:rPr lang="en-US" altLang="zh-CN" sz="1400" dirty="0">
                <a:solidFill>
                  <a:srgbClr val="C4B5F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high = mid - 1;</a:t>
            </a:r>
          </a:p>
          <a:p>
            <a:pPr lvl="0">
              <a:lnSpc>
                <a:spcPct val="105000"/>
              </a:lnSpc>
              <a:defRPr/>
            </a:pPr>
            <a:r>
              <a:rPr lang="en-US" altLang="zh-CN" sz="1400" dirty="0">
                <a:solidFill>
                  <a:srgbClr val="C4B5F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    } </a:t>
            </a:r>
            <a:r>
              <a:rPr lang="en-US" altLang="zh-CN" sz="1400" dirty="0">
                <a:solidFill>
                  <a:srgbClr val="94A3B8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else  </a:t>
            </a:r>
            <a:r>
              <a:rPr lang="en-US" altLang="zh-CN" sz="1400" dirty="0">
                <a:solidFill>
                  <a:srgbClr val="C4B5FD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low = mid + 1;</a:t>
            </a:r>
          </a:p>
          <a:p>
            <a:pPr>
              <a:lnSpc>
                <a:spcPct val="129166"/>
              </a:lnSpc>
            </a:pPr>
            <a:r>
              <a:rPr lang="en-US" altLang="zh-CN" sz="1400" dirty="0">
                <a:solidFill>
                  <a:srgbClr val="E2E8F0"/>
                </a:solidFill>
                <a:latin typeface="Consolas" panose="020B0609020204030204" pitchFamily="49" charset="0"/>
                <a:ea typeface="Roboto Mono"/>
                <a:cs typeface="Roboto Mono"/>
                <a:sym typeface="Roboto Mono"/>
              </a:rPr>
              <a:t>     }</a:t>
            </a:r>
            <a:endParaRPr lang="en-US" altLang="zh-CN" sz="1400" dirty="0">
              <a:solidFill>
                <a:srgbClr val="D4D4D4"/>
              </a:solidFill>
              <a:latin typeface="Consolas"/>
              <a:ea typeface="微软雅黑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return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957663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do-</a:t>
            </a:r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while </a:t>
            </a:r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循环：语法与流程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algn="l">
              <a:lnSpc>
                <a:spcPct val="150000"/>
              </a:lnSpc>
              <a:buNone/>
            </a:pPr>
            <a:r>
              <a:rPr lang="en-US" b="0" i="0" dirty="0">
                <a:solidFill>
                  <a:srgbClr val="D4D4D4"/>
                </a:solidFill>
                <a:latin typeface="Consolas"/>
                <a:ea typeface="微软雅黑"/>
              </a:rPr>
              <a:t>do</a:t>
            </a: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b="0" i="1" dirty="0" err="1">
                <a:solidFill>
                  <a:srgbClr val="6A9955"/>
                </a:solidFill>
                <a:latin typeface="Consolas"/>
                <a:ea typeface="微软雅黑"/>
              </a:rPr>
              <a:t>循环体：条件为</a:t>
            </a:r>
            <a:r>
              <a:rPr b="0" i="1" dirty="0">
                <a:solidFill>
                  <a:srgbClr val="6A9955"/>
                </a:solidFill>
                <a:latin typeface="Consolas"/>
                <a:ea typeface="微软雅黑"/>
              </a:rPr>
              <a:t> true </a:t>
            </a:r>
            <a:r>
              <a:rPr b="0" i="1" dirty="0" err="1">
                <a:solidFill>
                  <a:srgbClr val="6A9955"/>
                </a:solidFill>
                <a:latin typeface="Consolas"/>
                <a:ea typeface="微软雅黑"/>
              </a:rPr>
              <a:t>时反复执行</a:t>
            </a:r>
            <a:endParaRPr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b="0" i="0" dirty="0" err="1">
                <a:solidFill>
                  <a:srgbClr val="D4D4D4"/>
                </a:solidFill>
                <a:latin typeface="Consolas"/>
                <a:ea typeface="微软雅黑"/>
              </a:rPr>
              <a:t>语句</a:t>
            </a: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>
              <a:lnSpc>
                <a:spcPct val="150000"/>
              </a:lnSpc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  <a:r>
              <a:rPr lang="en-US" altLang="zh-CN" dirty="0">
                <a:solidFill>
                  <a:srgbClr val="569CD6"/>
                </a:solidFill>
                <a:latin typeface="Consolas"/>
                <a:ea typeface="微软雅黑"/>
              </a:rPr>
              <a:t> while</a:t>
            </a:r>
            <a:r>
              <a:rPr lang="en-US" altLang="zh-CN" dirty="0">
                <a:solidFill>
                  <a:srgbClr val="D4D4D4"/>
                </a:solidFill>
                <a:latin typeface="Consolas"/>
                <a:ea typeface="微软雅黑"/>
              </a:rPr>
              <a:t> (</a:t>
            </a:r>
            <a:r>
              <a:rPr lang="zh-CN" altLang="en-US" dirty="0">
                <a:solidFill>
                  <a:srgbClr val="D4D4D4"/>
                </a:solidFill>
                <a:latin typeface="Consolas"/>
                <a:ea typeface="微软雅黑"/>
              </a:rPr>
              <a:t>循环条件</a:t>
            </a:r>
            <a:r>
              <a:rPr lang="en-US" altLang="zh-CN" dirty="0">
                <a:solidFill>
                  <a:srgbClr val="D4D4D4"/>
                </a:solidFill>
                <a:latin typeface="Consolas"/>
                <a:ea typeface="微软雅黑"/>
              </a:rPr>
              <a:t>); </a:t>
            </a:r>
            <a:endParaRPr b="0" i="0" dirty="0">
              <a:solidFill>
                <a:srgbClr val="D4D4D4"/>
              </a:solidFill>
              <a:latin typeface="Consolas"/>
              <a:ea typeface="微软雅黑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199" y="3200400"/>
            <a:ext cx="5577841" cy="11771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先执行循环体，再判断</a:t>
            </a:r>
            <a:r>
              <a:rPr lang="zh-CN" altLang="en-US" b="1" dirty="0">
                <a:solidFill>
                  <a:srgbClr val="262626"/>
                </a:solidFill>
                <a:latin typeface="微软雅黑"/>
                <a:ea typeface="微软雅黑"/>
              </a:rPr>
              <a:t>条件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条件为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false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时</a:t>
            </a:r>
            <a:r>
              <a:rPr lang="zh-CN" altLang="en-US" dirty="0">
                <a:solidFill>
                  <a:srgbClr val="262626"/>
                </a:solidFill>
                <a:latin typeface="微软雅黑"/>
                <a:ea typeface="微软雅黑"/>
              </a:rPr>
              <a:t>终止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循环，执行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sz="1600" b="0" i="0" dirty="0">
                <a:solidFill>
                  <a:srgbClr val="8E2A2A"/>
                </a:solidFill>
                <a:latin typeface="Consolas"/>
                <a:ea typeface="微软雅黑"/>
              </a:rPr>
              <a:t>}</a:t>
            </a:r>
            <a:r>
              <a:rPr b="0" i="0" dirty="0">
                <a:solidFill>
                  <a:srgbClr val="262626"/>
                </a:solidFill>
                <a:latin typeface="微软雅黑"/>
                <a:ea typeface="微软雅黑"/>
              </a:rPr>
              <a:t> </a:t>
            </a:r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后面的语句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  <a:p>
            <a:pPr marL="342900" indent="-285750">
              <a:lnSpc>
                <a:spcPct val="115000"/>
              </a:lnSpc>
              <a:spcAft>
                <a:spcPts val="600"/>
              </a:spcAft>
              <a:buChar char="•"/>
            </a:pPr>
            <a:r>
              <a:rPr lang="zh-CN" altLang="en-US" b="0" i="0" dirty="0">
                <a:solidFill>
                  <a:srgbClr val="262626"/>
                </a:solidFill>
                <a:latin typeface="微软雅黑"/>
                <a:ea typeface="微软雅黑"/>
              </a:rPr>
              <a:t>说明：至少执行一次循环体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806089" y="1581914"/>
            <a:ext cx="2194560" cy="54864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初始化</a:t>
            </a:r>
            <a:r>
              <a:rPr lang="zh-CN" altLang="en-US" sz="1400" dirty="0">
                <a:solidFill>
                  <a:srgbClr val="262626"/>
                </a:solidFill>
                <a:latin typeface="微软雅黑"/>
                <a:ea typeface="微软雅黑"/>
              </a:rPr>
              <a:t>循环变量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869680" y="2933298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7589520" y="4145662"/>
            <a:ext cx="2560320" cy="707886"/>
          </a:xfrm>
          <a:prstGeom prst="diamond">
            <a:avLst/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循环条件?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2203" y="4135041"/>
            <a:ext cx="966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06089" y="2458055"/>
            <a:ext cx="2194560" cy="495178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循环体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17" name="Connector 16"/>
          <p:cNvCxnSpPr>
            <a:cxnSpLocks/>
            <a:stCxn id="21" idx="0"/>
            <a:endCxn id="11" idx="2"/>
          </p:cNvCxnSpPr>
          <p:nvPr/>
        </p:nvCxnSpPr>
        <p:spPr>
          <a:xfrm flipV="1">
            <a:off x="8867814" y="4853548"/>
            <a:ext cx="1866" cy="365563"/>
          </a:xfrm>
          <a:prstGeom prst="line">
            <a:avLst/>
          </a:prstGeom>
          <a:ln w="22225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903369" y="4858470"/>
            <a:ext cx="60625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 dirty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82014" y="5219111"/>
            <a:ext cx="1371600" cy="548640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结束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A5DCFA3D-50D0-4515-AB59-6EEF4E1A5F68}"/>
              </a:ext>
            </a:extLst>
          </p:cNvPr>
          <p:cNvCxnSpPr>
            <a:cxnSpLocks/>
            <a:stCxn id="11" idx="1"/>
            <a:endCxn id="14" idx="1"/>
          </p:cNvCxnSpPr>
          <p:nvPr/>
        </p:nvCxnSpPr>
        <p:spPr>
          <a:xfrm rot="10800000" flipH="1">
            <a:off x="7589519" y="2705645"/>
            <a:ext cx="216569" cy="1793961"/>
          </a:xfrm>
          <a:prstGeom prst="bentConnector3">
            <a:avLst>
              <a:gd name="adj1" fmla="val -292220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">
            <a:extLst>
              <a:ext uri="{FF2B5EF4-FFF2-40B4-BE49-F238E27FC236}">
                <a16:creationId xmlns:a16="http://schemas.microsoft.com/office/drawing/2014/main" id="{6D61DF27-84DE-419B-ACBB-885289F767A9}"/>
              </a:ext>
            </a:extLst>
          </p:cNvPr>
          <p:cNvCxnSpPr/>
          <p:nvPr/>
        </p:nvCxnSpPr>
        <p:spPr>
          <a:xfrm>
            <a:off x="8903369" y="2130554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13">
            <a:extLst>
              <a:ext uri="{FF2B5EF4-FFF2-40B4-BE49-F238E27FC236}">
                <a16:creationId xmlns:a16="http://schemas.microsoft.com/office/drawing/2014/main" id="{393FAC02-F86C-40DA-8840-F49678B5A601}"/>
              </a:ext>
            </a:extLst>
          </p:cNvPr>
          <p:cNvSpPr/>
          <p:nvPr/>
        </p:nvSpPr>
        <p:spPr>
          <a:xfrm>
            <a:off x="7887902" y="3292174"/>
            <a:ext cx="2030929" cy="495178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更新</a:t>
            </a:r>
            <a:r>
              <a:rPr lang="zh-CN" altLang="en-US" sz="1400" dirty="0">
                <a:solidFill>
                  <a:srgbClr val="262626"/>
                </a:solidFill>
                <a:latin typeface="微软雅黑"/>
                <a:ea typeface="微软雅黑"/>
              </a:rPr>
              <a:t>循环变量（可选）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40" name="Connector 9">
            <a:extLst>
              <a:ext uri="{FF2B5EF4-FFF2-40B4-BE49-F238E27FC236}">
                <a16:creationId xmlns:a16="http://schemas.microsoft.com/office/drawing/2014/main" id="{78778A5B-EE82-4AEE-A229-5FD8809E5781}"/>
              </a:ext>
            </a:extLst>
          </p:cNvPr>
          <p:cNvCxnSpPr/>
          <p:nvPr/>
        </p:nvCxnSpPr>
        <p:spPr>
          <a:xfrm>
            <a:off x="8877697" y="3797973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745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do-while </a:t>
            </a: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循环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/>
              <a:ea typeface="华文中宋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640080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using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namespace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std;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score;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请输入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0~100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的成绩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: "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score;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if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(score &lt;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|| score &gt;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100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   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输入有误，请重输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}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(score &lt;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|| score &gt;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100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);   </a:t>
            </a:r>
            <a:r>
              <a:rPr kumimoji="0" sz="135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35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注意分号</a:t>
            </a:r>
            <a:endParaRPr kumimoji="0" sz="135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35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有效成绩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: "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score &lt;&lt; </a:t>
            </a:r>
            <a:r>
              <a:rPr kumimoji="0" sz="135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return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34440"/>
            <a:ext cx="46936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语法：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 { 循环体 } while (条件);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——</a:t>
            </a: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末尾有分号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循环体</a:t>
            </a: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先执行一次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，再判断条件；条件为真回到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适用于“至少要做一次”的情形：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输入校验：先读，再看合不合法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菜单程序：先显示菜单并读选项，选“退出”才停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游戏“再来一局？”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与 while 的区别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可能一次也不执行；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do-while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至少执行一次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 (score &lt; 0 || score &gt; 100)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版本需要先给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score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一个非法初值才能进循环——不如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do-while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自然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while 与 do-while 对比：同一个任务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5486400" cy="38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while </a:t>
            </a:r>
            <a:r>
              <a:rPr kumimoji="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版本：先判断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输入一个正整数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: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n;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(n &lt;=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{ 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若一开始就合法，一次都不进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必须是正整数，重输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: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n;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读入语句写了两遍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17920" y="1143000"/>
            <a:ext cx="5486400" cy="38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do-while </a:t>
            </a:r>
            <a:r>
              <a:rPr kumimoji="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版本：先执行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输入一个正整数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: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n;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(n &lt;=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);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至少读一次，不合法就再读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读入语句只写一遍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760720"/>
            <a:ext cx="11292840" cy="6400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循环体在进入前必须先执行一次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才知道是否继续（典型：读输入再检查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）→ do-while；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循环可能一次都不执行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（典型：计数、遍历、哨兵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）→ while。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两者可以互相改写，选让代码更清楚的那个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altLang="zh-CN"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for</a:t>
            </a:r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循环：语法与流程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5120640" cy="2360596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B0F0"/>
                </a:solidFill>
                <a:latin typeface="Arial Unicode MS"/>
                <a:ea typeface="Menlo"/>
              </a:rPr>
              <a:t>for</a:t>
            </a:r>
            <a:r>
              <a:rPr lang="en-US" altLang="zh-CN" b="1" dirty="0">
                <a:solidFill>
                  <a:schemeClr val="bg1"/>
                </a:solidFill>
                <a:latin typeface="Arial Unicode MS"/>
                <a:ea typeface="Menlo"/>
              </a:rPr>
              <a:t>( 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Menlo"/>
              </a:rPr>
              <a:t>初始化表达式; 条件表达式; 更新表达式</a:t>
            </a:r>
            <a:r>
              <a:rPr lang="en-US" altLang="zh-CN" dirty="0">
                <a:solidFill>
                  <a:schemeClr val="bg1"/>
                </a:solidFill>
                <a:latin typeface="Arial Unicode MS"/>
                <a:ea typeface="Menlo"/>
              </a:rPr>
              <a:t> </a:t>
            </a:r>
            <a:r>
              <a:rPr lang="zh-CN" altLang="zh-CN" dirty="0">
                <a:solidFill>
                  <a:schemeClr val="bg1"/>
                </a:solidFill>
                <a:latin typeface="Arial Unicode MS"/>
                <a:ea typeface="Menlo"/>
              </a:rPr>
              <a:t>)</a:t>
            </a:r>
            <a:endParaRPr lang="en-US" altLang="zh-CN" dirty="0">
              <a:solidFill>
                <a:schemeClr val="bg1"/>
              </a:solidFill>
              <a:latin typeface="Arial Unicode MS"/>
              <a:ea typeface="Menlo"/>
            </a:endParaRPr>
          </a:p>
          <a:p>
            <a:pPr>
              <a:lnSpc>
                <a:spcPct val="150000"/>
              </a:lnSpc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{</a:t>
            </a: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b="0" i="1" dirty="0">
                <a:solidFill>
                  <a:srgbClr val="6A9955"/>
                </a:solidFill>
                <a:latin typeface="Consolas"/>
                <a:ea typeface="微软雅黑"/>
              </a:rPr>
              <a:t>// </a:t>
            </a:r>
            <a:r>
              <a:rPr b="0" i="1" dirty="0" err="1">
                <a:solidFill>
                  <a:srgbClr val="6A9955"/>
                </a:solidFill>
                <a:latin typeface="Consolas"/>
                <a:ea typeface="微软雅黑"/>
              </a:rPr>
              <a:t>循环体</a:t>
            </a:r>
            <a:endParaRPr b="0" i="1" dirty="0">
              <a:solidFill>
                <a:srgbClr val="6A9955"/>
              </a:solidFill>
              <a:latin typeface="Consolas"/>
              <a:ea typeface="微软雅黑"/>
            </a:endParaRPr>
          </a:p>
          <a:p>
            <a:pPr algn="l">
              <a:lnSpc>
                <a:spcPct val="150000"/>
              </a:lnSpc>
              <a:buNone/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    </a:t>
            </a:r>
            <a:r>
              <a:rPr b="0" i="0" dirty="0" err="1">
                <a:solidFill>
                  <a:srgbClr val="D4D4D4"/>
                </a:solidFill>
                <a:latin typeface="Consolas"/>
                <a:ea typeface="微软雅黑"/>
              </a:rPr>
              <a:t>语句</a:t>
            </a: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;</a:t>
            </a:r>
          </a:p>
          <a:p>
            <a:pPr>
              <a:lnSpc>
                <a:spcPct val="150000"/>
              </a:lnSpc>
            </a:pPr>
            <a:r>
              <a:rPr b="0" i="0" dirty="0">
                <a:solidFill>
                  <a:srgbClr val="D4D4D4"/>
                </a:solidFill>
                <a:latin typeface="Consolas"/>
                <a:ea typeface="微软雅黑"/>
              </a:rPr>
              <a:t>}</a:t>
            </a:r>
            <a:r>
              <a:rPr lang="en-US" altLang="zh-CN" dirty="0">
                <a:solidFill>
                  <a:srgbClr val="569CD6"/>
                </a:solidFill>
                <a:latin typeface="Consolas"/>
                <a:ea typeface="微软雅黑"/>
              </a:rPr>
              <a:t> </a:t>
            </a:r>
            <a:endParaRPr b="0" i="0" dirty="0">
              <a:solidFill>
                <a:srgbClr val="D4D4D4"/>
              </a:solidFill>
              <a:latin typeface="Consolas"/>
              <a:ea typeface="微软雅黑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962643" y="1514033"/>
            <a:ext cx="1613670" cy="465484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循环变量</a:t>
            </a:r>
            <a:r>
              <a:rPr sz="1400" b="0" i="0" dirty="0" err="1">
                <a:solidFill>
                  <a:srgbClr val="262626"/>
                </a:solidFill>
                <a:latin typeface="微软雅黑"/>
                <a:ea typeface="微软雅黑"/>
              </a:rPr>
              <a:t>初始化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10" name="Connector 9"/>
          <p:cNvCxnSpPr>
            <a:cxnSpLocks/>
            <a:stCxn id="11" idx="2"/>
            <a:endCxn id="14" idx="0"/>
          </p:cNvCxnSpPr>
          <p:nvPr/>
        </p:nvCxnSpPr>
        <p:spPr>
          <a:xfrm>
            <a:off x="9769479" y="3195587"/>
            <a:ext cx="7221" cy="412146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8566482" y="2350413"/>
            <a:ext cx="2405993" cy="845174"/>
          </a:xfrm>
          <a:prstGeom prst="diamond">
            <a:avLst/>
          </a:prstGeom>
          <a:solidFill>
            <a:srgbClr val="FFF4D6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400" b="0" i="0">
                <a:solidFill>
                  <a:srgbClr val="262626"/>
                </a:solidFill>
                <a:latin typeface="微软雅黑"/>
                <a:ea typeface="微软雅黑"/>
              </a:rPr>
              <a:t>循环条件?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58437" y="3250226"/>
            <a:ext cx="96670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 dirty="0">
                <a:solidFill>
                  <a:srgbClr val="2E8B57"/>
                </a:solidFill>
                <a:latin typeface="微软雅黑"/>
                <a:ea typeface="微软雅黑"/>
              </a:rPr>
              <a:t>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24864" y="3607733"/>
            <a:ext cx="1703671" cy="476455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b="0" i="0" dirty="0" err="1">
                <a:solidFill>
                  <a:srgbClr val="262626"/>
                </a:solidFill>
                <a:latin typeface="微软雅黑"/>
                <a:ea typeface="微软雅黑"/>
              </a:rPr>
              <a:t>循环体</a:t>
            </a:r>
            <a:endParaRPr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849276" y="2350413"/>
            <a:ext cx="76346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 dirty="0">
                <a:solidFill>
                  <a:srgbClr val="C0392B"/>
                </a:solidFill>
                <a:latin typeface="微软雅黑"/>
                <a:ea typeface="微软雅黑"/>
              </a:rPr>
              <a:t>false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90899" y="5229407"/>
            <a:ext cx="1371600" cy="411286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结束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A5DCFA3D-50D0-4515-AB59-6EEF4E1A5F68}"/>
              </a:ext>
            </a:extLst>
          </p:cNvPr>
          <p:cNvCxnSpPr>
            <a:cxnSpLocks/>
            <a:stCxn id="11" idx="3"/>
            <a:endCxn id="21" idx="3"/>
          </p:cNvCxnSpPr>
          <p:nvPr/>
        </p:nvCxnSpPr>
        <p:spPr>
          <a:xfrm flipH="1">
            <a:off x="10462499" y="2773000"/>
            <a:ext cx="509976" cy="2662050"/>
          </a:xfrm>
          <a:prstGeom prst="bentConnector3">
            <a:avLst>
              <a:gd name="adj1" fmla="val -44826"/>
            </a:avLst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">
            <a:extLst>
              <a:ext uri="{FF2B5EF4-FFF2-40B4-BE49-F238E27FC236}">
                <a16:creationId xmlns:a16="http://schemas.microsoft.com/office/drawing/2014/main" id="{6D61DF27-84DE-419B-ACBB-885289F767A9}"/>
              </a:ext>
            </a:extLst>
          </p:cNvPr>
          <p:cNvCxnSpPr/>
          <p:nvPr/>
        </p:nvCxnSpPr>
        <p:spPr>
          <a:xfrm>
            <a:off x="9757450" y="1984653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矩形 15">
            <a:extLst>
              <a:ext uri="{FF2B5EF4-FFF2-40B4-BE49-F238E27FC236}">
                <a16:creationId xmlns:a16="http://schemas.microsoft.com/office/drawing/2014/main" id="{5271943B-AB3E-48BA-BF61-EFFED9726853}"/>
              </a:ext>
            </a:extLst>
          </p:cNvPr>
          <p:cNvSpPr/>
          <p:nvPr/>
        </p:nvSpPr>
        <p:spPr>
          <a:xfrm>
            <a:off x="350993" y="4009758"/>
            <a:ext cx="7832887" cy="17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初始化表达式</a:t>
            </a:r>
            <a:r>
              <a:rPr lang="zh-CN" altLang="zh-CN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：在循环开始前执行一次，用来声明并初始化</a:t>
            </a:r>
            <a:r>
              <a:rPr lang="zh-CN" altLang="zh-CN" dirty="0">
                <a:solidFill>
                  <a:srgbClr val="09408E"/>
                </a:solidFill>
                <a:latin typeface="Arial" panose="020B0604020202020204" pitchFamily="34" charset="0"/>
                <a:ea typeface="-apple-system"/>
              </a:rPr>
              <a:t>循环控制变量</a:t>
            </a:r>
            <a:r>
              <a:rPr lang="zh-CN" altLang="zh-CN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。</a:t>
            </a:r>
            <a:endParaRPr lang="en-US" altLang="zh-CN" dirty="0">
              <a:solidFill>
                <a:srgbClr val="191B1F"/>
              </a:solidFill>
              <a:latin typeface="Arial" panose="020B0604020202020204" pitchFamily="34" charset="0"/>
              <a:ea typeface="-apple-system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条件表达式</a:t>
            </a:r>
            <a:r>
              <a:rPr lang="zh-CN" altLang="zh-CN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：在每次循环迭代开始前进行判断。如果条件</a:t>
            </a:r>
            <a:r>
              <a:rPr lang="zh-CN" altLang="en-US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为真则执行循环体，否则终止循环</a:t>
            </a:r>
            <a:endParaRPr lang="en-US" altLang="zh-CN" dirty="0">
              <a:solidFill>
                <a:srgbClr val="191B1F"/>
              </a:solidFill>
              <a:latin typeface="Arial" panose="020B0604020202020204" pitchFamily="34" charset="0"/>
              <a:ea typeface="-apple-system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b="1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更新表达式</a:t>
            </a:r>
            <a:r>
              <a:rPr lang="zh-CN" altLang="zh-CN" dirty="0">
                <a:solidFill>
                  <a:srgbClr val="191B1F"/>
                </a:solidFill>
                <a:latin typeface="Arial" panose="020B0604020202020204" pitchFamily="34" charset="0"/>
                <a:ea typeface="-apple-system"/>
              </a:rPr>
              <a:t>：在每次循环体执行完毕后执行，更新循环控制变量的值</a:t>
            </a:r>
          </a:p>
        </p:txBody>
      </p:sp>
      <p:sp>
        <p:nvSpPr>
          <p:cNvPr id="47" name="Rectangle 13">
            <a:extLst>
              <a:ext uri="{FF2B5EF4-FFF2-40B4-BE49-F238E27FC236}">
                <a16:creationId xmlns:a16="http://schemas.microsoft.com/office/drawing/2014/main" id="{3733A7F6-4708-4516-9E90-D3313335221C}"/>
              </a:ext>
            </a:extLst>
          </p:cNvPr>
          <p:cNvSpPr/>
          <p:nvPr/>
        </p:nvSpPr>
        <p:spPr>
          <a:xfrm>
            <a:off x="9111113" y="4441556"/>
            <a:ext cx="1371597" cy="476455"/>
          </a:xfrm>
          <a:prstGeom prst="rect">
            <a:avLst/>
          </a:prstGeom>
          <a:solidFill>
            <a:srgbClr val="E8F0F8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lang="zh-CN" altLang="en-US" sz="1400" b="0" i="0" dirty="0">
                <a:solidFill>
                  <a:srgbClr val="262626"/>
                </a:solidFill>
                <a:latin typeface="微软雅黑"/>
                <a:ea typeface="微软雅黑"/>
              </a:rPr>
              <a:t>更新循环变量</a:t>
            </a:r>
            <a:endParaRPr sz="1400" b="0" i="0" dirty="0">
              <a:solidFill>
                <a:srgbClr val="262626"/>
              </a:solidFill>
              <a:latin typeface="微软雅黑"/>
              <a:ea typeface="微软雅黑"/>
            </a:endParaRPr>
          </a:p>
        </p:txBody>
      </p:sp>
      <p:cxnSp>
        <p:nvCxnSpPr>
          <p:cNvPr id="48" name="Connector 9">
            <a:extLst>
              <a:ext uri="{FF2B5EF4-FFF2-40B4-BE49-F238E27FC236}">
                <a16:creationId xmlns:a16="http://schemas.microsoft.com/office/drawing/2014/main" id="{18F772C2-2337-495C-9B61-F0640D5259F0}"/>
              </a:ext>
            </a:extLst>
          </p:cNvPr>
          <p:cNvCxnSpPr/>
          <p:nvPr/>
        </p:nvCxnSpPr>
        <p:spPr>
          <a:xfrm>
            <a:off x="9796912" y="4084322"/>
            <a:ext cx="0" cy="365760"/>
          </a:xfrm>
          <a:prstGeom prst="line">
            <a:avLst/>
          </a:prstGeom>
          <a:ln w="22225">
            <a:solidFill>
              <a:srgbClr val="1F3A5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7A5AAA22-AEBE-432F-AC17-72D992EA80F8}"/>
              </a:ext>
            </a:extLst>
          </p:cNvPr>
          <p:cNvCxnSpPr>
            <a:cxnSpLocks/>
            <a:stCxn id="11" idx="1"/>
            <a:endCxn id="47" idx="1"/>
          </p:cNvCxnSpPr>
          <p:nvPr/>
        </p:nvCxnSpPr>
        <p:spPr>
          <a:xfrm rot="10800000" flipH="1" flipV="1">
            <a:off x="8566481" y="2773000"/>
            <a:ext cx="544631" cy="1906784"/>
          </a:xfrm>
          <a:prstGeom prst="bentConnector3">
            <a:avLst>
              <a:gd name="adj1" fmla="val -41973"/>
            </a:avLst>
          </a:prstGeom>
          <a:ln w="2222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61176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for </a:t>
            </a: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循环：把三要素写在一行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/>
              <a:ea typeface="华文中宋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640080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初始化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条件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更新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循环体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执行顺序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：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  ①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初始化（只做一次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  ②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判断条件，false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则结束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  ③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执行循环体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  ④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执行更新，回到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②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 {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等价于左页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while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版本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sum +=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循环结束后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已不可见（作用域只在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for 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234440"/>
            <a:ext cx="4693615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把初始化、条件、更新集中在括号里，一眼看清循环怎么走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条件在循环体之前判断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，与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一样，可能一次也不执行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更新语句在</a:t>
            </a: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循环体之后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执行，所以循环体里读到的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还没加 1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 </a:t>
            </a: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括号里声明的变量，作用域仅限该循环——循环外不能再用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什么时候用 for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循环次数已知</a:t>
            </a:r>
            <a:r>
              <a:rPr kumimoji="0" sz="1500" b="0" i="0" u="none" strike="noStrike" kern="120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或可以由变量算出：从 1 到 n、遍历字符串每个字符、重复 k 次</a:t>
            </a: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for 与 while 完全等价，选更清楚的写法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for 循环的常见形态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995622"/>
            <a:ext cx="5486400" cy="38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基本用法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5532120" cy="411480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1) 从 1 到 n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累加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sum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&lt;= n;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 sum +=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2)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步长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2：1 3 5 7 9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+=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2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3) 倒序：10 9 8 ... 1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--)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4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累乘：n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!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long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long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fact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2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&lt;= n;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 fact *=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969745"/>
            <a:ext cx="5486400" cy="3861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变形与注意点</a:t>
            </a:r>
            <a:endParaRPr kumimoji="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217920" y="1381818"/>
            <a:ext cx="5532120" cy="4287462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多个变量同时变化（逗号分隔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j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j;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++, j--)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","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j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6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省略部分：初始化放外面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k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(; k 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k++) { }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k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5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7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三部分全省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无限循环，靠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break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退出（下一讲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for (;;) { ... }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lang="en-US" altLang="zh-CN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8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常见错误：多写一个分号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空循环体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！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只打印一次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</a:t>
            </a:r>
            <a:r>
              <a:rPr lang="en-US" altLang="zh-CN" sz="1400" i="1" dirty="0">
                <a:solidFill>
                  <a:srgbClr val="6A9955"/>
                </a:solidFill>
                <a:latin typeface="Consolas"/>
                <a:ea typeface="微软雅黑"/>
              </a:rPr>
              <a:t>9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循环体里不要改控制变量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for (int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0;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10;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 {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+= 2; }  </a:t>
            </a:r>
            <a:r>
              <a:rPr kumimoji="0" sz="1400" b="0" i="1" u="none" strike="noStrike" kern="1200" cap="none" spc="0" normalizeH="0" baseline="0" noProof="0" dirty="0" err="1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难以理解</a:t>
            </a: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7200" y="5760720"/>
            <a:ext cx="11292840" cy="640080"/>
          </a:xfrm>
          <a:prstGeom prst="roundRect">
            <a:avLst>
              <a:gd name="adj" fmla="val 6000"/>
            </a:avLst>
          </a:prstGeom>
          <a:solidFill>
            <a:srgbClr val="FFF4D6"/>
          </a:solidFill>
          <a:ln w="19050">
            <a:solidFill>
              <a:srgbClr val="E883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形态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lang="en-US" altLang="zh-CN" sz="1400" dirty="0">
                <a:solidFill>
                  <a:srgbClr val="262626"/>
                </a:solidFill>
                <a:latin typeface="微软雅黑"/>
                <a:ea typeface="微软雅黑"/>
              </a:rPr>
              <a:t>9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是极常见的隐蔽错误：for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后面直接加分号，循环体变空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三种循环怎么选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/>
              <a:ea typeface="华文中宋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546861"/>
              </p:ext>
            </p:extLst>
          </p:nvPr>
        </p:nvGraphicFramePr>
        <p:xfrm>
          <a:off x="457199" y="1280160"/>
          <a:ext cx="10577945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0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02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02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4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2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循环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何时判断条件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至少执行次数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典型场景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例子</a:t>
                      </a:r>
                      <a:endParaRPr sz="14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while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进入前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 次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次数未知，条件驱动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猜数字、哨兵值输入、读文件到末尾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do-while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执行后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 次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先做一次再决定是否重复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输入校验、菜单、再来一局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for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进入前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0 次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次数已知或可计算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1～n </a:t>
                      </a:r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累加、遍历字符串、重复</a:t>
                      </a:r>
                      <a:r>
                        <a:rPr sz="1400" b="0" i="0" dirty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 k 次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3137" y="3239358"/>
            <a:ext cx="11645760" cy="28755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三者可以互相改写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indent="-285750">
              <a:lnSpc>
                <a:spcPct val="115000"/>
              </a:lnSpc>
              <a:spcAft>
                <a:spcPts val="600"/>
              </a:spcAft>
              <a:buFontTx/>
              <a:buChar char="–"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 (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init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cond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upd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body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≡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init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while (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cond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{body;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upd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;}</a:t>
            </a:r>
            <a:r>
              <a:rPr lang="en-US" altLang="zh-CN" sz="1500" dirty="0">
                <a:solidFill>
                  <a:srgbClr val="262626"/>
                </a:solidFill>
                <a:latin typeface="微软雅黑"/>
                <a:ea typeface="微软雅黑"/>
              </a:rPr>
              <a:t> ≡ </a:t>
            </a:r>
            <a:r>
              <a:rPr lang="en-US" altLang="zh-CN" sz="1600" dirty="0" err="1">
                <a:solidFill>
                  <a:srgbClr val="8E2A2A"/>
                </a:solidFill>
                <a:latin typeface="Consolas"/>
                <a:ea typeface="微软雅黑"/>
              </a:rPr>
              <a:t>init</a:t>
            </a: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; do{</a:t>
            </a:r>
            <a:r>
              <a:rPr lang="en-US" altLang="zh-CN" sz="1600" dirty="0" err="1">
                <a:solidFill>
                  <a:srgbClr val="8E2A2A"/>
                </a:solidFill>
                <a:latin typeface="Consolas"/>
                <a:ea typeface="微软雅黑"/>
              </a:rPr>
              <a:t>body;upd</a:t>
            </a: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;} while (</a:t>
            </a:r>
            <a:r>
              <a:rPr lang="en-US" altLang="zh-CN" sz="1600" dirty="0" err="1">
                <a:solidFill>
                  <a:srgbClr val="8E2A2A"/>
                </a:solidFill>
                <a:latin typeface="Consolas"/>
                <a:ea typeface="微软雅黑"/>
              </a:rPr>
              <a:t>cond</a:t>
            </a:r>
            <a:r>
              <a:rPr lang="en-US" altLang="zh-CN" sz="1600" dirty="0">
                <a:solidFill>
                  <a:srgbClr val="8E2A2A"/>
                </a:solidFill>
                <a:latin typeface="Consolas"/>
                <a:ea typeface="微软雅黑"/>
              </a:rPr>
              <a:t>);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8E2A2A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选择的标准是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可读性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：让读代码的人一眼看出循环意图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经验法则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看到“重复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n 次 / 从 a 到 b”→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看到“直到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…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为止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”→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看到“先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…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然后看要不要再来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”→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do-while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8E2A2A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初学者最常犯</a:t>
            </a:r>
            <a:r>
              <a:rPr lang="zh-CN" altLang="en-US" sz="1500" b="1" dirty="0">
                <a:solidFill>
                  <a:srgbClr val="E8833A"/>
                </a:solidFill>
                <a:latin typeface="微软雅黑"/>
                <a:ea typeface="微软雅黑"/>
              </a:rPr>
              <a:t>错误：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三要素缺一个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914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循环的常见“模式”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268460"/>
              </p:ext>
            </p:extLst>
          </p:nvPr>
        </p:nvGraphicFramePr>
        <p:xfrm>
          <a:off x="457200" y="1280160"/>
          <a:ext cx="694944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任务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循环前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循环体</a:t>
                      </a:r>
                      <a:endParaRPr sz="16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循环后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计数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count = 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满足条件时 count++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count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sum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sum += 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sum / 平均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累乘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prod = 1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prod *= x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prod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求最大值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mx = 第一个数 或极小值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if (x &gt; mx) mx = 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输出 mx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逐位处理整数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读入 n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digit = n % 10; n /= 10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n 为 0 时结束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逐字符处理字符串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读入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s[i] 判断/转换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 到 s.length()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哨兵输入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先读一个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处理；再读一个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遇哨兵值停</a:t>
                      </a:r>
                      <a:endParaRPr sz="1400" b="0" i="0" dirty="0">
                        <a:solidFill>
                          <a:srgbClr val="262626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80960" y="1280160"/>
            <a:ext cx="4114800" cy="28292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7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写循环的顺序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先想清楚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循环体做一遍是什么</a:t>
            </a:r>
            <a:endParaRPr kumimoji="0" sz="1500" b="1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再想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循环前要准备什么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（初始化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</a:p>
          <a:p>
            <a:pPr marL="7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最后想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什么时候停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（条件）以及</a:t>
            </a: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怎么让它停</a:t>
            </a:r>
            <a:r>
              <a:rPr kumimoji="0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（更新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）</a:t>
            </a:r>
          </a:p>
          <a:p>
            <a:pPr marL="34290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累加器初值是</a:t>
            </a:r>
            <a:r>
              <a:rPr kumimoji="0" sz="1500" b="1" i="0" u="none" strike="noStrike" kern="1200" cap="none" spc="0" normalizeH="0" baseline="0" noProof="0" dirty="0">
                <a:ln>
                  <a:noFill/>
                </a:ln>
                <a:solidFill>
                  <a:srgbClr val="E8833A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0，累乘器初值是 1，求最大用第一个元素做初值最稳妥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思考与练习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/>
              <a:ea typeface="华文中宋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1234440"/>
            <a:ext cx="11232573" cy="350012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问题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0; while (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5)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++;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输出什么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 (int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0;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10;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+= 3)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输出什么？循环几次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 { … } while (x &gt; 0)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与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 (x &gt; 0) { … }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在什么情况下结果不同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累加求和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sum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忘了初始化，会怎样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 (n &gt; 0) { n /= 10; }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对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 = 0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循环几次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为什么不建议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4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 (double x = 0; x != 1.0; x += 0.1)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思考与练习：读程序写</a:t>
            </a:r>
            <a:r>
              <a:rPr kumimoji="0" lang="zh-CN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结果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（while）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137" y="816703"/>
            <a:ext cx="6766560" cy="5611529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using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namespace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std;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sum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sum +=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+=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3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sum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①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(n &lt;=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n *=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2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n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    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②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a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20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b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8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(b !=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r = a % b;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a = b;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b = r;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a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    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③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return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234440"/>
            <a:ext cx="4327855" cy="19620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问题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写出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①～③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的输出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 ①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段循环执行了几次？退出时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为什么不是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10？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 ③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段算的是什么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思考与练习：读程序写输出（for</a:t>
            </a:r>
            <a:r>
              <a:rPr kumimoji="0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188720"/>
            <a:ext cx="6766560" cy="5166360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using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namespace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std;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i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i &lt;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i++)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cout &lt;&lt; i * i &lt;&lt;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 "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cout &lt;&lt; endl;                          </a:t>
            </a: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①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1" u="none" strike="noStrike" kern="1200" cap="none" spc="0" normalizeH="0" baseline="0" noProof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p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k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k &lt;=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k++) p *= k;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cout &lt;&lt; p &lt;&lt; endl;                     </a:t>
            </a: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②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1" u="none" strike="noStrike" kern="1200" cap="none" spc="0" normalizeH="0" baseline="0" noProof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cnt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x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x &gt;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x -=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4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cnt++;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cout &lt;&lt; cnt &lt;&lt; endl;                   </a:t>
            </a: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③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1" u="none" strike="noStrike" kern="1200" cap="none" spc="0" normalizeH="0" baseline="0" noProof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i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i &lt;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3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i++);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cout &lt;&lt;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"hi "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cout &lt;&lt; endl;                          </a:t>
            </a: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④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1" u="none" strike="noStrike" kern="1200" cap="none" spc="0" normalizeH="0" baseline="0" noProof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i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j =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i &lt; j; i++, j--) s += j - i;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cout &lt;&lt; s &lt;&lt; endl;                     </a:t>
            </a:r>
            <a:r>
              <a:rPr kumimoji="0" sz="1200" b="0" i="1" u="none" strike="noStrike" kern="1200" cap="none" spc="0" normalizeH="0" baseline="0" noProof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⑤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return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1234440"/>
            <a:ext cx="4327855" cy="17822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问题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写出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①～⑤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的输出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 ④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段有什么“坑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”？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 ⑤ 段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i、j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各取了哪些值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256252"/>
            <a:ext cx="1033272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思考与练习：读程序写输出（do-while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 </a:t>
            </a:r>
            <a:r>
              <a:rPr kumimoji="0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与数位</a:t>
            </a:r>
            <a:r>
              <a:rPr kumimoji="0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874234"/>
            <a:ext cx="6766560" cy="5553777"/>
          </a:xfrm>
          <a:prstGeom prst="roundRect">
            <a:avLst>
              <a:gd name="adj" fmla="val 3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0" tIns="109728" rIns="182880" bIns="109728" rtlCol="0" anchor="t"/>
          <a:lstStyle/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586C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#include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&lt;iostream&gt;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using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namespace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std;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D4D4D4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main()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n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n /=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}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(n &gt;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  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①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m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3072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odd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, even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(m &gt;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if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(m %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2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 odd++;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else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even++;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    m /=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10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}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odd &lt;&lt;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CE917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" "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even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②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400" b="0" i="1" u="none" strike="noStrike" kern="1200" cap="none" spc="0" normalizeH="0" baseline="0" noProof="0" dirty="0">
              <a:ln>
                <a:noFill/>
              </a:ln>
              <a:solidFill>
                <a:srgbClr val="6A9955"/>
              </a:solidFill>
              <a:effectLst/>
              <a:uLnTx/>
              <a:uFillTx/>
              <a:latin typeface="Consolas"/>
              <a:ea typeface="微软雅黑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4EC9B0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x 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5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{ x -=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2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}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(x &gt;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);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x &lt;&lt; </a:t>
            </a:r>
            <a:r>
              <a:rPr kumimoji="0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endl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                    </a:t>
            </a:r>
            <a:r>
              <a:rPr kumimoji="0" sz="1400" b="0" i="1" u="none" strike="noStrike" kern="1200" cap="none" spc="0" normalizeH="0" baseline="0" noProof="0" dirty="0">
                <a:ln>
                  <a:noFill/>
                </a:ln>
                <a:solidFill>
                  <a:srgbClr val="6A9955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// ③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  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569CD6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return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B5CEA8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0</a:t>
            </a: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D4D4D4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2446904"/>
            <a:ext cx="4602175" cy="1964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问题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写出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①～③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的输出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 ①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段若把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do-while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改成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while，输出会变成多少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第 ②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段的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m % 2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r>
              <a:rPr kumimoji="0" b="0" i="0" u="none" strike="noStrike" kern="1200" cap="none" spc="0" normalizeH="0" baseline="0" noProof="0" dirty="0" err="1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是在判断什么</a:t>
            </a:r>
            <a:r>
              <a:rPr kumimoji="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？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思考与练习：找错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/>
              <a:ea typeface="华文中宋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199" y="1234440"/>
            <a:ext cx="10837719" cy="3078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  <a:defRPr/>
            </a:pPr>
            <a:r>
              <a:rPr kumimoji="0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1F3A5F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问题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1F3A5F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①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 sum; for (int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1;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&lt;= 10;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 sum +=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②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int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0; while (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10) {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}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③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while (x = 5) { … }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④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for (int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= 0;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 10;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++); {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cout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&lt;&lt;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i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; }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⑤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double t = 0; while (t != 1.0) t += 0.1;</a:t>
            </a:r>
          </a:p>
          <a:p>
            <a:pPr marL="742900" marR="0" lvl="0" indent="-28575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Char char="–"/>
              <a:tabLst/>
              <a:defRPr/>
            </a:pP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⑥ 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do { </a:t>
            </a:r>
            <a:r>
              <a:rPr kumimoji="0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cin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8E2A2A"/>
                </a:solidFill>
                <a:effectLst/>
                <a:uLnTx/>
                <a:uFillTx/>
                <a:latin typeface="Consolas"/>
                <a:ea typeface="微软雅黑"/>
                <a:cs typeface="+mn-cs"/>
              </a:rPr>
              <a:t> &gt;&gt; n; } while (n &lt; 0)</a:t>
            </a:r>
            <a: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262626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/>
                <a:ea typeface="华文中宋"/>
                <a:cs typeface="+mn-cs"/>
              </a:rPr>
              <a:t>常见错误</a:t>
            </a:r>
            <a:endParaRPr kumimoji="0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/>
              <a:ea typeface="华文中宋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华文楷体"/>
                <a:cs typeface="+mn-cs"/>
              </a:rPr>
              <a:t>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3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4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1" i="0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错误写法</a:t>
                      </a:r>
                      <a:endParaRPr sz="160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问题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正确写法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int sum; while (...) sum += x;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累加器未初始化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int sum = 0;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while (i &lt; 10) { cout &lt;&lt; i; 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缺少更新，死循环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循环体内加 i++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while (x = 5)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赋值当条件，恒真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while (x == 5)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for (int i = 0; i &lt; n; i++);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多余分号，循环体为空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去掉分号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for (double d = 0; d != 1; d += 0.1)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浮点不精确，死循环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for (int k = 0; k &lt; 10; k++)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do { ... } while (cond)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缺少分号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do { ... } while (cond);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while (!in.eof()) { in &gt;&gt; x; ... }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末尾多处理一次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while (in &gt;&gt; x) { ... }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for (int i = 0; ...) {}  cout &lt;&lt; i;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i 在循环外不可见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把 i 声明在 for 之前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cout &lt;&lt; "请输入:";  （OJ 提交）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</a:rPr>
                        <a:t>多余输出导致 WA</a:t>
                      </a: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 dirty="0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OJ </a:t>
                      </a:r>
                      <a:r>
                        <a:rPr sz="1600" b="0" i="0" dirty="0" err="1">
                          <a:solidFill>
                            <a:srgbClr val="262626"/>
                          </a:solidFill>
                          <a:latin typeface="Consolas"/>
                          <a:ea typeface="微软雅黑"/>
                        </a:rPr>
                        <a:t>上不输出提示语</a:t>
                      </a:r>
                      <a:endParaRPr sz="1600" b="0" i="0" dirty="0">
                        <a:solidFill>
                          <a:srgbClr val="262626"/>
                        </a:solidFill>
                        <a:latin typeface="Consolas"/>
                        <a:ea typeface="微软雅黑"/>
                      </a:endParaRPr>
                    </a:p>
                  </a:txBody>
                  <a:tcPr anchor="ctr"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72" y="256032"/>
            <a:ext cx="201168" cy="585216"/>
          </a:xfrm>
          <a:prstGeom prst="rect">
            <a:avLst/>
          </a:prstGeom>
          <a:solidFill>
            <a:srgbClr val="005D9D"/>
          </a:solidFill>
          <a:ln>
            <a:solidFill>
              <a:srgbClr val="005D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94697"/>
            <a:ext cx="1033272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000" b="0" i="0" dirty="0" err="1">
                <a:solidFill>
                  <a:srgbClr val="000000"/>
                </a:solidFill>
                <a:latin typeface="华文中宋"/>
                <a:ea typeface="华文中宋"/>
              </a:rPr>
              <a:t>课堂编程练习</a:t>
            </a:r>
            <a:r>
              <a:rPr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：</a:t>
            </a:r>
            <a:r>
              <a:rPr lang="zh-CN" altLang="en-US" sz="4000" b="0" i="0" dirty="0">
                <a:solidFill>
                  <a:srgbClr val="000000"/>
                </a:solidFill>
                <a:latin typeface="华文中宋"/>
                <a:ea typeface="华文中宋"/>
              </a:rPr>
              <a:t>最大值、最小值、和</a:t>
            </a:r>
            <a:endParaRPr sz="4000" b="0" i="0" dirty="0">
              <a:solidFill>
                <a:srgbClr val="000000"/>
              </a:solidFill>
              <a:latin typeface="华文中宋"/>
              <a:ea typeface="华文中宋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6428232"/>
            <a:ext cx="2011680" cy="283464"/>
          </a:xfrm>
          <a:prstGeom prst="rect">
            <a:avLst/>
          </a:prstGeom>
          <a:solidFill>
            <a:srgbClr val="005D9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002536" y="6428232"/>
            <a:ext cx="8211312" cy="283464"/>
          </a:xfrm>
          <a:prstGeom prst="rect">
            <a:avLst/>
          </a:prstGeom>
          <a:solidFill>
            <a:srgbClr val="005D9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程序设计原理 天津大学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00132" y="6428232"/>
            <a:ext cx="1991563" cy="283464"/>
          </a:xfrm>
          <a:prstGeom prst="rect">
            <a:avLst/>
          </a:prstGeom>
          <a:solidFill>
            <a:srgbClr val="005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600" b="0" i="0">
                <a:solidFill>
                  <a:srgbClr val="FFFFFF"/>
                </a:solidFill>
                <a:latin typeface="Times New Roman"/>
                <a:ea typeface="华文楷体"/>
              </a:rPr>
              <a:t>28</a:t>
            </a: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id="{279CB5C2-CEED-44DE-A495-AD90B6C02854}"/>
              </a:ext>
            </a:extLst>
          </p:cNvPr>
          <p:cNvSpPr/>
          <p:nvPr/>
        </p:nvSpPr>
        <p:spPr>
          <a:xfrm>
            <a:off x="384047" y="1120776"/>
            <a:ext cx="6868807" cy="489364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Min, Max and Sum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Write a program which reads a sequence of n integers a</a:t>
            </a:r>
            <a:r>
              <a:rPr lang="zh-CN" altLang="en-US" sz="2400" b="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(i=1,2,...n), and prints the minimum value, maximum value and sum of the sequence.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Input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In the first line, an integer n is given. In the next line, n integers a</a:t>
            </a:r>
            <a:r>
              <a:rPr lang="zh-CN" altLang="en-US" sz="2400" b="0" baseline="-25000" dirty="0">
                <a:solidFill>
                  <a:schemeClr val="tx1"/>
                </a:solidFill>
                <a:latin typeface="Times New Roman" panose="02020603050405020304" pitchFamily="18" charset="0"/>
              </a:rPr>
              <a:t>i</a:t>
            </a: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 are given in a line.</a:t>
            </a:r>
            <a:endParaRPr lang="en-US" altLang="zh-CN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0&lt;n≤10000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−1000000≤ai≤1000000</a:t>
            </a:r>
          </a:p>
          <a:p>
            <a:pPr marL="0" indent="0">
              <a:spcBef>
                <a:spcPct val="0"/>
              </a:spcBef>
              <a:buClrTx/>
              <a:buNone/>
            </a:pPr>
            <a:endParaRPr lang="zh-CN" altLang="en-US" sz="2400" b="0" dirty="0">
              <a:solidFill>
                <a:schemeClr val="tx1"/>
              </a:solidFill>
              <a:latin typeface="Times New Roman" panose="02020603050405020304" pitchFamily="18" charset="0"/>
            </a:endParaRP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Output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Print the minimum value, maximum value and sum in a line. Put a single space between the values.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D9980D84-AF45-4BED-9A87-0D3764BCE1E6}"/>
              </a:ext>
            </a:extLst>
          </p:cNvPr>
          <p:cNvSpPr/>
          <p:nvPr/>
        </p:nvSpPr>
        <p:spPr>
          <a:xfrm>
            <a:off x="7768936" y="2680999"/>
            <a:ext cx="3657600" cy="193899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Font typeface="Wingdings" panose="05000000000000000000" pitchFamily="2" charset="2"/>
              <a:buChar char="Ø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l"/>
              <a:defRPr sz="28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33CC"/>
              </a:buClr>
              <a:buChar char="•"/>
              <a:defRPr sz="24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rgbClr val="000099"/>
                </a:solidFill>
                <a:latin typeface="+mn-lt"/>
                <a:ea typeface="+mn-ea"/>
                <a:cs typeface="楷体_GB2312"/>
              </a:defRPr>
            </a:lvl5pPr>
          </a:lstStyle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Input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5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10 1 5 4 17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dirty="0">
                <a:solidFill>
                  <a:schemeClr val="tx1"/>
                </a:solidFill>
                <a:latin typeface="Times New Roman" panose="02020603050405020304" pitchFamily="18" charset="0"/>
              </a:rPr>
              <a:t>Sample Output</a:t>
            </a:r>
          </a:p>
          <a:p>
            <a:pPr marL="0" indent="0">
              <a:spcBef>
                <a:spcPct val="0"/>
              </a:spcBef>
              <a:buClrTx/>
              <a:buNone/>
            </a:pPr>
            <a:r>
              <a:rPr lang="zh-CN" altLang="en-US" sz="2400" b="0" dirty="0">
                <a:solidFill>
                  <a:schemeClr val="tx1"/>
                </a:solidFill>
                <a:latin typeface="Times New Roman" panose="02020603050405020304" pitchFamily="18" charset="0"/>
              </a:rPr>
              <a:t>1 17 37</a:t>
            </a:r>
          </a:p>
        </p:txBody>
      </p:sp>
    </p:spTree>
    <p:extLst>
      <p:ext uri="{BB962C8B-B14F-4D97-AF65-F5344CB8AC3E}">
        <p14:creationId xmlns:p14="http://schemas.microsoft.com/office/powerpoint/2010/main" val="2380733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方正正纤黑简体"/>
        <a:cs typeface=""/>
      </a:majorFont>
      <a:minorFont>
        <a:latin typeface="Arial"/>
        <a:ea typeface="方正正纤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2642</TotalTime>
  <Words>5232</Words>
  <Application>Microsoft Office PowerPoint</Application>
  <PresentationFormat>宽屏</PresentationFormat>
  <Paragraphs>896</Paragraphs>
  <Slides>34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4" baseType="lpstr">
      <vt:lpstr>-apple-system</vt:lpstr>
      <vt:lpstr>Arial Unicode MS</vt:lpstr>
      <vt:lpstr>Menlo</vt:lpstr>
      <vt:lpstr>Noto Sans SC</vt:lpstr>
      <vt:lpstr>Roboto Mono</vt:lpstr>
      <vt:lpstr>方正正纤黑简体</vt:lpstr>
      <vt:lpstr>华文仿宋</vt:lpstr>
      <vt:lpstr>华文楷体</vt:lpstr>
      <vt:lpstr>华文中宋</vt:lpstr>
      <vt:lpstr>楷体_GB2312</vt:lpstr>
      <vt:lpstr>宋体</vt:lpstr>
      <vt:lpstr>微软雅黑</vt:lpstr>
      <vt:lpstr>Arial</vt:lpstr>
      <vt:lpstr>Calibri</vt:lpstr>
      <vt:lpstr>Cascadia Code</vt:lpstr>
      <vt:lpstr>Consolas</vt:lpstr>
      <vt:lpstr>Courier New</vt:lpstr>
      <vt:lpstr>Times New Roman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张童</dc:creator>
  <cp:lastModifiedBy>xuewei</cp:lastModifiedBy>
  <cp:revision>432</cp:revision>
  <dcterms:created xsi:type="dcterms:W3CDTF">2016-04-28T00:01:00Z</dcterms:created>
  <dcterms:modified xsi:type="dcterms:W3CDTF">2026-10-20T00:25:44Z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FC1D5CD577274636A2918583CF8CBF48_13</vt:lpwstr>
  </property>
  <property fmtid="{D5CDD505-2E9C-101B-9397-08002B2CF9AE}" pid="3" name="KSOProductBuildVer">
    <vt:lpwstr>2052-12.1.0.23542</vt:lpwstr>
  </property>
</Properties>
</file>