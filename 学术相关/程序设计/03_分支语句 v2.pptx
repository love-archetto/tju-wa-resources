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2"/>
  </p:notesMasterIdLst>
  <p:sldIdLst>
    <p:sldId id="257" r:id="rId2"/>
    <p:sldId id="587" r:id="rId3"/>
    <p:sldId id="588" r:id="rId4"/>
    <p:sldId id="592" r:id="rId5"/>
    <p:sldId id="593" r:id="rId6"/>
    <p:sldId id="594" r:id="rId7"/>
    <p:sldId id="491" r:id="rId8"/>
    <p:sldId id="595" r:id="rId9"/>
    <p:sldId id="493" r:id="rId10"/>
    <p:sldId id="597" r:id="rId11"/>
    <p:sldId id="598" r:id="rId12"/>
    <p:sldId id="599" r:id="rId13"/>
    <p:sldId id="600" r:id="rId14"/>
    <p:sldId id="586" r:id="rId15"/>
    <p:sldId id="602" r:id="rId16"/>
    <p:sldId id="601" r:id="rId17"/>
    <p:sldId id="603" r:id="rId18"/>
    <p:sldId id="604" r:id="rId19"/>
    <p:sldId id="605" r:id="rId20"/>
    <p:sldId id="513" r:id="rId21"/>
    <p:sldId id="514" r:id="rId22"/>
    <p:sldId id="515" r:id="rId23"/>
    <p:sldId id="607" r:id="rId24"/>
    <p:sldId id="606" r:id="rId25"/>
    <p:sldId id="619" r:id="rId26"/>
    <p:sldId id="608" r:id="rId27"/>
    <p:sldId id="496" r:id="rId28"/>
    <p:sldId id="497" r:id="rId29"/>
    <p:sldId id="609" r:id="rId30"/>
    <p:sldId id="610" r:id="rId31"/>
    <p:sldId id="611" r:id="rId32"/>
    <p:sldId id="612" r:id="rId33"/>
    <p:sldId id="613" r:id="rId34"/>
    <p:sldId id="614" r:id="rId35"/>
    <p:sldId id="615" r:id="rId36"/>
    <p:sldId id="620" r:id="rId37"/>
    <p:sldId id="616" r:id="rId38"/>
    <p:sldId id="617" r:id="rId39"/>
    <p:sldId id="618" r:id="rId40"/>
    <p:sldId id="347" r:id="rId41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C79416E-4776-44C3-8B67-0AFED6E65BCE}">
          <p14:sldIdLst>
            <p14:sldId id="257"/>
            <p14:sldId id="587"/>
            <p14:sldId id="588"/>
            <p14:sldId id="592"/>
            <p14:sldId id="593"/>
            <p14:sldId id="594"/>
            <p14:sldId id="491"/>
            <p14:sldId id="595"/>
            <p14:sldId id="493"/>
            <p14:sldId id="597"/>
            <p14:sldId id="598"/>
            <p14:sldId id="599"/>
            <p14:sldId id="600"/>
            <p14:sldId id="586"/>
            <p14:sldId id="602"/>
            <p14:sldId id="601"/>
            <p14:sldId id="603"/>
            <p14:sldId id="604"/>
            <p14:sldId id="605"/>
            <p14:sldId id="513"/>
            <p14:sldId id="514"/>
            <p14:sldId id="515"/>
            <p14:sldId id="607"/>
            <p14:sldId id="606"/>
            <p14:sldId id="619"/>
            <p14:sldId id="608"/>
            <p14:sldId id="496"/>
            <p14:sldId id="497"/>
            <p14:sldId id="609"/>
            <p14:sldId id="610"/>
            <p14:sldId id="611"/>
            <p14:sldId id="612"/>
            <p14:sldId id="613"/>
            <p14:sldId id="614"/>
            <p14:sldId id="615"/>
            <p14:sldId id="620"/>
            <p14:sldId id="616"/>
            <p14:sldId id="617"/>
            <p14:sldId id="618"/>
            <p14:sldId id="3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61" userDrawn="1">
          <p15:clr>
            <a:srgbClr val="A4A3A4"/>
          </p15:clr>
        </p15:guide>
        <p15:guide id="2" pos="3817" userDrawn="1">
          <p15:clr>
            <a:srgbClr val="A4A3A4"/>
          </p15:clr>
        </p15:guide>
        <p15:guide id="3" pos="1255" userDrawn="1">
          <p15:clr>
            <a:srgbClr val="A4A3A4"/>
          </p15:clr>
        </p15:guide>
        <p15:guide id="4" pos="6425" userDrawn="1">
          <p15:clr>
            <a:srgbClr val="A4A3A4"/>
          </p15:clr>
        </p15:guide>
        <p15:guide id="5" orient="horz" pos="1933" userDrawn="1">
          <p15:clr>
            <a:srgbClr val="A4A3A4"/>
          </p15:clr>
        </p15:guide>
        <p15:guide id="6" pos="2842" userDrawn="1">
          <p15:clr>
            <a:srgbClr val="A4A3A4"/>
          </p15:clr>
        </p15:guide>
        <p15:guide id="7" pos="4838" userDrawn="1">
          <p15:clr>
            <a:srgbClr val="A4A3A4"/>
          </p15:clr>
        </p15:guide>
        <p15:guide id="8" orient="horz" pos="981" userDrawn="1">
          <p15:clr>
            <a:srgbClr val="A4A3A4"/>
          </p15:clr>
        </p15:guide>
        <p15:guide id="9" orient="horz" pos="1729" userDrawn="1">
          <p15:clr>
            <a:srgbClr val="A4A3A4"/>
          </p15:clr>
        </p15:guide>
        <p15:guide id="10" orient="horz" pos="245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ry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9D"/>
    <a:srgbClr val="186CA6"/>
    <a:srgbClr val="F7F7F9"/>
    <a:srgbClr val="8F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0" autoAdjust="0"/>
    <p:restoredTop sz="86758" autoAdjust="0"/>
  </p:normalViewPr>
  <p:slideViewPr>
    <p:cSldViewPr snapToGrid="0" showGuides="1">
      <p:cViewPr varScale="1">
        <p:scale>
          <a:sx n="66" d="100"/>
          <a:sy n="66" d="100"/>
        </p:scale>
        <p:origin x="368" y="36"/>
      </p:cViewPr>
      <p:guideLst>
        <p:guide orient="horz" pos="1661"/>
        <p:guide pos="3817"/>
        <p:guide pos="1255"/>
        <p:guide pos="6425"/>
        <p:guide orient="horz" pos="1933"/>
        <p:guide pos="2842"/>
        <p:guide pos="4838"/>
        <p:guide orient="horz" pos="981"/>
        <p:guide orient="horz" pos="1729"/>
        <p:guide orient="horz" pos="24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A6138-7E00-4D99-A34D-5D4B30A9516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68A64-069C-4FC3-A227-B9F541D15B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多个</a:t>
            </a:r>
            <a:r>
              <a:rPr lang="en-US" altLang="zh-CN" dirty="0"/>
              <a:t>if</a:t>
            </a:r>
            <a:r>
              <a:rPr lang="zh-CN" altLang="en-US" dirty="0"/>
              <a:t>语句，也可以实现功能，但不推荐。一是容易出错，二是效率低。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882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If-else</a:t>
            </a:r>
            <a:r>
              <a:rPr lang="zh-CN" altLang="en-US" dirty="0"/>
              <a:t>语句的嵌套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891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分支结构的判断条件</a:t>
            </a:r>
            <a:endParaRPr lang="en-US" altLang="zh-CN" dirty="0"/>
          </a:p>
          <a:p>
            <a:r>
              <a:rPr lang="zh-CN" altLang="en-US" dirty="0"/>
              <a:t>条件（布尔表达式，关系</a:t>
            </a:r>
            <a:r>
              <a:rPr lang="en-US" altLang="zh-CN" dirty="0"/>
              <a:t>/</a:t>
            </a:r>
            <a:r>
              <a:rPr lang="zh-CN" altLang="en-US" dirty="0"/>
              <a:t>比较运算符）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923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054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逻辑运算符比关系运算符的优先级低</a:t>
            </a:r>
            <a:endParaRPr lang="en-US" altLang="zh-CN" dirty="0"/>
          </a:p>
          <a:p>
            <a:r>
              <a:rPr lang="zh-CN" altLang="en-US" dirty="0"/>
              <a:t>（一元，算术，关系，位，逻辑，赋值，逗号）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9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short-circuit logic</a:t>
            </a:r>
          </a:p>
          <a:p>
            <a:r>
              <a:rPr lang="zh-CN" altLang="en-US" dirty="0"/>
              <a:t>等价于</a:t>
            </a:r>
            <a:endParaRPr lang="en-US" altLang="zh-CN" dirty="0"/>
          </a:p>
          <a:p>
            <a:r>
              <a:rPr lang="zh-CN" altLang="en-US" dirty="0"/>
              <a:t>！</a:t>
            </a:r>
            <a:r>
              <a:rPr lang="en-US" altLang="zh-CN" dirty="0"/>
              <a:t>=</a:t>
            </a:r>
            <a:r>
              <a:rPr lang="zh-CN" altLang="en-US" dirty="0"/>
              <a:t>，位运算中的</a:t>
            </a:r>
            <a:r>
              <a:rPr lang="en-US" altLang="zh-CN" dirty="0"/>
              <a:t>XOR</a:t>
            </a:r>
            <a:r>
              <a:rPr lang="zh-CN" altLang="en-US" dirty="0"/>
              <a:t>运算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522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81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关系运算符和逻辑运算符经常组合做为判断条件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442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针对单个变量多个固定值</a:t>
            </a:r>
            <a:r>
              <a:rPr lang="en-US" altLang="zh-CN" dirty="0"/>
              <a:t>(</a:t>
            </a:r>
            <a:r>
              <a:rPr lang="zh-CN" altLang="en-US" dirty="0"/>
              <a:t>而不是一个取值区间</a:t>
            </a:r>
            <a:r>
              <a:rPr lang="en-US" altLang="zh-CN" dirty="0"/>
              <a:t>)</a:t>
            </a:r>
            <a:r>
              <a:rPr lang="zh-CN" altLang="en-US" dirty="0"/>
              <a:t>的判断情况</a:t>
            </a:r>
            <a:endParaRPr lang="en-US" altLang="zh-CN" dirty="0"/>
          </a:p>
          <a:p>
            <a:r>
              <a:rPr lang="zh-CN" altLang="en-US" dirty="0"/>
              <a:t>类型约束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863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dirty="0">
                <a:solidFill>
                  <a:srgbClr val="CE9178"/>
                </a:solidFill>
                <a:latin typeface="Consolas"/>
                <a:ea typeface="微软雅黑"/>
              </a:rPr>
              <a:t>Vowel</a:t>
            </a:r>
            <a:r>
              <a:rPr lang="zh-CN" altLang="en-US" sz="1200" b="0" i="0" dirty="0">
                <a:solidFill>
                  <a:srgbClr val="CE9178"/>
                </a:solidFill>
                <a:latin typeface="Consolas"/>
                <a:ea typeface="微软雅黑"/>
              </a:rPr>
              <a:t>元音</a:t>
            </a:r>
            <a:r>
              <a:rPr lang="en-US" altLang="zh-CN" sz="1200" b="0" i="0" dirty="0">
                <a:solidFill>
                  <a:srgbClr val="CE9178"/>
                </a:solidFill>
                <a:latin typeface="Consolas"/>
                <a:ea typeface="微软雅黑"/>
              </a:rPr>
              <a:t>   consonant</a:t>
            </a:r>
            <a:r>
              <a:rPr lang="zh-CN" altLang="en-US" sz="1200" b="0" i="0" dirty="0">
                <a:solidFill>
                  <a:srgbClr val="CE9178"/>
                </a:solidFill>
                <a:latin typeface="Consolas"/>
                <a:ea typeface="微软雅黑"/>
              </a:rPr>
              <a:t>辅音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611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571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虽然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的位置可以灵活变动，但通常推荐将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块放在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语句的最后，并且加上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语句，以避免意外的代码执行。这样做可以确保当所有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条件都不匹配时，只执行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块中的代码，然后退出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853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gsw-FR" altLang="zh-CN" dirty="0"/>
              <a:t>(a) 10 &gt; 10 </a:t>
            </a:r>
            <a:r>
              <a:rPr lang="zh-CN" altLang="en-US" dirty="0"/>
              <a:t>为 </a:t>
            </a:r>
            <a:r>
              <a:rPr lang="gsw-FR" altLang="zh-CN" dirty="0"/>
              <a:t>false</a:t>
            </a:r>
            <a:r>
              <a:rPr lang="zh-CN" altLang="gsw-FR" dirty="0"/>
              <a:t>，</a:t>
            </a:r>
            <a:r>
              <a:rPr lang="gsw-FR" altLang="zh-CN" dirty="0"/>
              <a:t>5 % 2 == 1 </a:t>
            </a:r>
            <a:r>
              <a:rPr lang="zh-CN" altLang="en-US" dirty="0"/>
              <a:t>为 </a:t>
            </a:r>
            <a:r>
              <a:rPr lang="gsw-FR" altLang="zh-CN" dirty="0"/>
              <a:t>true → true</a:t>
            </a:r>
            <a:r>
              <a:rPr lang="zh-CN" altLang="gsw-FR" dirty="0"/>
              <a:t>；</a:t>
            </a:r>
            <a:r>
              <a:rPr lang="gsw-FR" altLang="zh-CN" dirty="0"/>
              <a:t>(b) false &amp;&amp; true → false</a:t>
            </a:r>
            <a:r>
              <a:rPr lang="zh-CN" altLang="gsw-FR" dirty="0"/>
              <a:t>；</a:t>
            </a:r>
            <a:r>
              <a:rPr lang="gsw-FR" altLang="zh-CN" dirty="0"/>
              <a:t>(c) 10 - 2 - 6 = 2 &gt;= 2 → true</a:t>
            </a:r>
            <a:r>
              <a:rPr lang="zh-CN" altLang="gsw-FR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141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学习成果式小结。字符编码规律以本课程ASCII兼容环境为前提；大小写转换限定已知合法的英文字母</a:t>
            </a:r>
            <a:r>
              <a:rPr dirty="0"/>
              <a:t>。</a:t>
            </a:r>
            <a:endParaRPr lang="en-US" altLang="zh-CN" dirty="0"/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基本形式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单分支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：条件为真时执行语句，否则跳过。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双分支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if...else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：条件为真执行语句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，否则执行语句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多分支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if...else if...else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：依次判断多个条件，匹配成功后执行对应语句并跳出分支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C68A64-069C-4FC3-A227-B9F541D15B3C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00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https://ss0.bdstatic.com/70cFuHSh_Q1YnxGkpoWK1HF6hhy/it/u=504426949,911474391&amp;fm=26&amp;gp=0.jpg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0031" y="92596"/>
            <a:ext cx="1068595" cy="1070732"/>
          </a:xfrm>
          <a:prstGeom prst="ellipse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6363" y="1850125"/>
            <a:ext cx="8659271" cy="93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800" b="1" spc="100" dirty="0">
                <a:solidFill>
                  <a:srgbClr val="005D9D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程序设计原理</a:t>
            </a:r>
            <a:endParaRPr lang="zh-CN" altLang="en-US" sz="2800" b="1" spc="400" dirty="0">
              <a:solidFill>
                <a:srgbClr val="005D9D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6363" y="4599937"/>
            <a:ext cx="8659271" cy="524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b="1" spc="100" dirty="0">
                <a:solidFill>
                  <a:srgbClr val="005D9D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Times New Roman" panose="02020603050405020304" pitchFamily="18" charset="0"/>
              </a:rPr>
              <a:t>任课教师：喻梅 王建荣 于瑞国 李雪威 赵满坤</a:t>
            </a:r>
            <a:endParaRPr lang="zh-CN" altLang="en-US" sz="2400" b="1" spc="400" dirty="0">
              <a:solidFill>
                <a:srgbClr val="005D9D"/>
              </a:solidFill>
              <a:latin typeface="华文仿宋" panose="02010600040101010101" pitchFamily="2" charset="-122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5285522" y="3198813"/>
            <a:ext cx="1620957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分支语句</a:t>
            </a:r>
          </a:p>
        </p:txBody>
      </p:sp>
    </p:spTree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E8122CB5-E8A9-4AB2-920D-BC4D959F459C}"/>
              </a:ext>
            </a:extLst>
          </p:cNvPr>
          <p:cNvSpPr/>
          <p:nvPr/>
        </p:nvSpPr>
        <p:spPr>
          <a:xfrm>
            <a:off x="457200" y="1188720"/>
            <a:ext cx="6583680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输入半径，计算圆面积</a:t>
            </a:r>
            <a:endParaRPr sz="14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endParaRPr sz="14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main()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radius;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"Enter a radius: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&gt;&gt; radius;</a:t>
            </a:r>
          </a:p>
          <a:p>
            <a:pPr algn="l">
              <a:lnSpc>
                <a:spcPct val="105000"/>
              </a:lnSpc>
              <a:buNone/>
            </a:pPr>
            <a:endParaRPr sz="14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area = radius * radius *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3.14159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"The area for the circle of radius "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 &lt;&lt; radius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 is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area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B824707A-B573-4564-A16E-300BE406022A}"/>
              </a:ext>
            </a:extLst>
          </p:cNvPr>
          <p:cNvSpPr txBox="1"/>
          <p:nvPr/>
        </p:nvSpPr>
        <p:spPr>
          <a:xfrm>
            <a:off x="7315200" y="1234440"/>
            <a:ext cx="45107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如果用户输入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-2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，程序会怎样？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照样计算并输出面积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12.566 ——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结果无意义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我们希望：半径为负时显示错误信息，否则才计算面积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这要求程序能根据</a:t>
            </a:r>
            <a:r>
              <a:rPr sz="17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条件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决定执行哪一段代码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选择语句（selection</a:t>
            </a:r>
            <a:r>
              <a:rPr sz="1700" b="1" i="0" dirty="0">
                <a:solidFill>
                  <a:srgbClr val="1F3A5F"/>
                </a:solidFill>
                <a:latin typeface="微软雅黑"/>
                <a:ea typeface="微软雅黑"/>
              </a:rPr>
              <a:t> statement）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if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if-else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、嵌套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if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switch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、条件表达式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条件是一个</a:t>
            </a:r>
            <a:r>
              <a:rPr sz="15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布尔表达式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，其值为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true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或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false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F2D2E04-4F8F-4E33-8DCF-30FED957CB6C}"/>
              </a:ext>
            </a:extLst>
          </p:cNvPr>
          <p:cNvGrpSpPr/>
          <p:nvPr/>
        </p:nvGrpSpPr>
        <p:grpSpPr>
          <a:xfrm>
            <a:off x="83125" y="111043"/>
            <a:ext cx="5869439" cy="733368"/>
            <a:chOff x="83126" y="111043"/>
            <a:chExt cx="2892484" cy="733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310BAA8-055B-432A-95C8-3E60AF5A4754}"/>
                </a:ext>
              </a:extLst>
            </p:cNvPr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程序为什么需要选择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3F6B868-7896-470B-A362-610F6B3E7D5D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623D92-B0FC-4B70-B57E-00E97CD541B2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2807273-E722-47E1-B69E-9E45E2279480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B299984-F515-409F-9C25-F65D706DF1CA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fld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2617B8C-86B4-46A1-8BE4-367ADF7754FC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77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9F44370-F786-4BD2-8848-94B635931DB5}"/>
              </a:ext>
            </a:extLst>
          </p:cNvPr>
          <p:cNvGrpSpPr/>
          <p:nvPr/>
        </p:nvGrpSpPr>
        <p:grpSpPr>
          <a:xfrm>
            <a:off x="83125" y="111044"/>
            <a:ext cx="8649395" cy="733367"/>
            <a:chOff x="83126" y="111044"/>
            <a:chExt cx="2892484" cy="73336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059CF6C-19C2-4CED-93DE-10C4783484DB}"/>
                </a:ext>
              </a:extLst>
            </p:cNvPr>
            <p:cNvSpPr/>
            <p:nvPr/>
          </p:nvSpPr>
          <p:spPr>
            <a:xfrm>
              <a:off x="160256" y="136525"/>
              <a:ext cx="2815354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从生活到程序：处处有选择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6D016D3-50B0-40F4-BEC9-7DE140BC4CD8}"/>
                </a:ext>
              </a:extLst>
            </p:cNvPr>
            <p:cNvSpPr/>
            <p:nvPr/>
          </p:nvSpPr>
          <p:spPr>
            <a:xfrm rot="5400000">
              <a:off x="-232252" y="426422"/>
              <a:ext cx="707886" cy="77129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A158E90-B91B-4489-A8DD-B13BF4BE6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510946"/>
              </p:ext>
            </p:extLst>
          </p:nvPr>
        </p:nvGraphicFramePr>
        <p:xfrm>
          <a:off x="457200" y="1234440"/>
          <a:ext cx="694944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生活场景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自然语言描述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对应的程序结构</a:t>
                      </a:r>
                      <a:endParaRPr sz="140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出门看天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如果下雨，就带伞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单分支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过马路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如果是绿灯就走，否则等待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双分支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查成绩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≥90 优秀，≥80 良好，≥60 合格，否则不合格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多分支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银行 ATM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按 1 查询、按 2 存款、按 3 取款……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多分支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8">
            <a:extLst>
              <a:ext uri="{FF2B5EF4-FFF2-40B4-BE49-F238E27FC236}">
                <a16:creationId xmlns:a16="http://schemas.microsoft.com/office/drawing/2014/main" id="{BEB7CB46-2099-4B75-920E-61DF8CC7A5C8}"/>
              </a:ext>
            </a:extLst>
          </p:cNvPr>
          <p:cNvSpPr txBox="1"/>
          <p:nvPr/>
        </p:nvSpPr>
        <p:spPr>
          <a:xfrm>
            <a:off x="457200" y="3703320"/>
            <a:ext cx="6949440" cy="23310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程序的三种基本控制结构</a:t>
            </a:r>
            <a:endParaRPr sz="16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顺序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：语句从上到下依次执行</a:t>
            </a:r>
            <a:endParaRPr lang="en-US" altLang="zh-CN"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选择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：根据条件决定执行哪一段</a:t>
            </a:r>
            <a:endParaRPr lang="en-US" altLang="zh-CN"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循环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：满足条件时反复执行某一段</a:t>
            </a:r>
            <a:endParaRPr lang="zh-CN" altLang="en-US"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结构化程序设计定理：任何算法都可以只用这三种结构组合实现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写分支的关键：先把“什么情况下做什么”用一句话说清楚，再翻译成代码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899DE04-3AB2-48E4-BF56-22FF955EDD60}"/>
              </a:ext>
            </a:extLst>
          </p:cNvPr>
          <p:cNvSpPr txBox="1"/>
          <p:nvPr/>
        </p:nvSpPr>
        <p:spPr>
          <a:xfrm>
            <a:off x="7680960" y="11887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F3A5F"/>
                </a:solidFill>
                <a:latin typeface="微软雅黑"/>
                <a:ea typeface="微软雅黑"/>
              </a:rPr>
              <a:t>顺序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E7ECD600-E4AD-4646-A4A4-A834D34D2256}"/>
              </a:ext>
            </a:extLst>
          </p:cNvPr>
          <p:cNvSpPr txBox="1"/>
          <p:nvPr/>
        </p:nvSpPr>
        <p:spPr>
          <a:xfrm>
            <a:off x="8961120" y="11887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F3A5F"/>
                </a:solidFill>
                <a:latin typeface="微软雅黑"/>
                <a:ea typeface="微软雅黑"/>
              </a:rPr>
              <a:t>选择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07AF97C0-8C97-4851-8CFE-7D66EA22930D}"/>
              </a:ext>
            </a:extLst>
          </p:cNvPr>
          <p:cNvSpPr txBox="1"/>
          <p:nvPr/>
        </p:nvSpPr>
        <p:spPr>
          <a:xfrm>
            <a:off x="10652760" y="11887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F3A5F"/>
                </a:solidFill>
                <a:latin typeface="微软雅黑"/>
                <a:ea typeface="微软雅黑"/>
              </a:rPr>
              <a:t>循环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0C2FA077-9FDC-4A12-B23F-BAB23F591AB4}"/>
              </a:ext>
            </a:extLst>
          </p:cNvPr>
          <p:cNvSpPr/>
          <p:nvPr/>
        </p:nvSpPr>
        <p:spPr>
          <a:xfrm>
            <a:off x="7680960" y="1645920"/>
            <a:ext cx="731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语句1</a:t>
            </a:r>
          </a:p>
        </p:txBody>
      </p:sp>
      <p:cxnSp>
        <p:nvCxnSpPr>
          <p:cNvPr id="11" name="Connector 13">
            <a:extLst>
              <a:ext uri="{FF2B5EF4-FFF2-40B4-BE49-F238E27FC236}">
                <a16:creationId xmlns:a16="http://schemas.microsoft.com/office/drawing/2014/main" id="{35A5F383-0EAD-44E4-A30D-F30AFE450091}"/>
              </a:ext>
            </a:extLst>
          </p:cNvPr>
          <p:cNvCxnSpPr/>
          <p:nvPr/>
        </p:nvCxnSpPr>
        <p:spPr>
          <a:xfrm>
            <a:off x="8046720" y="210312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4">
            <a:extLst>
              <a:ext uri="{FF2B5EF4-FFF2-40B4-BE49-F238E27FC236}">
                <a16:creationId xmlns:a16="http://schemas.microsoft.com/office/drawing/2014/main" id="{3B3907A1-64E4-4B27-9CFD-91271C2ADE8A}"/>
              </a:ext>
            </a:extLst>
          </p:cNvPr>
          <p:cNvSpPr/>
          <p:nvPr/>
        </p:nvSpPr>
        <p:spPr>
          <a:xfrm>
            <a:off x="7680960" y="2468880"/>
            <a:ext cx="731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语句2</a:t>
            </a:r>
          </a:p>
        </p:txBody>
      </p:sp>
      <p:cxnSp>
        <p:nvCxnSpPr>
          <p:cNvPr id="13" name="Connector 15">
            <a:extLst>
              <a:ext uri="{FF2B5EF4-FFF2-40B4-BE49-F238E27FC236}">
                <a16:creationId xmlns:a16="http://schemas.microsoft.com/office/drawing/2014/main" id="{0600A918-ABEE-4504-BA36-5F53B8D733E9}"/>
              </a:ext>
            </a:extLst>
          </p:cNvPr>
          <p:cNvCxnSpPr/>
          <p:nvPr/>
        </p:nvCxnSpPr>
        <p:spPr>
          <a:xfrm>
            <a:off x="8046720" y="292608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6">
            <a:extLst>
              <a:ext uri="{FF2B5EF4-FFF2-40B4-BE49-F238E27FC236}">
                <a16:creationId xmlns:a16="http://schemas.microsoft.com/office/drawing/2014/main" id="{D726C979-CD8F-4687-A467-902677708F1B}"/>
              </a:ext>
            </a:extLst>
          </p:cNvPr>
          <p:cNvSpPr/>
          <p:nvPr/>
        </p:nvSpPr>
        <p:spPr>
          <a:xfrm>
            <a:off x="7680960" y="3291840"/>
            <a:ext cx="731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语句3</a:t>
            </a:r>
          </a:p>
        </p:txBody>
      </p:sp>
      <p:sp>
        <p:nvSpPr>
          <p:cNvPr id="15" name="Decision 17">
            <a:extLst>
              <a:ext uri="{FF2B5EF4-FFF2-40B4-BE49-F238E27FC236}">
                <a16:creationId xmlns:a16="http://schemas.microsoft.com/office/drawing/2014/main" id="{1419F07F-2E4C-4A27-A535-A23A6DC788F4}"/>
              </a:ext>
            </a:extLst>
          </p:cNvPr>
          <p:cNvSpPr/>
          <p:nvPr/>
        </p:nvSpPr>
        <p:spPr>
          <a:xfrm>
            <a:off x="8961120" y="1600200"/>
            <a:ext cx="914400" cy="64008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条件?</a:t>
            </a:r>
          </a:p>
        </p:txBody>
      </p:sp>
      <p:cxnSp>
        <p:nvCxnSpPr>
          <p:cNvPr id="16" name="Connector 18">
            <a:extLst>
              <a:ext uri="{FF2B5EF4-FFF2-40B4-BE49-F238E27FC236}">
                <a16:creationId xmlns:a16="http://schemas.microsoft.com/office/drawing/2014/main" id="{ACDD4187-C461-4B4A-B4CF-B5EC254F56EF}"/>
              </a:ext>
            </a:extLst>
          </p:cNvPr>
          <p:cNvCxnSpPr/>
          <p:nvPr/>
        </p:nvCxnSpPr>
        <p:spPr>
          <a:xfrm flipH="1">
            <a:off x="8732520" y="1920240"/>
            <a:ext cx="22860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9">
            <a:extLst>
              <a:ext uri="{FF2B5EF4-FFF2-40B4-BE49-F238E27FC236}">
                <a16:creationId xmlns:a16="http://schemas.microsoft.com/office/drawing/2014/main" id="{6B7CA648-AC08-497D-B9B7-F5B8E795A8E1}"/>
              </a:ext>
            </a:extLst>
          </p:cNvPr>
          <p:cNvCxnSpPr/>
          <p:nvPr/>
        </p:nvCxnSpPr>
        <p:spPr>
          <a:xfrm>
            <a:off x="8732520" y="1920240"/>
            <a:ext cx="0" cy="6400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20">
            <a:extLst>
              <a:ext uri="{FF2B5EF4-FFF2-40B4-BE49-F238E27FC236}">
                <a16:creationId xmlns:a16="http://schemas.microsoft.com/office/drawing/2014/main" id="{094F0DFC-9564-4108-A126-C4706DCDDDF3}"/>
              </a:ext>
            </a:extLst>
          </p:cNvPr>
          <p:cNvCxnSpPr/>
          <p:nvPr/>
        </p:nvCxnSpPr>
        <p:spPr>
          <a:xfrm>
            <a:off x="9875520" y="1920240"/>
            <a:ext cx="22860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21">
            <a:extLst>
              <a:ext uri="{FF2B5EF4-FFF2-40B4-BE49-F238E27FC236}">
                <a16:creationId xmlns:a16="http://schemas.microsoft.com/office/drawing/2014/main" id="{34C727B4-D6DA-48AF-BF57-F101F09102BF}"/>
              </a:ext>
            </a:extLst>
          </p:cNvPr>
          <p:cNvCxnSpPr/>
          <p:nvPr/>
        </p:nvCxnSpPr>
        <p:spPr>
          <a:xfrm>
            <a:off x="10104120" y="1920240"/>
            <a:ext cx="0" cy="64008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2">
            <a:extLst>
              <a:ext uri="{FF2B5EF4-FFF2-40B4-BE49-F238E27FC236}">
                <a16:creationId xmlns:a16="http://schemas.microsoft.com/office/drawing/2014/main" id="{AE95D099-5B96-4077-8D26-56E6B3C261BB}"/>
              </a:ext>
            </a:extLst>
          </p:cNvPr>
          <p:cNvSpPr/>
          <p:nvPr/>
        </p:nvSpPr>
        <p:spPr>
          <a:xfrm>
            <a:off x="8503920" y="256032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63C8CE12-0C09-4E6E-B8A5-1D9BBA06FABC}"/>
              </a:ext>
            </a:extLst>
          </p:cNvPr>
          <p:cNvSpPr/>
          <p:nvPr/>
        </p:nvSpPr>
        <p:spPr>
          <a:xfrm>
            <a:off x="9875520" y="256032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B</a:t>
            </a:r>
          </a:p>
        </p:txBody>
      </p:sp>
      <p:cxnSp>
        <p:nvCxnSpPr>
          <p:cNvPr id="22" name="Connector 24">
            <a:extLst>
              <a:ext uri="{FF2B5EF4-FFF2-40B4-BE49-F238E27FC236}">
                <a16:creationId xmlns:a16="http://schemas.microsoft.com/office/drawing/2014/main" id="{6D928886-5F22-4EA5-A3E8-9D0E75A57642}"/>
              </a:ext>
            </a:extLst>
          </p:cNvPr>
          <p:cNvCxnSpPr/>
          <p:nvPr/>
        </p:nvCxnSpPr>
        <p:spPr>
          <a:xfrm>
            <a:off x="8732520" y="3017520"/>
            <a:ext cx="0" cy="36576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5">
            <a:extLst>
              <a:ext uri="{FF2B5EF4-FFF2-40B4-BE49-F238E27FC236}">
                <a16:creationId xmlns:a16="http://schemas.microsoft.com/office/drawing/2014/main" id="{CDD525B4-8DAA-448F-AC9E-F78632169E99}"/>
              </a:ext>
            </a:extLst>
          </p:cNvPr>
          <p:cNvCxnSpPr>
            <a:cxnSpLocks/>
          </p:cNvCxnSpPr>
          <p:nvPr/>
        </p:nvCxnSpPr>
        <p:spPr>
          <a:xfrm>
            <a:off x="8732520" y="3383280"/>
            <a:ext cx="667512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6">
            <a:extLst>
              <a:ext uri="{FF2B5EF4-FFF2-40B4-BE49-F238E27FC236}">
                <a16:creationId xmlns:a16="http://schemas.microsoft.com/office/drawing/2014/main" id="{A9CEA20A-46B7-49A3-8E54-F82CB2D023C3}"/>
              </a:ext>
            </a:extLst>
          </p:cNvPr>
          <p:cNvCxnSpPr/>
          <p:nvPr/>
        </p:nvCxnSpPr>
        <p:spPr>
          <a:xfrm>
            <a:off x="10104120" y="3017520"/>
            <a:ext cx="0" cy="36576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7">
            <a:extLst>
              <a:ext uri="{FF2B5EF4-FFF2-40B4-BE49-F238E27FC236}">
                <a16:creationId xmlns:a16="http://schemas.microsoft.com/office/drawing/2014/main" id="{959C202F-7CAB-46FE-9782-1D87F2F14A6D}"/>
              </a:ext>
            </a:extLst>
          </p:cNvPr>
          <p:cNvCxnSpPr/>
          <p:nvPr/>
        </p:nvCxnSpPr>
        <p:spPr>
          <a:xfrm flipH="1">
            <a:off x="9436608" y="3383280"/>
            <a:ext cx="667512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8">
            <a:extLst>
              <a:ext uri="{FF2B5EF4-FFF2-40B4-BE49-F238E27FC236}">
                <a16:creationId xmlns:a16="http://schemas.microsoft.com/office/drawing/2014/main" id="{DD15D462-07C4-43CD-9969-395C23694EDE}"/>
              </a:ext>
            </a:extLst>
          </p:cNvPr>
          <p:cNvCxnSpPr/>
          <p:nvPr/>
        </p:nvCxnSpPr>
        <p:spPr>
          <a:xfrm>
            <a:off x="9418320" y="3383280"/>
            <a:ext cx="0" cy="365759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ecision 29">
            <a:extLst>
              <a:ext uri="{FF2B5EF4-FFF2-40B4-BE49-F238E27FC236}">
                <a16:creationId xmlns:a16="http://schemas.microsoft.com/office/drawing/2014/main" id="{7FAF8612-9758-4C23-A6BB-14BD12CF36B8}"/>
              </a:ext>
            </a:extLst>
          </p:cNvPr>
          <p:cNvSpPr/>
          <p:nvPr/>
        </p:nvSpPr>
        <p:spPr>
          <a:xfrm>
            <a:off x="10607040" y="1600200"/>
            <a:ext cx="914400" cy="64008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 i="0">
                <a:solidFill>
                  <a:srgbClr val="262626"/>
                </a:solidFill>
                <a:latin typeface="微软雅黑"/>
                <a:ea typeface="微软雅黑"/>
              </a:rPr>
              <a:t>条件?</a:t>
            </a:r>
          </a:p>
        </p:txBody>
      </p:sp>
      <p:cxnSp>
        <p:nvCxnSpPr>
          <p:cNvPr id="28" name="Connector 30">
            <a:extLst>
              <a:ext uri="{FF2B5EF4-FFF2-40B4-BE49-F238E27FC236}">
                <a16:creationId xmlns:a16="http://schemas.microsoft.com/office/drawing/2014/main" id="{9FB9CF50-8B81-4B12-AB05-C1622BBECFF0}"/>
              </a:ext>
            </a:extLst>
          </p:cNvPr>
          <p:cNvCxnSpPr/>
          <p:nvPr/>
        </p:nvCxnSpPr>
        <p:spPr>
          <a:xfrm>
            <a:off x="11064240" y="224028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31">
            <a:extLst>
              <a:ext uri="{FF2B5EF4-FFF2-40B4-BE49-F238E27FC236}">
                <a16:creationId xmlns:a16="http://schemas.microsoft.com/office/drawing/2014/main" id="{D7469401-F893-47D1-91B6-7DD98D08B389}"/>
              </a:ext>
            </a:extLst>
          </p:cNvPr>
          <p:cNvSpPr/>
          <p:nvPr/>
        </p:nvSpPr>
        <p:spPr>
          <a:xfrm>
            <a:off x="10652760" y="2606040"/>
            <a:ext cx="822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 b="0" i="0">
                <a:solidFill>
                  <a:srgbClr val="262626"/>
                </a:solidFill>
                <a:latin typeface="微软雅黑"/>
                <a:ea typeface="微软雅黑"/>
              </a:rPr>
              <a:t>循环体</a:t>
            </a:r>
          </a:p>
        </p:txBody>
      </p:sp>
      <p:cxnSp>
        <p:nvCxnSpPr>
          <p:cNvPr id="30" name="Connector 32">
            <a:extLst>
              <a:ext uri="{FF2B5EF4-FFF2-40B4-BE49-F238E27FC236}">
                <a16:creationId xmlns:a16="http://schemas.microsoft.com/office/drawing/2014/main" id="{53777E07-17D7-4FEE-9BE8-7EBD6956248A}"/>
              </a:ext>
            </a:extLst>
          </p:cNvPr>
          <p:cNvCxnSpPr/>
          <p:nvPr/>
        </p:nvCxnSpPr>
        <p:spPr>
          <a:xfrm>
            <a:off x="11064240" y="3063240"/>
            <a:ext cx="0" cy="32004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3">
            <a:extLst>
              <a:ext uri="{FF2B5EF4-FFF2-40B4-BE49-F238E27FC236}">
                <a16:creationId xmlns:a16="http://schemas.microsoft.com/office/drawing/2014/main" id="{4C5681AF-3CCC-4473-992A-FBC52458883A}"/>
              </a:ext>
            </a:extLst>
          </p:cNvPr>
          <p:cNvCxnSpPr/>
          <p:nvPr/>
        </p:nvCxnSpPr>
        <p:spPr>
          <a:xfrm flipH="1">
            <a:off x="10424160" y="3383280"/>
            <a:ext cx="64008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4">
            <a:extLst>
              <a:ext uri="{FF2B5EF4-FFF2-40B4-BE49-F238E27FC236}">
                <a16:creationId xmlns:a16="http://schemas.microsoft.com/office/drawing/2014/main" id="{BEFF3CCC-BFD0-4EB6-A1B1-0F1BC285B770}"/>
              </a:ext>
            </a:extLst>
          </p:cNvPr>
          <p:cNvCxnSpPr/>
          <p:nvPr/>
        </p:nvCxnSpPr>
        <p:spPr>
          <a:xfrm flipV="1">
            <a:off x="10424160" y="1920240"/>
            <a:ext cx="0" cy="146304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5">
            <a:extLst>
              <a:ext uri="{FF2B5EF4-FFF2-40B4-BE49-F238E27FC236}">
                <a16:creationId xmlns:a16="http://schemas.microsoft.com/office/drawing/2014/main" id="{F32251D7-108E-447A-95C3-E1148B2E3F60}"/>
              </a:ext>
            </a:extLst>
          </p:cNvPr>
          <p:cNvCxnSpPr/>
          <p:nvPr/>
        </p:nvCxnSpPr>
        <p:spPr>
          <a:xfrm>
            <a:off x="10424160" y="1920240"/>
            <a:ext cx="18288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6">
            <a:extLst>
              <a:ext uri="{FF2B5EF4-FFF2-40B4-BE49-F238E27FC236}">
                <a16:creationId xmlns:a16="http://schemas.microsoft.com/office/drawing/2014/main" id="{A62E5262-FACA-4A5B-9A6D-F86906BEFDDA}"/>
              </a:ext>
            </a:extLst>
          </p:cNvPr>
          <p:cNvCxnSpPr/>
          <p:nvPr/>
        </p:nvCxnSpPr>
        <p:spPr>
          <a:xfrm>
            <a:off x="11521440" y="1920240"/>
            <a:ext cx="3200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7">
            <a:extLst>
              <a:ext uri="{FF2B5EF4-FFF2-40B4-BE49-F238E27FC236}">
                <a16:creationId xmlns:a16="http://schemas.microsoft.com/office/drawing/2014/main" id="{3FB0BB1D-C23B-41C1-B8C7-C7DBB5C855FE}"/>
              </a:ext>
            </a:extLst>
          </p:cNvPr>
          <p:cNvSpPr txBox="1"/>
          <p:nvPr/>
        </p:nvSpPr>
        <p:spPr>
          <a:xfrm>
            <a:off x="7680960" y="4023360"/>
            <a:ext cx="3677314" cy="8163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三种结构的共同点：都只有</a:t>
            </a:r>
            <a:r>
              <a:rPr sz="1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一个入口、一个出口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，所以可以像积木一样任意嵌套组合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E20CF0D-C622-4730-AEB8-F594D9A2961D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575BAE1-9747-4CC6-A057-8E9B5DFBA4B8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494248A-FF0E-4988-9476-915588AE6A2A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fld>
              <a:endParaRPr lang="zh-CN" altLang="en-US" sz="16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D17C300-1F68-4048-85E2-85E9367AB609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760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343573C2-5B81-4144-8AD4-B9A3FFC59379}"/>
              </a:ext>
            </a:extLst>
          </p:cNvPr>
          <p:cNvSpPr/>
          <p:nvPr/>
        </p:nvSpPr>
        <p:spPr>
          <a:xfrm>
            <a:off x="457200" y="1234440"/>
            <a:ext cx="5120640" cy="155448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7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 (boolean-expression)</a:t>
            </a:r>
          </a:p>
          <a:p>
            <a:pPr algn="l">
              <a:lnSpc>
                <a:spcPct val="105000"/>
              </a:lnSpc>
              <a:buNone/>
            </a:pP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05000"/>
              </a:lnSpc>
              <a:buNone/>
            </a:pP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  statement(s);</a:t>
            </a:r>
          </a:p>
          <a:p>
            <a:pPr algn="l">
              <a:lnSpc>
                <a:spcPct val="105000"/>
              </a:lnSpc>
              <a:buNone/>
            </a:pP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040F3C77-35BF-47C3-9F65-7DE30A74C36F}"/>
              </a:ext>
            </a:extLst>
          </p:cNvPr>
          <p:cNvSpPr txBox="1"/>
          <p:nvPr/>
        </p:nvSpPr>
        <p:spPr>
          <a:xfrm>
            <a:off x="457200" y="3154680"/>
            <a:ext cx="5120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布尔表达式必须放在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>
                <a:solidFill>
                  <a:srgbClr val="8E2A2A"/>
                </a:solidFill>
                <a:latin typeface="Consolas"/>
                <a:ea typeface="微软雅黑"/>
              </a:rPr>
              <a:t>()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内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为 </a:t>
            </a:r>
            <a:r>
              <a:rPr sz="1500" b="0" i="0" dirty="0">
                <a:solidFill>
                  <a:srgbClr val="8E2A2A"/>
                </a:solidFill>
                <a:latin typeface="Consolas"/>
                <a:ea typeface="微软雅黑"/>
              </a:rPr>
              <a:t>true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时执行块内语句，否则跳过整个块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块内只有一条语句时可省略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>
                <a:solidFill>
                  <a:srgbClr val="8E2A2A"/>
                </a:solidFill>
                <a:latin typeface="Consolas"/>
                <a:ea typeface="微软雅黑"/>
              </a:rPr>
              <a:t>{ }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（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不推荐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3F22B30-DFCB-44D7-A40C-383D86092464}"/>
              </a:ext>
            </a:extLst>
          </p:cNvPr>
          <p:cNvSpPr txBox="1"/>
          <p:nvPr/>
        </p:nvSpPr>
        <p:spPr>
          <a:xfrm>
            <a:off x="457200" y="45262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1F3A5F"/>
                </a:solidFill>
                <a:latin typeface="微软雅黑"/>
                <a:ea typeface="微软雅黑"/>
              </a:rPr>
              <a:t>示例：半径非负时才计算面积</a:t>
            </a:r>
          </a:p>
        </p:txBody>
      </p:sp>
      <p:sp>
        <p:nvSpPr>
          <p:cNvPr id="5" name="Rounded Rectangle 10">
            <a:extLst>
              <a:ext uri="{FF2B5EF4-FFF2-40B4-BE49-F238E27FC236}">
                <a16:creationId xmlns:a16="http://schemas.microsoft.com/office/drawing/2014/main" id="{BA2C775B-79B1-487E-9473-F5BE66319E1E}"/>
              </a:ext>
            </a:extLst>
          </p:cNvPr>
          <p:cNvSpPr/>
          <p:nvPr/>
        </p:nvSpPr>
        <p:spPr>
          <a:xfrm>
            <a:off x="457200" y="4892040"/>
            <a:ext cx="5120640" cy="14630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3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300" b="0" i="0">
                <a:solidFill>
                  <a:srgbClr val="D4D4D4"/>
                </a:solidFill>
                <a:latin typeface="Consolas"/>
                <a:ea typeface="微软雅黑"/>
              </a:rPr>
              <a:t> (radius &gt;= </a:t>
            </a:r>
            <a:r>
              <a:rPr sz="1300" b="0" i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3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300" b="0" i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05000"/>
              </a:lnSpc>
              <a:buNone/>
            </a:pPr>
            <a:r>
              <a:rPr sz="1300" b="0" i="0">
                <a:solidFill>
                  <a:srgbClr val="D4D4D4"/>
                </a:solidFill>
                <a:latin typeface="Consolas"/>
                <a:ea typeface="微软雅黑"/>
              </a:rPr>
              <a:t>  area = radius * radius * PI;</a:t>
            </a:r>
          </a:p>
          <a:p>
            <a:pPr algn="l">
              <a:lnSpc>
                <a:spcPct val="105000"/>
              </a:lnSpc>
              <a:buNone/>
            </a:pPr>
            <a:r>
              <a:rPr sz="1300" b="0" i="0">
                <a:solidFill>
                  <a:srgbClr val="D4D4D4"/>
                </a:solidFill>
                <a:latin typeface="Consolas"/>
                <a:ea typeface="微软雅黑"/>
              </a:rPr>
              <a:t>  cout &lt;&lt; </a:t>
            </a:r>
            <a:r>
              <a:rPr sz="1300" b="0" i="0">
                <a:solidFill>
                  <a:srgbClr val="CE9178"/>
                </a:solidFill>
                <a:latin typeface="Consolas"/>
                <a:ea typeface="微软雅黑"/>
              </a:rPr>
              <a:t>"The area is "</a:t>
            </a:r>
            <a:r>
              <a:rPr sz="1300" b="0" i="0">
                <a:solidFill>
                  <a:srgbClr val="D4D4D4"/>
                </a:solidFill>
                <a:latin typeface="Consolas"/>
                <a:ea typeface="微软雅黑"/>
              </a:rPr>
              <a:t> &lt;&lt; area &lt;&lt; endl;</a:t>
            </a:r>
          </a:p>
          <a:p>
            <a:pPr algn="l">
              <a:lnSpc>
                <a:spcPct val="105000"/>
              </a:lnSpc>
              <a:buNone/>
            </a:pPr>
            <a:r>
              <a:rPr sz="1300" b="0" i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6" name="Decision 11">
            <a:extLst>
              <a:ext uri="{FF2B5EF4-FFF2-40B4-BE49-F238E27FC236}">
                <a16:creationId xmlns:a16="http://schemas.microsoft.com/office/drawing/2014/main" id="{A62930C6-995F-46F5-A2C3-DBEEDB02E8CF}"/>
              </a:ext>
            </a:extLst>
          </p:cNvPr>
          <p:cNvSpPr/>
          <p:nvPr/>
        </p:nvSpPr>
        <p:spPr>
          <a:xfrm>
            <a:off x="7498080" y="1371600"/>
            <a:ext cx="2560320" cy="118872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>
                <a:solidFill>
                  <a:srgbClr val="262626"/>
                </a:solidFill>
                <a:latin typeface="Consolas"/>
                <a:ea typeface="微软雅黑"/>
              </a:rPr>
              <a:t>boolean-
expression</a:t>
            </a:r>
          </a:p>
        </p:txBody>
      </p:sp>
      <p:cxnSp>
        <p:nvCxnSpPr>
          <p:cNvPr id="7" name="Connector 12">
            <a:extLst>
              <a:ext uri="{FF2B5EF4-FFF2-40B4-BE49-F238E27FC236}">
                <a16:creationId xmlns:a16="http://schemas.microsoft.com/office/drawing/2014/main" id="{DAC0AA86-2D7E-4AAA-AC22-A371F4643A1A}"/>
              </a:ext>
            </a:extLst>
          </p:cNvPr>
          <p:cNvCxnSpPr/>
          <p:nvPr/>
        </p:nvCxnSpPr>
        <p:spPr>
          <a:xfrm>
            <a:off x="8778240" y="2560320"/>
            <a:ext cx="0" cy="7315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3">
            <a:extLst>
              <a:ext uri="{FF2B5EF4-FFF2-40B4-BE49-F238E27FC236}">
                <a16:creationId xmlns:a16="http://schemas.microsoft.com/office/drawing/2014/main" id="{9E4461FF-C63F-47E1-A88F-1F1EE1E8DE31}"/>
              </a:ext>
            </a:extLst>
          </p:cNvPr>
          <p:cNvSpPr txBox="1"/>
          <p:nvPr/>
        </p:nvSpPr>
        <p:spPr>
          <a:xfrm>
            <a:off x="8869680" y="27432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E86342A9-FC7A-4640-9572-2A74A16BEBFA}"/>
              </a:ext>
            </a:extLst>
          </p:cNvPr>
          <p:cNvSpPr/>
          <p:nvPr/>
        </p:nvSpPr>
        <p:spPr>
          <a:xfrm>
            <a:off x="7498080" y="3291840"/>
            <a:ext cx="25603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0" i="0">
                <a:solidFill>
                  <a:srgbClr val="262626"/>
                </a:solidFill>
                <a:latin typeface="Consolas"/>
                <a:ea typeface="微软雅黑"/>
              </a:rPr>
              <a:t>statement(s)</a:t>
            </a:r>
          </a:p>
        </p:txBody>
      </p:sp>
      <p:cxnSp>
        <p:nvCxnSpPr>
          <p:cNvPr id="10" name="Connector 15">
            <a:extLst>
              <a:ext uri="{FF2B5EF4-FFF2-40B4-BE49-F238E27FC236}">
                <a16:creationId xmlns:a16="http://schemas.microsoft.com/office/drawing/2014/main" id="{EA1D9270-C88F-45CA-BC3B-C2B336FFCE20}"/>
              </a:ext>
            </a:extLst>
          </p:cNvPr>
          <p:cNvCxnSpPr/>
          <p:nvPr/>
        </p:nvCxnSpPr>
        <p:spPr>
          <a:xfrm>
            <a:off x="8778240" y="4114800"/>
            <a:ext cx="0" cy="8229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6">
            <a:extLst>
              <a:ext uri="{FF2B5EF4-FFF2-40B4-BE49-F238E27FC236}">
                <a16:creationId xmlns:a16="http://schemas.microsoft.com/office/drawing/2014/main" id="{9ADCEA28-EACD-4C0F-9361-C2591657827C}"/>
              </a:ext>
            </a:extLst>
          </p:cNvPr>
          <p:cNvCxnSpPr/>
          <p:nvPr/>
        </p:nvCxnSpPr>
        <p:spPr>
          <a:xfrm>
            <a:off x="10058400" y="1965960"/>
            <a:ext cx="109728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7">
            <a:extLst>
              <a:ext uri="{FF2B5EF4-FFF2-40B4-BE49-F238E27FC236}">
                <a16:creationId xmlns:a16="http://schemas.microsoft.com/office/drawing/2014/main" id="{6F9EA1BE-381F-4D6E-A2A2-62BB12431FCB}"/>
              </a:ext>
            </a:extLst>
          </p:cNvPr>
          <p:cNvCxnSpPr>
            <a:cxnSpLocks/>
          </p:cNvCxnSpPr>
          <p:nvPr/>
        </p:nvCxnSpPr>
        <p:spPr>
          <a:xfrm>
            <a:off x="11155680" y="1965960"/>
            <a:ext cx="0" cy="324612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8">
            <a:extLst>
              <a:ext uri="{FF2B5EF4-FFF2-40B4-BE49-F238E27FC236}">
                <a16:creationId xmlns:a16="http://schemas.microsoft.com/office/drawing/2014/main" id="{BABCD387-4E95-4FE6-A621-54E993538CC9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9601200" y="5212080"/>
            <a:ext cx="155448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9">
            <a:extLst>
              <a:ext uri="{FF2B5EF4-FFF2-40B4-BE49-F238E27FC236}">
                <a16:creationId xmlns:a16="http://schemas.microsoft.com/office/drawing/2014/main" id="{3C4F9060-F08D-49D1-8BBA-B9B23D18F089}"/>
              </a:ext>
            </a:extLst>
          </p:cNvPr>
          <p:cNvSpPr txBox="1"/>
          <p:nvPr/>
        </p:nvSpPr>
        <p:spPr>
          <a:xfrm>
            <a:off x="10149840" y="16002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15" name="Rounded Rectangle 20">
            <a:extLst>
              <a:ext uri="{FF2B5EF4-FFF2-40B4-BE49-F238E27FC236}">
                <a16:creationId xmlns:a16="http://schemas.microsoft.com/office/drawing/2014/main" id="{68AB92FE-C036-44D1-BC03-4FEA2AC7EA77}"/>
              </a:ext>
            </a:extLst>
          </p:cNvPr>
          <p:cNvSpPr/>
          <p:nvPr/>
        </p:nvSpPr>
        <p:spPr>
          <a:xfrm>
            <a:off x="7955280" y="4937760"/>
            <a:ext cx="1645920" cy="5486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后续语句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6D3F17D-A9B5-41DC-B591-510094DD264A}"/>
              </a:ext>
            </a:extLst>
          </p:cNvPr>
          <p:cNvGrpSpPr/>
          <p:nvPr/>
        </p:nvGrpSpPr>
        <p:grpSpPr>
          <a:xfrm>
            <a:off x="83126" y="111043"/>
            <a:ext cx="4245034" cy="733368"/>
            <a:chOff x="83126" y="111043"/>
            <a:chExt cx="2892484" cy="73336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FA7CBC4-1CC8-4686-9470-DFE21055FBAE}"/>
                </a:ext>
              </a:extLst>
            </p:cNvPr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选择语句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09CC750-9429-4BC8-A9A2-790EF5CA27EE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53A3EE9F-C317-43DA-A1E0-1A2E3ED9587B}"/>
              </a:ext>
            </a:extLst>
          </p:cNvPr>
          <p:cNvSpPr txBox="1">
            <a:spLocks noChangeArrowheads="1"/>
          </p:cNvSpPr>
          <p:nvPr/>
        </p:nvSpPr>
        <p:spPr>
          <a:xfrm>
            <a:off x="2511426" y="177155"/>
            <a:ext cx="7772400" cy="7078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/>
              <a:t>单分支：</a:t>
            </a:r>
            <a:r>
              <a:rPr lang="en-US" altLang="zh-CN" dirty="0"/>
              <a:t>if Statements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1B28C51-878D-423F-BAF6-1ED14CC65432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6C4FFA5-CA39-44B9-ACFD-7B02414DACEC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7C5FEC3-79DD-484C-A72B-01844701F0DF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fld>
              <a:endParaRPr lang="zh-CN" altLang="en-US" sz="1600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825D290-0C3A-4EED-BC07-28761816D377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840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DC79B095-DC50-42D0-801B-DFA14A505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578224"/>
              </p:ext>
            </p:extLst>
          </p:nvPr>
        </p:nvGraphicFramePr>
        <p:xfrm>
          <a:off x="371965" y="1325880"/>
          <a:ext cx="773212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步骤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例：半径合法才算面积</a:t>
                      </a:r>
                      <a:endParaRPr sz="140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例：整数能被 5 整除就打招呼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①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说清条件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用一句</a:t>
                      </a:r>
                      <a:r>
                        <a:rPr lang="zh-CN" altLang="en-US"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话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把“什么情况下”说明白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半径大于或等于 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number 除以 5 余数为 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② 翻译条件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把</a:t>
                      </a:r>
                      <a:r>
                        <a:rPr lang="zh-CN" altLang="en-US"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这句话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翻译成布尔表达式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radius &gt;=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number % 5 ==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③ 决定动作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条件成立做什么？不成立呢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成立：算面积并输出</a:t>
                      </a:r>
                    </a:p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不成立：什么都不做 → if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成立：输出 HiFive</a:t>
                      </a:r>
                    </a:p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不成立：不输出 → if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④ 组装代码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套进语法框架，注意 () 与 {}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if (radius &gt;= 0) { … 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if (number % 5 == 0) { … 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8">
            <a:extLst>
              <a:ext uri="{FF2B5EF4-FFF2-40B4-BE49-F238E27FC236}">
                <a16:creationId xmlns:a16="http://schemas.microsoft.com/office/drawing/2014/main" id="{803CE320-8408-4CD2-978E-38D735DFAB21}"/>
              </a:ext>
            </a:extLst>
          </p:cNvPr>
          <p:cNvSpPr txBox="1"/>
          <p:nvPr/>
        </p:nvSpPr>
        <p:spPr>
          <a:xfrm>
            <a:off x="8104094" y="1986621"/>
            <a:ext cx="4114800" cy="30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50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初学者写错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if，多半是</a:t>
            </a:r>
            <a:r>
              <a:rPr sz="17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第①步没想清楚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，而不是语法不会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50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第②步常见错误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=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写成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==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1 &lt; x &lt; 100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、忘了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%</a:t>
            </a:r>
          </a:p>
          <a:p>
            <a:pPr marL="342900" indent="-285750">
              <a:lnSpc>
                <a:spcPct val="150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第③步决定用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700" b="1" i="0" dirty="0">
                <a:solidFill>
                  <a:srgbClr val="262626"/>
                </a:solidFill>
                <a:latin typeface="微软雅黑"/>
                <a:ea typeface="微软雅黑"/>
              </a:rPr>
              <a:t>if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还是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700" b="1" i="0" dirty="0">
                <a:solidFill>
                  <a:srgbClr val="262626"/>
                </a:solidFill>
                <a:latin typeface="微软雅黑"/>
                <a:ea typeface="微软雅黑"/>
              </a:rPr>
              <a:t>if-else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</a:p>
          <a:p>
            <a:pPr marL="742900" indent="-285750">
              <a:lnSpc>
                <a:spcPct val="150000"/>
              </a:lnSpc>
              <a:spcAft>
                <a:spcPts val="600"/>
              </a:spcAft>
              <a:buChar char="–"/>
            </a:pP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“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不成立时什么都不做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” →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if</a:t>
            </a:r>
          </a:p>
          <a:p>
            <a:pPr marL="742900" indent="-285750">
              <a:lnSpc>
                <a:spcPct val="150000"/>
              </a:lnSpc>
              <a:spcAft>
                <a:spcPts val="600"/>
              </a:spcAft>
              <a:buChar char="–"/>
            </a:pP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“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不成立时做另一件事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” →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if-else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BD083F0-3658-40E5-9FC5-B29542EE6DDD}"/>
              </a:ext>
            </a:extLst>
          </p:cNvPr>
          <p:cNvGrpSpPr/>
          <p:nvPr/>
        </p:nvGrpSpPr>
        <p:grpSpPr>
          <a:xfrm>
            <a:off x="83126" y="111043"/>
            <a:ext cx="4245034" cy="733368"/>
            <a:chOff x="83126" y="111043"/>
            <a:chExt cx="2892484" cy="7333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052B681-A473-4735-8F00-1829F96F41F5}"/>
                </a:ext>
              </a:extLst>
            </p:cNvPr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如何写</a:t>
              </a:r>
              <a:r>
                <a:rPr lang="en-US" altLang="zh-CN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if</a:t>
              </a:r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语句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5A372B8-78BF-4944-820A-65AAC265CCEA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B9523BC-C088-476F-B9EB-B97EE5581706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D33A5D3-FB8E-4AA8-8858-6816D2D98C0C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9FB48F1-BB19-439F-BBBF-4D6D30C0918D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fld>
              <a:endParaRPr lang="zh-CN" altLang="en-US" sz="16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71BBD6D-CF3C-48D5-82A5-E35EA6681FEA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9323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51E6FB2A-65C9-420B-8E46-302C7E7EE275}"/>
              </a:ext>
            </a:extLst>
          </p:cNvPr>
          <p:cNvSpPr/>
          <p:nvPr/>
        </p:nvSpPr>
        <p:spPr>
          <a:xfrm>
            <a:off x="457200" y="1188720"/>
            <a:ext cx="6583680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main()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{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5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"Enter an integer: "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5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number;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5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&gt;&gt; number;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5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(number %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==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5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"</a:t>
            </a:r>
            <a:r>
              <a:rPr sz="1500" b="0" i="0" dirty="0" err="1">
                <a:solidFill>
                  <a:srgbClr val="CE9178"/>
                </a:solidFill>
                <a:latin typeface="Consolas"/>
                <a:ea typeface="微软雅黑"/>
              </a:rPr>
              <a:t>HiFive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"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5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5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(number %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==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5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"</a:t>
            </a:r>
            <a:r>
              <a:rPr sz="1500" b="0" i="0" dirty="0" err="1">
                <a:solidFill>
                  <a:srgbClr val="CE9178"/>
                </a:solidFill>
                <a:latin typeface="Consolas"/>
                <a:ea typeface="微软雅黑"/>
              </a:rPr>
              <a:t>HiEven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"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5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}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F12F0B4-97B2-44BF-9A91-6177B739BC48}"/>
              </a:ext>
            </a:extLst>
          </p:cNvPr>
          <p:cNvSpPr txBox="1"/>
          <p:nvPr/>
        </p:nvSpPr>
        <p:spPr>
          <a:xfrm>
            <a:off x="7315200" y="1234440"/>
            <a:ext cx="45107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输入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4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输出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HiEven</a:t>
            </a:r>
            <a:endParaRPr sz="1600" b="0" i="0" dirty="0">
              <a:solidFill>
                <a:srgbClr val="8E2A2A"/>
              </a:solidFill>
              <a:latin typeface="Consolas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输入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30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输出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HiFive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和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HiEven</a:t>
            </a:r>
            <a:endParaRPr sz="1600" b="0" i="0" dirty="0">
              <a:solidFill>
                <a:srgbClr val="8E2A2A"/>
              </a:solidFill>
              <a:latin typeface="Consolas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输入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35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输出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HiFive</a:t>
            </a:r>
            <a:endParaRPr sz="1600" b="0" i="0" dirty="0">
              <a:solidFill>
                <a:srgbClr val="8E2A2A"/>
              </a:solidFill>
              <a:latin typeface="Consolas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输入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21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无输出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要点</a:t>
            </a:r>
            <a:endParaRPr sz="17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两个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if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相互独立，各自判断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%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求余为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0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表示能整除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这里块内只有一条语句，省略了花括号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EA5E46D-0043-4130-B0A9-67513AAC9366}"/>
              </a:ext>
            </a:extLst>
          </p:cNvPr>
          <p:cNvGrpSpPr/>
          <p:nvPr/>
        </p:nvGrpSpPr>
        <p:grpSpPr>
          <a:xfrm>
            <a:off x="83126" y="111043"/>
            <a:ext cx="4245034" cy="733368"/>
            <a:chOff x="83126" y="111043"/>
            <a:chExt cx="2892484" cy="7333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01257CC-C3B6-4AB9-8CC7-C64D59DDA370}"/>
                </a:ext>
              </a:extLst>
            </p:cNvPr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例：单分支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076FB9E-3E6F-4282-B53C-6C9217C7BB02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E9D8CAE-0419-47CC-8EF2-D97C174EDBB2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9D0DA9C-93C2-4D5D-ACBE-E2BE575A4F53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FD44FD-5DCF-4EB2-B755-1DC3B734C36D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fld>
              <a:endParaRPr lang="zh-CN" altLang="en-US" sz="16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C4669AF-1177-4F52-BF4A-3DDF24B89DC5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029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1426" y="177155"/>
            <a:ext cx="7772400" cy="707886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双分支</a:t>
            </a:r>
            <a:r>
              <a:rPr lang="en-US" altLang="zh-CN" dirty="0"/>
              <a:t>: if-else Statements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81" name="Rectangle 6"/>
          <p:cNvSpPr>
            <a:spLocks noChangeArrowheads="1"/>
          </p:cNvSpPr>
          <p:nvPr/>
        </p:nvSpPr>
        <p:spPr bwMode="auto">
          <a:xfrm>
            <a:off x="3686175" y="242887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8" name="矩形 7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fld>
              <a:endParaRPr lang="zh-CN" altLang="en-US" sz="16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3126" y="111043"/>
            <a:ext cx="4245034" cy="733368"/>
            <a:chOff x="83126" y="111043"/>
            <a:chExt cx="2892484" cy="733368"/>
          </a:xfrm>
        </p:grpSpPr>
        <p:sp>
          <p:nvSpPr>
            <p:cNvPr id="12" name="矩形 11"/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选择语句</a:t>
              </a:r>
            </a:p>
          </p:txBody>
        </p:sp>
        <p:sp>
          <p:nvSpPr>
            <p:cNvPr id="13" name="矩形 12"/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F4FAC36D-9D3C-44F0-9064-4CCA9DCD9C18}"/>
              </a:ext>
            </a:extLst>
          </p:cNvPr>
          <p:cNvSpPr/>
          <p:nvPr/>
        </p:nvSpPr>
        <p:spPr>
          <a:xfrm>
            <a:off x="430306" y="1095952"/>
            <a:ext cx="5120640" cy="21945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5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 (boolean-expression)</a:t>
            </a:r>
          </a:p>
          <a:p>
            <a:pPr algn="l">
              <a:lnSpc>
                <a:spcPct val="105000"/>
              </a:lnSpc>
              <a:buNone/>
            </a:pP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05000"/>
              </a:lnSpc>
              <a:buNone/>
            </a:pP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  statement(s)-</a:t>
            </a:r>
            <a:r>
              <a:rPr sz="1450" b="0" i="0">
                <a:solidFill>
                  <a:srgbClr val="569CD6"/>
                </a:solidFill>
                <a:latin typeface="Consolas"/>
                <a:ea typeface="微软雅黑"/>
              </a:rPr>
              <a:t>for</a:t>
            </a: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-the-</a:t>
            </a:r>
            <a:r>
              <a:rPr sz="1450" b="0" i="0">
                <a:solidFill>
                  <a:srgbClr val="569CD6"/>
                </a:solidFill>
                <a:latin typeface="Consolas"/>
                <a:ea typeface="微软雅黑"/>
              </a:rPr>
              <a:t>true</a:t>
            </a: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-</a:t>
            </a:r>
            <a:r>
              <a:rPr sz="1450" b="0" i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  <a:p>
            <a:pPr algn="l">
              <a:lnSpc>
                <a:spcPct val="105000"/>
              </a:lnSpc>
              <a:buNone/>
            </a:pPr>
            <a:r>
              <a:rPr sz="145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05000"/>
              </a:lnSpc>
              <a:buNone/>
            </a:pP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  statement(s)-</a:t>
            </a:r>
            <a:r>
              <a:rPr sz="1450" b="0" i="0">
                <a:solidFill>
                  <a:srgbClr val="569CD6"/>
                </a:solidFill>
                <a:latin typeface="Consolas"/>
                <a:ea typeface="微软雅黑"/>
              </a:rPr>
              <a:t>for</a:t>
            </a: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-the-</a:t>
            </a:r>
            <a:r>
              <a:rPr sz="1450" b="0" i="0">
                <a:solidFill>
                  <a:srgbClr val="569CD6"/>
                </a:solidFill>
                <a:latin typeface="Consolas"/>
                <a:ea typeface="微软雅黑"/>
              </a:rPr>
              <a:t>false</a:t>
            </a: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-</a:t>
            </a:r>
            <a:r>
              <a:rPr sz="1450" b="0" i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50" b="0" i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FFB8E9F8-BBE8-428D-9152-280F6168E07F}"/>
              </a:ext>
            </a:extLst>
          </p:cNvPr>
          <p:cNvSpPr txBox="1"/>
          <p:nvPr/>
        </p:nvSpPr>
        <p:spPr>
          <a:xfrm>
            <a:off x="430306" y="3381952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条件为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true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 执行 if 块，为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false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 执行 else 块 —— </a:t>
            </a:r>
            <a:r>
              <a:rPr sz="1500" b="1" i="0">
                <a:solidFill>
                  <a:srgbClr val="262626"/>
                </a:solidFill>
                <a:latin typeface="微软雅黑"/>
                <a:ea typeface="微软雅黑"/>
              </a:rPr>
              <a:t>二者必执行其一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D63F415-0C32-482D-8D45-C62C60BDD3CA}"/>
              </a:ext>
            </a:extLst>
          </p:cNvPr>
          <p:cNvSpPr txBox="1"/>
          <p:nvPr/>
        </p:nvSpPr>
        <p:spPr>
          <a:xfrm>
            <a:off x="430306" y="41591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1F3A5F"/>
                </a:solidFill>
                <a:latin typeface="微软雅黑"/>
                <a:ea typeface="微软雅黑"/>
              </a:rPr>
              <a:t>示例：半径为负时给出提示</a:t>
            </a: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4AA42FB5-0402-4831-BC80-FBF84A5CC2D7}"/>
              </a:ext>
            </a:extLst>
          </p:cNvPr>
          <p:cNvSpPr/>
          <p:nvPr/>
        </p:nvSpPr>
        <p:spPr>
          <a:xfrm>
            <a:off x="430306" y="4524952"/>
            <a:ext cx="5120640" cy="1691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25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 (radius &gt;= </a:t>
            </a:r>
            <a:r>
              <a:rPr sz="1250" b="0" i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) {</a:t>
            </a:r>
          </a:p>
          <a:p>
            <a:pPr algn="l">
              <a:lnSpc>
                <a:spcPct val="105000"/>
              </a:lnSpc>
              <a:buNone/>
            </a:pP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  area = radius * radius * PI;</a:t>
            </a:r>
          </a:p>
          <a:p>
            <a:pPr algn="l">
              <a:lnSpc>
                <a:spcPct val="105000"/>
              </a:lnSpc>
              <a:buNone/>
            </a:pP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  cout &lt;&lt; </a:t>
            </a:r>
            <a:r>
              <a:rPr sz="1250" b="0" i="0">
                <a:solidFill>
                  <a:srgbClr val="CE9178"/>
                </a:solidFill>
                <a:latin typeface="Consolas"/>
                <a:ea typeface="微软雅黑"/>
              </a:rPr>
              <a:t>"The area is "</a:t>
            </a: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 &lt;&lt; area &lt;&lt; endl;</a:t>
            </a:r>
          </a:p>
          <a:p>
            <a:pPr algn="l">
              <a:lnSpc>
                <a:spcPct val="105000"/>
              </a:lnSpc>
              <a:buNone/>
            </a:pP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} </a:t>
            </a:r>
            <a:r>
              <a:rPr sz="125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 {</a:t>
            </a:r>
          </a:p>
          <a:p>
            <a:pPr algn="l">
              <a:lnSpc>
                <a:spcPct val="105000"/>
              </a:lnSpc>
              <a:buNone/>
            </a:pP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  cout &lt;&lt; </a:t>
            </a:r>
            <a:r>
              <a:rPr sz="1250" b="0" i="0">
                <a:solidFill>
                  <a:srgbClr val="CE9178"/>
                </a:solidFill>
                <a:latin typeface="Consolas"/>
                <a:ea typeface="微软雅黑"/>
              </a:rPr>
              <a:t>"Negative input"</a:t>
            </a: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 &lt;&lt; endl;</a:t>
            </a:r>
          </a:p>
          <a:p>
            <a:pPr algn="l">
              <a:lnSpc>
                <a:spcPct val="105000"/>
              </a:lnSpc>
              <a:buNone/>
            </a:pPr>
            <a:r>
              <a:rPr sz="1250" b="0" i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19" name="Decision 11">
            <a:extLst>
              <a:ext uri="{FF2B5EF4-FFF2-40B4-BE49-F238E27FC236}">
                <a16:creationId xmlns:a16="http://schemas.microsoft.com/office/drawing/2014/main" id="{DE1860B6-61E1-401B-8556-FCFB78DB8BE1}"/>
              </a:ext>
            </a:extLst>
          </p:cNvPr>
          <p:cNvSpPr/>
          <p:nvPr/>
        </p:nvSpPr>
        <p:spPr>
          <a:xfrm>
            <a:off x="7471186" y="1141672"/>
            <a:ext cx="2560320" cy="118872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>
                <a:solidFill>
                  <a:srgbClr val="262626"/>
                </a:solidFill>
                <a:latin typeface="Consolas"/>
                <a:ea typeface="微软雅黑"/>
              </a:rPr>
              <a:t>boolean-
expression</a:t>
            </a:r>
          </a:p>
        </p:txBody>
      </p:sp>
      <p:cxnSp>
        <p:nvCxnSpPr>
          <p:cNvPr id="20" name="Connector 12">
            <a:extLst>
              <a:ext uri="{FF2B5EF4-FFF2-40B4-BE49-F238E27FC236}">
                <a16:creationId xmlns:a16="http://schemas.microsoft.com/office/drawing/2014/main" id="{B47D8A6D-9890-4261-A0DA-7B573E7BA39A}"/>
              </a:ext>
            </a:extLst>
          </p:cNvPr>
          <p:cNvCxnSpPr/>
          <p:nvPr/>
        </p:nvCxnSpPr>
        <p:spPr>
          <a:xfrm flipH="1">
            <a:off x="6556786" y="1736031"/>
            <a:ext cx="91440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3">
            <a:extLst>
              <a:ext uri="{FF2B5EF4-FFF2-40B4-BE49-F238E27FC236}">
                <a16:creationId xmlns:a16="http://schemas.microsoft.com/office/drawing/2014/main" id="{3DC03389-2B71-4ECB-B4F7-971E3A33C613}"/>
              </a:ext>
            </a:extLst>
          </p:cNvPr>
          <p:cNvCxnSpPr/>
          <p:nvPr/>
        </p:nvCxnSpPr>
        <p:spPr>
          <a:xfrm>
            <a:off x="6556786" y="1736031"/>
            <a:ext cx="0" cy="1234441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14">
            <a:extLst>
              <a:ext uri="{FF2B5EF4-FFF2-40B4-BE49-F238E27FC236}">
                <a16:creationId xmlns:a16="http://schemas.microsoft.com/office/drawing/2014/main" id="{419F2631-4F1B-4531-AEEB-2323CC641093}"/>
              </a:ext>
            </a:extLst>
          </p:cNvPr>
          <p:cNvSpPr txBox="1"/>
          <p:nvPr/>
        </p:nvSpPr>
        <p:spPr>
          <a:xfrm>
            <a:off x="6602506" y="137027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CD392233-64B7-4232-8454-4B20285A8264}"/>
              </a:ext>
            </a:extLst>
          </p:cNvPr>
          <p:cNvSpPr/>
          <p:nvPr/>
        </p:nvSpPr>
        <p:spPr>
          <a:xfrm>
            <a:off x="5550946" y="2970472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Consolas"/>
                <a:ea typeface="微软雅黑"/>
              </a:rPr>
              <a:t>statement(s)
for true</a:t>
            </a:r>
          </a:p>
        </p:txBody>
      </p:sp>
      <p:cxnSp>
        <p:nvCxnSpPr>
          <p:cNvPr id="24" name="Connector 16">
            <a:extLst>
              <a:ext uri="{FF2B5EF4-FFF2-40B4-BE49-F238E27FC236}">
                <a16:creationId xmlns:a16="http://schemas.microsoft.com/office/drawing/2014/main" id="{383067D4-E2A4-4CA2-A84C-AAFB83FB5EE7}"/>
              </a:ext>
            </a:extLst>
          </p:cNvPr>
          <p:cNvCxnSpPr/>
          <p:nvPr/>
        </p:nvCxnSpPr>
        <p:spPr>
          <a:xfrm>
            <a:off x="10031506" y="1736031"/>
            <a:ext cx="91440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7">
            <a:extLst>
              <a:ext uri="{FF2B5EF4-FFF2-40B4-BE49-F238E27FC236}">
                <a16:creationId xmlns:a16="http://schemas.microsoft.com/office/drawing/2014/main" id="{9F2B3850-FB6D-4C98-AE2D-5E5F9F3315A3}"/>
              </a:ext>
            </a:extLst>
          </p:cNvPr>
          <p:cNvCxnSpPr/>
          <p:nvPr/>
        </p:nvCxnSpPr>
        <p:spPr>
          <a:xfrm>
            <a:off x="10945906" y="1736031"/>
            <a:ext cx="0" cy="1234441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18">
            <a:extLst>
              <a:ext uri="{FF2B5EF4-FFF2-40B4-BE49-F238E27FC236}">
                <a16:creationId xmlns:a16="http://schemas.microsoft.com/office/drawing/2014/main" id="{D6C29AE7-9E8D-4681-8D01-1918E13FB6FC}"/>
              </a:ext>
            </a:extLst>
          </p:cNvPr>
          <p:cNvSpPr txBox="1"/>
          <p:nvPr/>
        </p:nvSpPr>
        <p:spPr>
          <a:xfrm>
            <a:off x="10122946" y="137027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92AE1263-1DFE-4F44-B064-268EBDE1AA69}"/>
              </a:ext>
            </a:extLst>
          </p:cNvPr>
          <p:cNvSpPr/>
          <p:nvPr/>
        </p:nvSpPr>
        <p:spPr>
          <a:xfrm>
            <a:off x="9940066" y="2970472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Consolas"/>
                <a:ea typeface="微软雅黑"/>
              </a:rPr>
              <a:t>statement(s)
for false</a:t>
            </a:r>
          </a:p>
        </p:txBody>
      </p:sp>
      <p:cxnSp>
        <p:nvCxnSpPr>
          <p:cNvPr id="28" name="Connector 20">
            <a:extLst>
              <a:ext uri="{FF2B5EF4-FFF2-40B4-BE49-F238E27FC236}">
                <a16:creationId xmlns:a16="http://schemas.microsoft.com/office/drawing/2014/main" id="{24F2102B-69AC-4D61-9A98-24F9B1E1CA72}"/>
              </a:ext>
            </a:extLst>
          </p:cNvPr>
          <p:cNvCxnSpPr/>
          <p:nvPr/>
        </p:nvCxnSpPr>
        <p:spPr>
          <a:xfrm>
            <a:off x="6556786" y="3884872"/>
            <a:ext cx="0" cy="64008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1">
            <a:extLst>
              <a:ext uri="{FF2B5EF4-FFF2-40B4-BE49-F238E27FC236}">
                <a16:creationId xmlns:a16="http://schemas.microsoft.com/office/drawing/2014/main" id="{3F76A31B-DF4F-4D61-A96C-0DEDFD9E9BAF}"/>
              </a:ext>
            </a:extLst>
          </p:cNvPr>
          <p:cNvCxnSpPr/>
          <p:nvPr/>
        </p:nvCxnSpPr>
        <p:spPr>
          <a:xfrm>
            <a:off x="6556786" y="4524952"/>
            <a:ext cx="21488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2">
            <a:extLst>
              <a:ext uri="{FF2B5EF4-FFF2-40B4-BE49-F238E27FC236}">
                <a16:creationId xmlns:a16="http://schemas.microsoft.com/office/drawing/2014/main" id="{186AFF35-D7C0-4E5A-B6CF-9C16F0D41F60}"/>
              </a:ext>
            </a:extLst>
          </p:cNvPr>
          <p:cNvCxnSpPr/>
          <p:nvPr/>
        </p:nvCxnSpPr>
        <p:spPr>
          <a:xfrm>
            <a:off x="10945906" y="3884872"/>
            <a:ext cx="0" cy="64008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23">
            <a:extLst>
              <a:ext uri="{FF2B5EF4-FFF2-40B4-BE49-F238E27FC236}">
                <a16:creationId xmlns:a16="http://schemas.microsoft.com/office/drawing/2014/main" id="{D3FCC044-CA61-4C28-9D88-C85860BA1E68}"/>
              </a:ext>
            </a:extLst>
          </p:cNvPr>
          <p:cNvCxnSpPr/>
          <p:nvPr/>
        </p:nvCxnSpPr>
        <p:spPr>
          <a:xfrm flipH="1">
            <a:off x="8797066" y="4524952"/>
            <a:ext cx="21488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24">
            <a:extLst>
              <a:ext uri="{FF2B5EF4-FFF2-40B4-BE49-F238E27FC236}">
                <a16:creationId xmlns:a16="http://schemas.microsoft.com/office/drawing/2014/main" id="{6D3EA706-8669-4576-8830-8315CAEB0A52}"/>
              </a:ext>
            </a:extLst>
          </p:cNvPr>
          <p:cNvCxnSpPr/>
          <p:nvPr/>
        </p:nvCxnSpPr>
        <p:spPr>
          <a:xfrm>
            <a:off x="8751346" y="4524952"/>
            <a:ext cx="0" cy="54864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25">
            <a:extLst>
              <a:ext uri="{FF2B5EF4-FFF2-40B4-BE49-F238E27FC236}">
                <a16:creationId xmlns:a16="http://schemas.microsoft.com/office/drawing/2014/main" id="{FF5E5755-D98B-49AF-B1BC-CC5F91E693B5}"/>
              </a:ext>
            </a:extLst>
          </p:cNvPr>
          <p:cNvSpPr/>
          <p:nvPr/>
        </p:nvSpPr>
        <p:spPr>
          <a:xfrm>
            <a:off x="7928386" y="5073592"/>
            <a:ext cx="1645920" cy="5486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后续语句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897F9169-BB0E-41FD-875A-30F6541D6FB0}"/>
              </a:ext>
            </a:extLst>
          </p:cNvPr>
          <p:cNvSpPr/>
          <p:nvPr/>
        </p:nvSpPr>
        <p:spPr>
          <a:xfrm>
            <a:off x="457200" y="1188720"/>
            <a:ext cx="6583680" cy="140208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7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 (number % </a:t>
            </a:r>
            <a:r>
              <a:rPr sz="1700" b="0" i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 == </a:t>
            </a:r>
            <a:r>
              <a:rPr sz="1700" b="0" i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  cout &lt;&lt; number &lt;&lt; </a:t>
            </a:r>
            <a:r>
              <a:rPr sz="1700" b="0" i="0">
                <a:solidFill>
                  <a:srgbClr val="CE9178"/>
                </a:solidFill>
                <a:latin typeface="Consolas"/>
                <a:ea typeface="微软雅黑"/>
              </a:rPr>
              <a:t>" is even."</a:t>
            </a: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7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  cout &lt;&lt; number &lt;&lt; </a:t>
            </a:r>
            <a:r>
              <a:rPr sz="1700" b="0" i="0">
                <a:solidFill>
                  <a:srgbClr val="CE9178"/>
                </a:solidFill>
                <a:latin typeface="Consolas"/>
                <a:ea typeface="微软雅黑"/>
              </a:rPr>
              <a:t>" is odd."</a:t>
            </a:r>
            <a:r>
              <a:rPr sz="17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22946EE6-18B3-420B-939B-68C7230CE210}"/>
              </a:ext>
            </a:extLst>
          </p:cNvPr>
          <p:cNvSpPr txBox="1"/>
          <p:nvPr/>
        </p:nvSpPr>
        <p:spPr>
          <a:xfrm>
            <a:off x="7315200" y="1234440"/>
            <a:ext cx="4510735" cy="11254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块内只有一条语句时可省略花括号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缩进要体现层次关系</a:t>
            </a:r>
            <a:endParaRPr lang="en-US" altLang="zh-CN"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57150">
              <a:lnSpc>
                <a:spcPct val="115000"/>
              </a:lnSpc>
              <a:spcAft>
                <a:spcPts val="600"/>
              </a:spcAft>
            </a:pP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19D40B8-575F-4716-B732-BB56134AFBB3}"/>
              </a:ext>
            </a:extLst>
          </p:cNvPr>
          <p:cNvGrpSpPr/>
          <p:nvPr/>
        </p:nvGrpSpPr>
        <p:grpSpPr>
          <a:xfrm>
            <a:off x="83126" y="111043"/>
            <a:ext cx="7823744" cy="733368"/>
            <a:chOff x="83126" y="111043"/>
            <a:chExt cx="5330948" cy="733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86BDFE0-8E37-47BD-A266-72AA1409B442}"/>
                </a:ext>
              </a:extLst>
            </p:cNvPr>
            <p:cNvSpPr/>
            <p:nvPr/>
          </p:nvSpPr>
          <p:spPr>
            <a:xfrm>
              <a:off x="232409" y="136525"/>
              <a:ext cx="518166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例：双分支</a:t>
              </a:r>
              <a:r>
                <a:rPr lang="en-US" altLang="zh-CN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——</a:t>
              </a:r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判断奇数偶数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A2137AB-DDCF-42CE-B26A-5623115112EA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1902E576-2320-401C-B9B4-4642E52011F2}"/>
              </a:ext>
            </a:extLst>
          </p:cNvPr>
          <p:cNvSpPr/>
          <p:nvPr/>
        </p:nvSpPr>
        <p:spPr>
          <a:xfrm>
            <a:off x="380928" y="3148574"/>
            <a:ext cx="9569895" cy="1357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sz="2800" b="1" dirty="0">
                <a:solidFill>
                  <a:srgbClr val="1F3A5F"/>
                </a:solidFill>
                <a:latin typeface="微软雅黑"/>
                <a:ea typeface="微软雅黑"/>
              </a:rPr>
              <a:t>练习（手写，只写分支语句，输入的变量为</a:t>
            </a:r>
            <a:r>
              <a:rPr lang="en-US" altLang="zh-CN" sz="2800" b="1" dirty="0">
                <a:solidFill>
                  <a:srgbClr val="1F3A5F"/>
                </a:solidFill>
                <a:latin typeface="微软雅黑"/>
                <a:ea typeface="微软雅黑"/>
              </a:rPr>
              <a:t>number</a:t>
            </a:r>
            <a:r>
              <a:rPr lang="zh-CN" altLang="en-US" sz="2800" b="1" dirty="0">
                <a:solidFill>
                  <a:srgbClr val="1F3A5F"/>
                </a:solidFill>
                <a:latin typeface="微软雅黑"/>
                <a:ea typeface="微软雅黑"/>
              </a:rPr>
              <a:t>）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输入一个整数</a:t>
            </a:r>
            <a:r>
              <a:rPr lang="en-US" altLang="zh-CN" dirty="0">
                <a:solidFill>
                  <a:srgbClr val="262626"/>
                </a:solidFill>
                <a:latin typeface="微软雅黑"/>
                <a:ea typeface="微软雅黑"/>
              </a:rPr>
              <a:t>number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，若为正数输出 </a:t>
            </a:r>
            <a:r>
              <a:rPr lang="gsw-FR" altLang="zh-CN" dirty="0">
                <a:solidFill>
                  <a:srgbClr val="8E2A2A"/>
                </a:solidFill>
                <a:latin typeface="Consolas"/>
                <a:ea typeface="微软雅黑"/>
              </a:rPr>
              <a:t>positive</a:t>
            </a:r>
            <a:r>
              <a:rPr lang="zh-CN" altLang="gsw-FR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否则输出 </a:t>
            </a:r>
            <a:r>
              <a:rPr lang="gsw-FR" altLang="zh-CN" dirty="0">
                <a:solidFill>
                  <a:srgbClr val="8E2A2A"/>
                </a:solidFill>
                <a:latin typeface="Consolas"/>
                <a:ea typeface="微软雅黑"/>
              </a:rPr>
              <a:t>non-positive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输入成绩</a:t>
            </a:r>
            <a:r>
              <a:rPr lang="en-US" altLang="zh-CN" dirty="0">
                <a:solidFill>
                  <a:srgbClr val="262626"/>
                </a:solidFill>
                <a:latin typeface="微软雅黑"/>
                <a:ea typeface="微软雅黑"/>
              </a:rPr>
              <a:t>number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，≥ </a:t>
            </a:r>
            <a:r>
              <a:rPr lang="en-US" altLang="zh-CN" dirty="0">
                <a:solidFill>
                  <a:srgbClr val="262626"/>
                </a:solidFill>
                <a:latin typeface="微软雅黑"/>
                <a:ea typeface="微软雅黑"/>
              </a:rPr>
              <a:t>60 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输出 </a:t>
            </a:r>
            <a:r>
              <a:rPr lang="gsw-FR" altLang="zh-CN" dirty="0">
                <a:solidFill>
                  <a:srgbClr val="8E2A2A"/>
                </a:solidFill>
                <a:latin typeface="Consolas"/>
                <a:ea typeface="微软雅黑"/>
              </a:rPr>
              <a:t>Pass</a:t>
            </a:r>
            <a:r>
              <a:rPr lang="zh-CN" altLang="gsw-FR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否则输出 </a:t>
            </a:r>
            <a:r>
              <a:rPr lang="gsw-FR" altLang="zh-CN" dirty="0">
                <a:solidFill>
                  <a:srgbClr val="8E2A2A"/>
                </a:solidFill>
                <a:latin typeface="Consolas"/>
                <a:ea typeface="微软雅黑"/>
              </a:rPr>
              <a:t>Fail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5B95BC3-5FCC-4E0A-849A-E9C320D404B4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4D1D02E-5A04-4565-AE6E-DD7204985E90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AAB21F5-A1A8-4D9B-AB47-C4E74C213B17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fld>
              <a:endParaRPr lang="zh-CN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B31FDE4-A51B-47F6-9923-55B6BAAFA7DA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5842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矩形 1"/>
          <p:cNvSpPr>
            <a:spLocks noChangeArrowheads="1"/>
          </p:cNvSpPr>
          <p:nvPr/>
        </p:nvSpPr>
        <p:spPr bwMode="auto">
          <a:xfrm>
            <a:off x="772885" y="714375"/>
            <a:ext cx="55626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Small, Large, or Equal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Write a program which prints small/large/equal relation of given two integers a and b.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Two integers a and b separated by a single space are given in a line.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For given two integers a and b, print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a &lt; b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if a is less than b,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a &gt; b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if a is greater than b, and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a == b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if a equals to b.</a:t>
            </a:r>
          </a:p>
        </p:txBody>
      </p:sp>
      <p:sp>
        <p:nvSpPr>
          <p:cNvPr id="54277" name="矩形 3"/>
          <p:cNvSpPr>
            <a:spLocks noChangeArrowheads="1"/>
          </p:cNvSpPr>
          <p:nvPr/>
        </p:nvSpPr>
        <p:spPr bwMode="auto">
          <a:xfrm>
            <a:off x="6820988" y="714375"/>
            <a:ext cx="31242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-1000 ≤ a, b ≤ 1000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 &lt; b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4 3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 &gt; b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5 5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 == b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7" name="矩形 6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9</a:t>
              </a:fld>
              <a:endParaRPr lang="zh-CN" altLang="en-US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标题 1"/>
          <p:cNvSpPr txBox="1"/>
          <p:nvPr/>
        </p:nvSpPr>
        <p:spPr>
          <a:xfrm>
            <a:off x="432844" y="128905"/>
            <a:ext cx="10515600" cy="7078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课堂练习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：大小判断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 rot="5400000">
            <a:off x="-161272" y="355441"/>
            <a:ext cx="707886" cy="219089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3E3FE92E-B361-45D3-8B0E-8B085523E637}"/>
              </a:ext>
            </a:extLst>
          </p:cNvPr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1F3A5F"/>
                </a:solidFill>
                <a:latin typeface="微软雅黑"/>
                <a:ea typeface="微软雅黑"/>
              </a:rPr>
              <a:t>(a) 嵌套 if：按成绩评定等级</a:t>
            </a: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58BE9A27-E22F-4117-AF4B-FCC272FDDDDA}"/>
              </a:ext>
            </a:extLst>
          </p:cNvPr>
          <p:cNvSpPr/>
          <p:nvPr/>
        </p:nvSpPr>
        <p:spPr>
          <a:xfrm>
            <a:off x="45720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90.0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'A'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80.0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'B'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70.0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'C'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60.0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  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'D'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  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'F'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51395088-D306-46E9-A318-7A52E0ECB2BD}"/>
              </a:ext>
            </a:extLst>
          </p:cNvPr>
          <p:cNvSpPr txBox="1"/>
          <p:nvPr/>
        </p:nvSpPr>
        <p:spPr>
          <a:xfrm>
            <a:off x="621792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1F3A5F"/>
                </a:solidFill>
                <a:latin typeface="微软雅黑"/>
                <a:ea typeface="微软雅黑"/>
              </a:rPr>
              <a:t>(b) 等价的多分支 if-else（推荐写法）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C51123F9-5CB2-4C37-9617-CAEBE8FC6C9D}"/>
              </a:ext>
            </a:extLst>
          </p:cNvPr>
          <p:cNvSpPr/>
          <p:nvPr/>
        </p:nvSpPr>
        <p:spPr>
          <a:xfrm>
            <a:off x="621792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90.0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'A'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80.0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'B'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70.0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'C'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60.0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'D'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grade =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'F'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55015F5D-2E0F-4675-8DE2-FAC525CFAC6F}"/>
              </a:ext>
            </a:extLst>
          </p:cNvPr>
          <p:cNvSpPr/>
          <p:nvPr/>
        </p:nvSpPr>
        <p:spPr>
          <a:xfrm>
            <a:off x="457200" y="5760720"/>
            <a:ext cx="11292840" cy="64008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buNone/>
            </a:pP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if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语句可以嵌套在另一个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if 或 else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块内，嵌套深度不限；else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总是与最近的未匹配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if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配对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0DA1A93-0010-4A39-9B46-EFEEAE23BA8C}"/>
              </a:ext>
            </a:extLst>
          </p:cNvPr>
          <p:cNvGrpSpPr/>
          <p:nvPr/>
        </p:nvGrpSpPr>
        <p:grpSpPr>
          <a:xfrm>
            <a:off x="83126" y="111043"/>
            <a:ext cx="7823744" cy="733368"/>
            <a:chOff x="83126" y="111043"/>
            <a:chExt cx="5330948" cy="7333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F8E50F3-A3B9-4743-9285-80E83FD2B86D}"/>
                </a:ext>
              </a:extLst>
            </p:cNvPr>
            <p:cNvSpPr/>
            <p:nvPr/>
          </p:nvSpPr>
          <p:spPr>
            <a:xfrm>
              <a:off x="232409" y="136525"/>
              <a:ext cx="518166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嵌套与多分支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A37E836-12B4-44EA-9673-D35E9EE1A2A8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4AEF1AB-10FA-436F-BE79-596B192E0638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6DFD584-7F05-4310-A497-2E9096734F2C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BC5C19C-C93C-4416-8E14-0B0E1445BC14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10</a:t>
              </a:fld>
              <a:endParaRPr lang="zh-CN" altLang="en-US" sz="1600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BC37FA7-1F08-45B0-983A-F789C1E4171E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961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B73A06E0-BEB0-4E4A-AA97-961458ED35C8}"/>
              </a:ext>
            </a:extLst>
          </p:cNvPr>
          <p:cNvSpPr/>
          <p:nvPr/>
        </p:nvSpPr>
        <p:spPr>
          <a:xfrm>
            <a:off x="457200" y="1234440"/>
            <a:ext cx="4937760" cy="32918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5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90.0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grade = 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'A'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80.0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grade = 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'B'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70.0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grade = 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'C'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(score &gt;= </a:t>
            </a:r>
            <a:r>
              <a:rPr sz="1500" b="0" i="0" dirty="0">
                <a:solidFill>
                  <a:srgbClr val="B5CEA8"/>
                </a:solidFill>
                <a:latin typeface="Consolas"/>
                <a:ea typeface="微软雅黑"/>
              </a:rPr>
              <a:t>60.0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grade = 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'D'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 dirty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    grade = </a:t>
            </a:r>
            <a:r>
              <a:rPr sz="1500" b="0" i="0" dirty="0">
                <a:solidFill>
                  <a:srgbClr val="CE9178"/>
                </a:solidFill>
                <a:latin typeface="Consolas"/>
                <a:ea typeface="微软雅黑"/>
              </a:rPr>
              <a:t>'F'</a:t>
            </a:r>
            <a:r>
              <a:rPr sz="15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C8AAE7B-137A-4527-984D-B18359A3E498}"/>
              </a:ext>
            </a:extLst>
          </p:cNvPr>
          <p:cNvSpPr txBox="1"/>
          <p:nvPr/>
        </p:nvSpPr>
        <p:spPr>
          <a:xfrm>
            <a:off x="457200" y="4663440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①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score &gt;= 90.0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 → false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②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score &gt;= 80.0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 → false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③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score &gt;= 70.0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500" b="1" i="0">
                <a:solidFill>
                  <a:srgbClr val="262626"/>
                </a:solidFill>
                <a:latin typeface="微软雅黑"/>
                <a:ea typeface="微软雅黑"/>
              </a:rPr>
              <a:t>true</a:t>
            </a: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，执行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grade = 'C';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④ 跳过其余所有分支，整个语句结束</a:t>
            </a:r>
          </a:p>
        </p:txBody>
      </p:sp>
      <p:sp>
        <p:nvSpPr>
          <p:cNvPr id="6" name="Decision 9">
            <a:extLst>
              <a:ext uri="{FF2B5EF4-FFF2-40B4-BE49-F238E27FC236}">
                <a16:creationId xmlns:a16="http://schemas.microsoft.com/office/drawing/2014/main" id="{46192FDB-B343-4F40-AE14-EC4B7F3901F7}"/>
              </a:ext>
            </a:extLst>
          </p:cNvPr>
          <p:cNvSpPr/>
          <p:nvPr/>
        </p:nvSpPr>
        <p:spPr>
          <a:xfrm>
            <a:off x="5852160" y="1234440"/>
            <a:ext cx="2377440" cy="91440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score &gt;= 90.0</a:t>
            </a:r>
          </a:p>
        </p:txBody>
      </p:sp>
      <p:cxnSp>
        <p:nvCxnSpPr>
          <p:cNvPr id="7" name="Connector 10">
            <a:extLst>
              <a:ext uri="{FF2B5EF4-FFF2-40B4-BE49-F238E27FC236}">
                <a16:creationId xmlns:a16="http://schemas.microsoft.com/office/drawing/2014/main" id="{8D11C64C-99EE-4743-B930-998290F9A383}"/>
              </a:ext>
            </a:extLst>
          </p:cNvPr>
          <p:cNvCxnSpPr/>
          <p:nvPr/>
        </p:nvCxnSpPr>
        <p:spPr>
          <a:xfrm>
            <a:off x="8229600" y="1691640"/>
            <a:ext cx="82296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1">
            <a:extLst>
              <a:ext uri="{FF2B5EF4-FFF2-40B4-BE49-F238E27FC236}">
                <a16:creationId xmlns:a16="http://schemas.microsoft.com/office/drawing/2014/main" id="{4DCC144A-B6D3-437A-A23A-6BEF38C24F1D}"/>
              </a:ext>
            </a:extLst>
          </p:cNvPr>
          <p:cNvSpPr txBox="1"/>
          <p:nvPr/>
        </p:nvSpPr>
        <p:spPr>
          <a:xfrm>
            <a:off x="8366760" y="13716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B95BDD5-F2F7-4178-AD05-0617CAEC6308}"/>
              </a:ext>
            </a:extLst>
          </p:cNvPr>
          <p:cNvSpPr/>
          <p:nvPr/>
        </p:nvSpPr>
        <p:spPr>
          <a:xfrm>
            <a:off x="9052560" y="1417320"/>
            <a:ext cx="1828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grade = 'A'</a:t>
            </a:r>
          </a:p>
        </p:txBody>
      </p:sp>
      <p:cxnSp>
        <p:nvCxnSpPr>
          <p:cNvPr id="10" name="Connector 13">
            <a:extLst>
              <a:ext uri="{FF2B5EF4-FFF2-40B4-BE49-F238E27FC236}">
                <a16:creationId xmlns:a16="http://schemas.microsoft.com/office/drawing/2014/main" id="{911C4A4D-E1E2-4D7F-B578-1AB819BC13D7}"/>
              </a:ext>
            </a:extLst>
          </p:cNvPr>
          <p:cNvCxnSpPr/>
          <p:nvPr/>
        </p:nvCxnSpPr>
        <p:spPr>
          <a:xfrm>
            <a:off x="7040880" y="2148840"/>
            <a:ext cx="0" cy="2743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4">
            <a:extLst>
              <a:ext uri="{FF2B5EF4-FFF2-40B4-BE49-F238E27FC236}">
                <a16:creationId xmlns:a16="http://schemas.microsoft.com/office/drawing/2014/main" id="{FFD90C05-7B59-4B03-9D5B-E997BD0735CB}"/>
              </a:ext>
            </a:extLst>
          </p:cNvPr>
          <p:cNvSpPr txBox="1"/>
          <p:nvPr/>
        </p:nvSpPr>
        <p:spPr>
          <a:xfrm>
            <a:off x="7132320" y="21031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12" name="Decision 15">
            <a:extLst>
              <a:ext uri="{FF2B5EF4-FFF2-40B4-BE49-F238E27FC236}">
                <a16:creationId xmlns:a16="http://schemas.microsoft.com/office/drawing/2014/main" id="{749A6381-3BA5-4B2B-9217-940FD3D29DBA}"/>
              </a:ext>
            </a:extLst>
          </p:cNvPr>
          <p:cNvSpPr/>
          <p:nvPr/>
        </p:nvSpPr>
        <p:spPr>
          <a:xfrm>
            <a:off x="5852160" y="2423160"/>
            <a:ext cx="2377440" cy="91440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score &gt;= 80.0</a:t>
            </a:r>
          </a:p>
        </p:txBody>
      </p:sp>
      <p:cxnSp>
        <p:nvCxnSpPr>
          <p:cNvPr id="13" name="Connector 16">
            <a:extLst>
              <a:ext uri="{FF2B5EF4-FFF2-40B4-BE49-F238E27FC236}">
                <a16:creationId xmlns:a16="http://schemas.microsoft.com/office/drawing/2014/main" id="{592668F7-7C0E-4A98-8B06-C61EB76FBF5D}"/>
              </a:ext>
            </a:extLst>
          </p:cNvPr>
          <p:cNvCxnSpPr/>
          <p:nvPr/>
        </p:nvCxnSpPr>
        <p:spPr>
          <a:xfrm>
            <a:off x="8229600" y="2880360"/>
            <a:ext cx="82296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7">
            <a:extLst>
              <a:ext uri="{FF2B5EF4-FFF2-40B4-BE49-F238E27FC236}">
                <a16:creationId xmlns:a16="http://schemas.microsoft.com/office/drawing/2014/main" id="{0A5E952D-37AA-4F90-9613-50BFE2396E77}"/>
              </a:ext>
            </a:extLst>
          </p:cNvPr>
          <p:cNvSpPr txBox="1"/>
          <p:nvPr/>
        </p:nvSpPr>
        <p:spPr>
          <a:xfrm>
            <a:off x="8366760" y="2560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DD874D8E-9980-4199-B7C8-9285341A6014}"/>
              </a:ext>
            </a:extLst>
          </p:cNvPr>
          <p:cNvSpPr/>
          <p:nvPr/>
        </p:nvSpPr>
        <p:spPr>
          <a:xfrm>
            <a:off x="9052560" y="2606040"/>
            <a:ext cx="1828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grade = 'B'</a:t>
            </a:r>
          </a:p>
        </p:txBody>
      </p:sp>
      <p:cxnSp>
        <p:nvCxnSpPr>
          <p:cNvPr id="16" name="Connector 19">
            <a:extLst>
              <a:ext uri="{FF2B5EF4-FFF2-40B4-BE49-F238E27FC236}">
                <a16:creationId xmlns:a16="http://schemas.microsoft.com/office/drawing/2014/main" id="{ECFB4C00-4765-4956-9249-2E08510A8CFF}"/>
              </a:ext>
            </a:extLst>
          </p:cNvPr>
          <p:cNvCxnSpPr/>
          <p:nvPr/>
        </p:nvCxnSpPr>
        <p:spPr>
          <a:xfrm>
            <a:off x="7040880" y="3337560"/>
            <a:ext cx="0" cy="2743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20">
            <a:extLst>
              <a:ext uri="{FF2B5EF4-FFF2-40B4-BE49-F238E27FC236}">
                <a16:creationId xmlns:a16="http://schemas.microsoft.com/office/drawing/2014/main" id="{518CE9AD-DB8A-4F19-A3B5-5A30A1941725}"/>
              </a:ext>
            </a:extLst>
          </p:cNvPr>
          <p:cNvSpPr txBox="1"/>
          <p:nvPr/>
        </p:nvSpPr>
        <p:spPr>
          <a:xfrm>
            <a:off x="7132320" y="32918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18" name="Decision 21">
            <a:extLst>
              <a:ext uri="{FF2B5EF4-FFF2-40B4-BE49-F238E27FC236}">
                <a16:creationId xmlns:a16="http://schemas.microsoft.com/office/drawing/2014/main" id="{E511C2FB-6C3E-4012-87E1-9E6CE922820C}"/>
              </a:ext>
            </a:extLst>
          </p:cNvPr>
          <p:cNvSpPr/>
          <p:nvPr/>
        </p:nvSpPr>
        <p:spPr>
          <a:xfrm>
            <a:off x="5852160" y="3611880"/>
            <a:ext cx="2377440" cy="914400"/>
          </a:xfrm>
          <a:prstGeom prst="flowChartDecision">
            <a:avLst/>
          </a:prstGeom>
          <a:solidFill>
            <a:srgbClr val="FFF4D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score &gt;= 70.0</a:t>
            </a:r>
          </a:p>
        </p:txBody>
      </p:sp>
      <p:cxnSp>
        <p:nvCxnSpPr>
          <p:cNvPr id="19" name="Connector 22">
            <a:extLst>
              <a:ext uri="{FF2B5EF4-FFF2-40B4-BE49-F238E27FC236}">
                <a16:creationId xmlns:a16="http://schemas.microsoft.com/office/drawing/2014/main" id="{F82AD227-4075-47EB-830D-A182450B4890}"/>
              </a:ext>
            </a:extLst>
          </p:cNvPr>
          <p:cNvCxnSpPr/>
          <p:nvPr/>
        </p:nvCxnSpPr>
        <p:spPr>
          <a:xfrm>
            <a:off x="8229600" y="4069080"/>
            <a:ext cx="82296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23">
            <a:extLst>
              <a:ext uri="{FF2B5EF4-FFF2-40B4-BE49-F238E27FC236}">
                <a16:creationId xmlns:a16="http://schemas.microsoft.com/office/drawing/2014/main" id="{2373E61E-2198-440A-AA38-AAF998AB3A86}"/>
              </a:ext>
            </a:extLst>
          </p:cNvPr>
          <p:cNvSpPr txBox="1"/>
          <p:nvPr/>
        </p:nvSpPr>
        <p:spPr>
          <a:xfrm>
            <a:off x="8366760" y="3749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D6F9CC08-60EE-4773-B0BE-D48EAA0BF7E5}"/>
              </a:ext>
            </a:extLst>
          </p:cNvPr>
          <p:cNvSpPr/>
          <p:nvPr/>
        </p:nvSpPr>
        <p:spPr>
          <a:xfrm>
            <a:off x="9052560" y="3794760"/>
            <a:ext cx="1828800" cy="548640"/>
          </a:xfrm>
          <a:prstGeom prst="rect">
            <a:avLst/>
          </a:prstGeom>
          <a:solidFill>
            <a:srgbClr val="FFF4D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grade = 'C'</a:t>
            </a:r>
          </a:p>
        </p:txBody>
      </p:sp>
      <p:cxnSp>
        <p:nvCxnSpPr>
          <p:cNvPr id="22" name="Connector 25">
            <a:extLst>
              <a:ext uri="{FF2B5EF4-FFF2-40B4-BE49-F238E27FC236}">
                <a16:creationId xmlns:a16="http://schemas.microsoft.com/office/drawing/2014/main" id="{5CA8ED76-6FB5-4BAC-B3CF-B886580CC397}"/>
              </a:ext>
            </a:extLst>
          </p:cNvPr>
          <p:cNvCxnSpPr/>
          <p:nvPr/>
        </p:nvCxnSpPr>
        <p:spPr>
          <a:xfrm>
            <a:off x="7040880" y="4526280"/>
            <a:ext cx="0" cy="2743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6">
            <a:extLst>
              <a:ext uri="{FF2B5EF4-FFF2-40B4-BE49-F238E27FC236}">
                <a16:creationId xmlns:a16="http://schemas.microsoft.com/office/drawing/2014/main" id="{6F2BCCB9-556C-494C-A80E-8005FC999D67}"/>
              </a:ext>
            </a:extLst>
          </p:cNvPr>
          <p:cNvSpPr txBox="1"/>
          <p:nvPr/>
        </p:nvSpPr>
        <p:spPr>
          <a:xfrm>
            <a:off x="7132320" y="448056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24" name="Decision 27">
            <a:extLst>
              <a:ext uri="{FF2B5EF4-FFF2-40B4-BE49-F238E27FC236}">
                <a16:creationId xmlns:a16="http://schemas.microsoft.com/office/drawing/2014/main" id="{37B18648-ECE4-4521-86B3-2E48A72F8A67}"/>
              </a:ext>
            </a:extLst>
          </p:cNvPr>
          <p:cNvSpPr/>
          <p:nvPr/>
        </p:nvSpPr>
        <p:spPr>
          <a:xfrm>
            <a:off x="5852160" y="4800600"/>
            <a:ext cx="2377440" cy="91440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score &gt;= 60.0</a:t>
            </a:r>
          </a:p>
        </p:txBody>
      </p:sp>
      <p:cxnSp>
        <p:nvCxnSpPr>
          <p:cNvPr id="25" name="Connector 28">
            <a:extLst>
              <a:ext uri="{FF2B5EF4-FFF2-40B4-BE49-F238E27FC236}">
                <a16:creationId xmlns:a16="http://schemas.microsoft.com/office/drawing/2014/main" id="{E05485B8-59AB-4957-9380-CEE8C9D469FD}"/>
              </a:ext>
            </a:extLst>
          </p:cNvPr>
          <p:cNvCxnSpPr/>
          <p:nvPr/>
        </p:nvCxnSpPr>
        <p:spPr>
          <a:xfrm>
            <a:off x="8229600" y="5257800"/>
            <a:ext cx="82296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9">
            <a:extLst>
              <a:ext uri="{FF2B5EF4-FFF2-40B4-BE49-F238E27FC236}">
                <a16:creationId xmlns:a16="http://schemas.microsoft.com/office/drawing/2014/main" id="{DCA1D564-14CE-4D0A-845B-666D474D30DD}"/>
              </a:ext>
            </a:extLst>
          </p:cNvPr>
          <p:cNvSpPr txBox="1"/>
          <p:nvPr/>
        </p:nvSpPr>
        <p:spPr>
          <a:xfrm>
            <a:off x="8366760" y="493776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27" name="Rectangle 30">
            <a:extLst>
              <a:ext uri="{FF2B5EF4-FFF2-40B4-BE49-F238E27FC236}">
                <a16:creationId xmlns:a16="http://schemas.microsoft.com/office/drawing/2014/main" id="{398F475D-3E89-4FAC-B50F-BBC35867E4A5}"/>
              </a:ext>
            </a:extLst>
          </p:cNvPr>
          <p:cNvSpPr/>
          <p:nvPr/>
        </p:nvSpPr>
        <p:spPr>
          <a:xfrm>
            <a:off x="9052560" y="4983480"/>
            <a:ext cx="1828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grade = 'D'</a:t>
            </a:r>
          </a:p>
        </p:txBody>
      </p:sp>
      <p:cxnSp>
        <p:nvCxnSpPr>
          <p:cNvPr id="28" name="Connector 31">
            <a:extLst>
              <a:ext uri="{FF2B5EF4-FFF2-40B4-BE49-F238E27FC236}">
                <a16:creationId xmlns:a16="http://schemas.microsoft.com/office/drawing/2014/main" id="{274106A3-75B5-4619-BB41-27725E447AA0}"/>
              </a:ext>
            </a:extLst>
          </p:cNvPr>
          <p:cNvCxnSpPr/>
          <p:nvPr/>
        </p:nvCxnSpPr>
        <p:spPr>
          <a:xfrm>
            <a:off x="7040880" y="5715000"/>
            <a:ext cx="0" cy="32004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32">
            <a:extLst>
              <a:ext uri="{FF2B5EF4-FFF2-40B4-BE49-F238E27FC236}">
                <a16:creationId xmlns:a16="http://schemas.microsoft.com/office/drawing/2014/main" id="{FDF772DA-8D39-4C63-9F00-2543430072D2}"/>
              </a:ext>
            </a:extLst>
          </p:cNvPr>
          <p:cNvSpPr txBox="1"/>
          <p:nvPr/>
        </p:nvSpPr>
        <p:spPr>
          <a:xfrm>
            <a:off x="7132320" y="566928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8EEA2EE8-04BB-4883-826A-F5099CCC011D}"/>
              </a:ext>
            </a:extLst>
          </p:cNvPr>
          <p:cNvSpPr/>
          <p:nvPr/>
        </p:nvSpPr>
        <p:spPr>
          <a:xfrm>
            <a:off x="6126480" y="6035040"/>
            <a:ext cx="1828800" cy="346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 dirty="0">
                <a:solidFill>
                  <a:srgbClr val="262626"/>
                </a:solidFill>
                <a:latin typeface="Consolas"/>
                <a:ea typeface="微软雅黑"/>
              </a:rPr>
              <a:t>grade = 'F'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0B5E922-64C2-45B1-B286-C35D9571491C}"/>
              </a:ext>
            </a:extLst>
          </p:cNvPr>
          <p:cNvGrpSpPr/>
          <p:nvPr/>
        </p:nvGrpSpPr>
        <p:grpSpPr>
          <a:xfrm>
            <a:off x="83126" y="111043"/>
            <a:ext cx="11212403" cy="1287366"/>
            <a:chOff x="83126" y="111043"/>
            <a:chExt cx="7639915" cy="1287366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14DAE2E-CE3A-4FDA-B5F2-40ABDD5F00F1}"/>
                </a:ext>
              </a:extLst>
            </p:cNvPr>
            <p:cNvSpPr/>
            <p:nvPr/>
          </p:nvSpPr>
          <p:spPr>
            <a:xfrm>
              <a:off x="232409" y="136525"/>
              <a:ext cx="7490632" cy="12618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多分支 </a:t>
              </a:r>
              <a:r>
                <a:rPr lang="gsw-FR" altLang="zh-CN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if-else </a:t>
              </a:r>
              <a:r>
                <a:rPr lang="zh-CN" altLang="en-US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的执行流程（以 </a:t>
              </a:r>
              <a:r>
                <a:rPr lang="gsw-FR" altLang="zh-CN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score = 70 </a:t>
              </a:r>
              <a:r>
                <a:rPr lang="zh-CN" altLang="en-US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为例）</a:t>
              </a:r>
            </a:p>
            <a:p>
              <a:endPara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1BEAEA5-EA5A-4C47-855A-E143439BAFC8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ED908B4-FEE1-4118-B7CA-636CF8B0F2A4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672931C-D2AF-4332-8B71-54700F75C1CD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FCE7994-5B83-4C67-926D-6E4915CBEB75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fld>
              <a:endParaRPr lang="zh-CN" altLang="en-US" sz="16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922F54A-E7EA-4A34-A0A7-D37AC1F38389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232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Connector 7">
            <a:extLst>
              <a:ext uri="{FF2B5EF4-FFF2-40B4-BE49-F238E27FC236}">
                <a16:creationId xmlns:a16="http://schemas.microsoft.com/office/drawing/2014/main" id="{57318699-C885-4820-B7C3-3325080E5A1E}"/>
              </a:ext>
            </a:extLst>
          </p:cNvPr>
          <p:cNvCxnSpPr/>
          <p:nvPr/>
        </p:nvCxnSpPr>
        <p:spPr>
          <a:xfrm>
            <a:off x="914400" y="2286000"/>
            <a:ext cx="1042416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8">
            <a:extLst>
              <a:ext uri="{FF2B5EF4-FFF2-40B4-BE49-F238E27FC236}">
                <a16:creationId xmlns:a16="http://schemas.microsoft.com/office/drawing/2014/main" id="{E3ACEAB6-5F9A-481B-ABD3-ABE831A9785E}"/>
              </a:ext>
            </a:extLst>
          </p:cNvPr>
          <p:cNvCxnSpPr/>
          <p:nvPr/>
        </p:nvCxnSpPr>
        <p:spPr>
          <a:xfrm>
            <a:off x="914400" y="2176272"/>
            <a:ext cx="0" cy="219456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9">
            <a:extLst>
              <a:ext uri="{FF2B5EF4-FFF2-40B4-BE49-F238E27FC236}">
                <a16:creationId xmlns:a16="http://schemas.microsoft.com/office/drawing/2014/main" id="{9E82BAA8-ABC5-4926-9C05-42CA63964B25}"/>
              </a:ext>
            </a:extLst>
          </p:cNvPr>
          <p:cNvSpPr txBox="1"/>
          <p:nvPr/>
        </p:nvSpPr>
        <p:spPr>
          <a:xfrm>
            <a:off x="548640" y="24231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onsolas"/>
                <a:ea typeface="微软雅黑"/>
              </a:rPr>
              <a:t>0</a:t>
            </a:r>
          </a:p>
        </p:txBody>
      </p:sp>
      <p:cxnSp>
        <p:nvCxnSpPr>
          <p:cNvPr id="27" name="Connector 10">
            <a:extLst>
              <a:ext uri="{FF2B5EF4-FFF2-40B4-BE49-F238E27FC236}">
                <a16:creationId xmlns:a16="http://schemas.microsoft.com/office/drawing/2014/main" id="{A63B7C7D-8533-46D8-92DA-19E271D0EF15}"/>
              </a:ext>
            </a:extLst>
          </p:cNvPr>
          <p:cNvCxnSpPr/>
          <p:nvPr/>
        </p:nvCxnSpPr>
        <p:spPr>
          <a:xfrm>
            <a:off x="6839712" y="2176272"/>
            <a:ext cx="0" cy="219456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11">
            <a:extLst>
              <a:ext uri="{FF2B5EF4-FFF2-40B4-BE49-F238E27FC236}">
                <a16:creationId xmlns:a16="http://schemas.microsoft.com/office/drawing/2014/main" id="{DCB162CD-928B-4764-BF34-374A242DDECD}"/>
              </a:ext>
            </a:extLst>
          </p:cNvPr>
          <p:cNvSpPr txBox="1"/>
          <p:nvPr/>
        </p:nvSpPr>
        <p:spPr>
          <a:xfrm>
            <a:off x="6473952" y="24231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onsolas"/>
                <a:ea typeface="微软雅黑"/>
              </a:rPr>
              <a:t>60</a:t>
            </a:r>
          </a:p>
        </p:txBody>
      </p:sp>
      <p:cxnSp>
        <p:nvCxnSpPr>
          <p:cNvPr id="29" name="Connector 12">
            <a:extLst>
              <a:ext uri="{FF2B5EF4-FFF2-40B4-BE49-F238E27FC236}">
                <a16:creationId xmlns:a16="http://schemas.microsoft.com/office/drawing/2014/main" id="{993BE448-293B-416C-9E31-E17AF587F35B}"/>
              </a:ext>
            </a:extLst>
          </p:cNvPr>
          <p:cNvCxnSpPr/>
          <p:nvPr/>
        </p:nvCxnSpPr>
        <p:spPr>
          <a:xfrm>
            <a:off x="7827264" y="2176272"/>
            <a:ext cx="0" cy="219456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13">
            <a:extLst>
              <a:ext uri="{FF2B5EF4-FFF2-40B4-BE49-F238E27FC236}">
                <a16:creationId xmlns:a16="http://schemas.microsoft.com/office/drawing/2014/main" id="{C39F4963-5780-4FB7-9E76-C30302CE4B62}"/>
              </a:ext>
            </a:extLst>
          </p:cNvPr>
          <p:cNvSpPr txBox="1"/>
          <p:nvPr/>
        </p:nvSpPr>
        <p:spPr>
          <a:xfrm>
            <a:off x="7461504" y="24231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onsolas"/>
                <a:ea typeface="微软雅黑"/>
              </a:rPr>
              <a:t>70</a:t>
            </a:r>
          </a:p>
        </p:txBody>
      </p:sp>
      <p:cxnSp>
        <p:nvCxnSpPr>
          <p:cNvPr id="31" name="Connector 14">
            <a:extLst>
              <a:ext uri="{FF2B5EF4-FFF2-40B4-BE49-F238E27FC236}">
                <a16:creationId xmlns:a16="http://schemas.microsoft.com/office/drawing/2014/main" id="{D6850FBC-5481-4F06-8FDF-73C05B27DA86}"/>
              </a:ext>
            </a:extLst>
          </p:cNvPr>
          <p:cNvCxnSpPr/>
          <p:nvPr/>
        </p:nvCxnSpPr>
        <p:spPr>
          <a:xfrm>
            <a:off x="8814816" y="2176272"/>
            <a:ext cx="0" cy="219456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15">
            <a:extLst>
              <a:ext uri="{FF2B5EF4-FFF2-40B4-BE49-F238E27FC236}">
                <a16:creationId xmlns:a16="http://schemas.microsoft.com/office/drawing/2014/main" id="{29B25156-58C1-408C-AC45-6CE205C49A1B}"/>
              </a:ext>
            </a:extLst>
          </p:cNvPr>
          <p:cNvSpPr txBox="1"/>
          <p:nvPr/>
        </p:nvSpPr>
        <p:spPr>
          <a:xfrm>
            <a:off x="8449056" y="24231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onsolas"/>
                <a:ea typeface="微软雅黑"/>
              </a:rPr>
              <a:t>80</a:t>
            </a:r>
          </a:p>
        </p:txBody>
      </p:sp>
      <p:cxnSp>
        <p:nvCxnSpPr>
          <p:cNvPr id="33" name="Connector 16">
            <a:extLst>
              <a:ext uri="{FF2B5EF4-FFF2-40B4-BE49-F238E27FC236}">
                <a16:creationId xmlns:a16="http://schemas.microsoft.com/office/drawing/2014/main" id="{A25729EF-E7FA-4968-8890-D72499E90AD5}"/>
              </a:ext>
            </a:extLst>
          </p:cNvPr>
          <p:cNvCxnSpPr/>
          <p:nvPr/>
        </p:nvCxnSpPr>
        <p:spPr>
          <a:xfrm>
            <a:off x="9802368" y="2176272"/>
            <a:ext cx="0" cy="219456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7">
            <a:extLst>
              <a:ext uri="{FF2B5EF4-FFF2-40B4-BE49-F238E27FC236}">
                <a16:creationId xmlns:a16="http://schemas.microsoft.com/office/drawing/2014/main" id="{41FF9B9D-5F32-4A36-AF84-BE620150DD52}"/>
              </a:ext>
            </a:extLst>
          </p:cNvPr>
          <p:cNvSpPr txBox="1"/>
          <p:nvPr/>
        </p:nvSpPr>
        <p:spPr>
          <a:xfrm>
            <a:off x="9436608" y="24231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onsolas"/>
                <a:ea typeface="微软雅黑"/>
              </a:rPr>
              <a:t>90</a:t>
            </a:r>
          </a:p>
        </p:txBody>
      </p:sp>
      <p:cxnSp>
        <p:nvCxnSpPr>
          <p:cNvPr id="35" name="Connector 18">
            <a:extLst>
              <a:ext uri="{FF2B5EF4-FFF2-40B4-BE49-F238E27FC236}">
                <a16:creationId xmlns:a16="http://schemas.microsoft.com/office/drawing/2014/main" id="{177A2543-ACCF-4655-8A09-6C504A05A0D8}"/>
              </a:ext>
            </a:extLst>
          </p:cNvPr>
          <p:cNvCxnSpPr/>
          <p:nvPr/>
        </p:nvCxnSpPr>
        <p:spPr>
          <a:xfrm>
            <a:off x="10789920" y="2176272"/>
            <a:ext cx="0" cy="219456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9">
            <a:extLst>
              <a:ext uri="{FF2B5EF4-FFF2-40B4-BE49-F238E27FC236}">
                <a16:creationId xmlns:a16="http://schemas.microsoft.com/office/drawing/2014/main" id="{DFE66FF2-C097-4639-98F4-E2C6BCEC7EBB}"/>
              </a:ext>
            </a:extLst>
          </p:cNvPr>
          <p:cNvSpPr txBox="1"/>
          <p:nvPr/>
        </p:nvSpPr>
        <p:spPr>
          <a:xfrm>
            <a:off x="10424160" y="24231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onsolas"/>
                <a:ea typeface="微软雅黑"/>
              </a:rPr>
              <a:t>100</a:t>
            </a:r>
          </a:p>
        </p:txBody>
      </p:sp>
      <p:sp>
        <p:nvSpPr>
          <p:cNvPr id="37" name="Rectangle 20">
            <a:extLst>
              <a:ext uri="{FF2B5EF4-FFF2-40B4-BE49-F238E27FC236}">
                <a16:creationId xmlns:a16="http://schemas.microsoft.com/office/drawing/2014/main" id="{92F04ED7-4EE8-4737-9893-79BAAAA3692C}"/>
              </a:ext>
            </a:extLst>
          </p:cNvPr>
          <p:cNvSpPr/>
          <p:nvPr/>
        </p:nvSpPr>
        <p:spPr>
          <a:xfrm>
            <a:off x="914400" y="1554480"/>
            <a:ext cx="5925312" cy="457200"/>
          </a:xfrm>
          <a:prstGeom prst="rect">
            <a:avLst/>
          </a:prstGeom>
          <a:solidFill>
            <a:srgbClr val="F8D7D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F：score &lt; 60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F85744FC-B416-41F0-AA60-C249385E1C18}"/>
              </a:ext>
            </a:extLst>
          </p:cNvPr>
          <p:cNvSpPr/>
          <p:nvPr/>
        </p:nvSpPr>
        <p:spPr>
          <a:xfrm>
            <a:off x="6839712" y="1554480"/>
            <a:ext cx="987552" cy="457200"/>
          </a:xfrm>
          <a:prstGeom prst="rect">
            <a:avLst/>
          </a:prstGeom>
          <a:solidFill>
            <a:srgbClr val="FFE5CC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D</a:t>
            </a:r>
          </a:p>
        </p:txBody>
      </p:sp>
      <p:sp>
        <p:nvSpPr>
          <p:cNvPr id="39" name="Rectangle 22">
            <a:extLst>
              <a:ext uri="{FF2B5EF4-FFF2-40B4-BE49-F238E27FC236}">
                <a16:creationId xmlns:a16="http://schemas.microsoft.com/office/drawing/2014/main" id="{C5FBB1EC-6E4F-4DA4-A819-5B7DDAA60302}"/>
              </a:ext>
            </a:extLst>
          </p:cNvPr>
          <p:cNvSpPr/>
          <p:nvPr/>
        </p:nvSpPr>
        <p:spPr>
          <a:xfrm>
            <a:off x="7827264" y="1554480"/>
            <a:ext cx="987552" cy="457200"/>
          </a:xfrm>
          <a:prstGeom prst="rect">
            <a:avLst/>
          </a:prstGeom>
          <a:solidFill>
            <a:srgbClr val="FFF4D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8066C2A2-952D-44A8-86D1-7437674F3234}"/>
              </a:ext>
            </a:extLst>
          </p:cNvPr>
          <p:cNvSpPr/>
          <p:nvPr/>
        </p:nvSpPr>
        <p:spPr>
          <a:xfrm>
            <a:off x="8814816" y="1554480"/>
            <a:ext cx="987552" cy="457200"/>
          </a:xfrm>
          <a:prstGeom prst="rect">
            <a:avLst/>
          </a:prstGeom>
          <a:solidFill>
            <a:srgbClr val="DFF0D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7F23DD78-8EF3-4BC2-9897-249609DD6DF5}"/>
              </a:ext>
            </a:extLst>
          </p:cNvPr>
          <p:cNvSpPr/>
          <p:nvPr/>
        </p:nvSpPr>
        <p:spPr>
          <a:xfrm>
            <a:off x="9802368" y="1554480"/>
            <a:ext cx="987552" cy="457200"/>
          </a:xfrm>
          <a:prstGeom prst="rect">
            <a:avLst/>
          </a:prstGeom>
          <a:solidFill>
            <a:srgbClr val="CCE5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1" i="0">
                <a:solidFill>
                  <a:srgbClr val="262626"/>
                </a:solidFill>
                <a:latin typeface="微软雅黑"/>
                <a:ea typeface="微软雅黑"/>
              </a:rPr>
              <a:t>A：≥ 90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2CCF944C-AEDA-4AEB-8AA9-5DA595AF3E47}"/>
              </a:ext>
            </a:extLst>
          </p:cNvPr>
          <p:cNvSpPr txBox="1"/>
          <p:nvPr/>
        </p:nvSpPr>
        <p:spPr>
          <a:xfrm>
            <a:off x="91440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成绩等级：每个区间的左端点“含</a:t>
            </a:r>
            <a:r>
              <a:rPr sz="1500" b="1" i="0" dirty="0">
                <a:solidFill>
                  <a:srgbClr val="1F3A5F"/>
                </a:solidFill>
                <a:latin typeface="微软雅黑"/>
                <a:ea typeface="微软雅黑"/>
              </a:rPr>
              <a:t>”（≥），</a:t>
            </a: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右端点“不含</a:t>
            </a:r>
            <a:r>
              <a:rPr sz="1500" b="1" i="0" dirty="0">
                <a:solidFill>
                  <a:srgbClr val="1F3A5F"/>
                </a:solidFill>
                <a:latin typeface="微软雅黑"/>
                <a:ea typeface="微软雅黑"/>
              </a:rPr>
              <a:t>”（&lt;）—— 60 </a:t>
            </a: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分是</a:t>
            </a:r>
            <a:r>
              <a:rPr sz="1500" b="1" i="0" dirty="0">
                <a:solidFill>
                  <a:srgbClr val="1F3A5F"/>
                </a:solidFill>
                <a:latin typeface="微软雅黑"/>
                <a:ea typeface="微软雅黑"/>
              </a:rPr>
              <a:t> </a:t>
            </a: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D，不是</a:t>
            </a:r>
            <a:r>
              <a:rPr sz="1500" b="1" i="0" dirty="0">
                <a:solidFill>
                  <a:srgbClr val="1F3A5F"/>
                </a:solidFill>
                <a:latin typeface="微软雅黑"/>
                <a:ea typeface="微软雅黑"/>
              </a:rPr>
              <a:t> F</a:t>
            </a: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57383790-8BEF-4E09-86D7-1360FEF3C6CD}"/>
              </a:ext>
            </a:extLst>
          </p:cNvPr>
          <p:cNvSpPr txBox="1"/>
          <p:nvPr/>
        </p:nvSpPr>
        <p:spPr>
          <a:xfrm>
            <a:off x="640080" y="3017520"/>
            <a:ext cx="111556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为什么每个分支只需要一个比较</a:t>
            </a:r>
            <a:r>
              <a:rPr sz="1500" b="1" i="0" dirty="0">
                <a:solidFill>
                  <a:srgbClr val="1F3A5F"/>
                </a:solidFill>
                <a:latin typeface="微软雅黑"/>
                <a:ea typeface="微软雅黑"/>
              </a:rPr>
              <a:t>？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5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个区间首尾相接、互不重叠、覆盖全部实数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分支</a:t>
            </a:r>
            <a:r>
              <a:rPr sz="13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互斥且完备</a:t>
            </a:r>
            <a:endParaRPr sz="1300" b="1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从高到低依次判断：能走到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else if (score &gt;= 80)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说明前面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score &gt;= 90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已经为假，所以此时</a:t>
            </a:r>
            <a:r>
              <a:rPr sz="13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必然</a:t>
            </a:r>
            <a:r>
              <a:rPr sz="1300" b="1" i="0" dirty="0">
                <a:solidFill>
                  <a:srgbClr val="262626"/>
                </a:solidFill>
                <a:latin typeface="微软雅黑"/>
                <a:ea typeface="微软雅黑"/>
              </a:rPr>
              <a:t> score &lt; 90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写成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score &gt;= 80 &amp;&amp; score &lt; 90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不算错，但多余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——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教材称之为“冗余测试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”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 dirty="0" err="1">
                <a:solidFill>
                  <a:srgbClr val="C0392B"/>
                </a:solidFill>
                <a:latin typeface="微软雅黑"/>
                <a:ea typeface="微软雅黑"/>
              </a:rPr>
              <a:t>两个典型错误</a:t>
            </a:r>
            <a:endParaRPr sz="1500" b="1" i="0" dirty="0">
              <a:solidFill>
                <a:srgbClr val="C0392B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顺序颠倒：</a:t>
            </a:r>
            <a:r>
              <a:rPr sz="1400" b="0" i="0" dirty="0" err="1">
                <a:solidFill>
                  <a:srgbClr val="8E2A2A"/>
                </a:solidFill>
                <a:latin typeface="Consolas"/>
                <a:ea typeface="微软雅黑"/>
              </a:rPr>
              <a:t>if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 (score &gt;= 60) 'D' else if (score &gt;= 70) 'C' …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→ 95 分被第一个条件“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截获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”，得 D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&gt;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与 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&gt;=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一字之差：</a:t>
            </a:r>
            <a:r>
              <a:rPr sz="1400" b="0" i="0" dirty="0" err="1">
                <a:solidFill>
                  <a:srgbClr val="8E2A2A"/>
                </a:solidFill>
                <a:latin typeface="Consolas"/>
                <a:ea typeface="微软雅黑"/>
              </a:rPr>
              <a:t>if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 (score &gt; 90)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会把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90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分判成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B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 dirty="0" err="1">
                <a:solidFill>
                  <a:srgbClr val="2E8B57"/>
                </a:solidFill>
                <a:latin typeface="微软雅黑"/>
                <a:ea typeface="微软雅黑"/>
              </a:rPr>
              <a:t>边界值测试法：对每个阈值各测“正好等于”和“差</a:t>
            </a:r>
            <a:r>
              <a:rPr sz="1500" b="1" i="0" dirty="0">
                <a:solidFill>
                  <a:srgbClr val="2E8B57"/>
                </a:solidFill>
                <a:latin typeface="微软雅黑"/>
                <a:ea typeface="微软雅黑"/>
              </a:rPr>
              <a:t> 1”两个值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测试数据：59、60、69、70、79、80、89、90、100，以及非法值 −1、101 ——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边界最容易出错</a:t>
            </a:r>
            <a:endParaRPr sz="13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238A70E-C6D5-48A1-A9B1-AE259FDB759B}"/>
              </a:ext>
            </a:extLst>
          </p:cNvPr>
          <p:cNvGrpSpPr/>
          <p:nvPr/>
        </p:nvGrpSpPr>
        <p:grpSpPr>
          <a:xfrm>
            <a:off x="83126" y="111043"/>
            <a:ext cx="11212403" cy="707886"/>
            <a:chOff x="83126" y="111043"/>
            <a:chExt cx="7639915" cy="70788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20EF332-8AD1-404F-A595-3EE9801DA47B}"/>
                </a:ext>
              </a:extLst>
            </p:cNvPr>
            <p:cNvSpPr/>
            <p:nvPr/>
          </p:nvSpPr>
          <p:spPr>
            <a:xfrm>
              <a:off x="232409" y="136525"/>
              <a:ext cx="749063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区间判断与边界测试</a:t>
              </a:r>
              <a:endPara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C8B2BF7-1D9A-4B78-9739-FA9A5F1421DE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38ECBEA-23A7-43D7-8182-EB82E4D4041D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20724CF-60FB-4859-AB02-82CC2C161962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4BFCBC1-1DD1-4289-A42C-596B2598D6ED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fld>
              <a:endParaRPr lang="zh-CN" altLang="en-US" sz="1600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15A30DD-94B6-40E0-AEA0-21D0FED63C6B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8356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C4698B8-AB14-40B5-B548-8E47F2E1E67B}"/>
              </a:ext>
            </a:extLst>
          </p:cNvPr>
          <p:cNvSpPr/>
          <p:nvPr/>
        </p:nvSpPr>
        <p:spPr>
          <a:xfrm>
            <a:off x="5769685" y="929640"/>
            <a:ext cx="5137919" cy="5247042"/>
          </a:xfrm>
          <a:prstGeom prst="roundRect">
            <a:avLst>
              <a:gd name="adj" fmla="val 299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2E4B30D-B333-4E38-AD59-9028442D524C}"/>
              </a:ext>
            </a:extLst>
          </p:cNvPr>
          <p:cNvSpPr/>
          <p:nvPr/>
        </p:nvSpPr>
        <p:spPr>
          <a:xfrm>
            <a:off x="447094" y="905482"/>
            <a:ext cx="5020236" cy="5247042"/>
          </a:xfrm>
          <a:prstGeom prst="roundRect">
            <a:avLst>
              <a:gd name="adj" fmla="val 299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7AEBAD6-F86E-4F79-8075-D37C20CD3B4C}"/>
              </a:ext>
            </a:extLst>
          </p:cNvPr>
          <p:cNvSpPr txBox="1"/>
          <p:nvPr/>
        </p:nvSpPr>
        <p:spPr>
          <a:xfrm>
            <a:off x="666183" y="905482"/>
            <a:ext cx="4802288" cy="51469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">
              <a:lnSpc>
                <a:spcPct val="115000"/>
              </a:lnSpc>
              <a:spcAft>
                <a:spcPts val="600"/>
              </a:spcAft>
            </a:pPr>
            <a:r>
              <a:rPr lang="zh-CN" altLang="en-US"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读代码写结果①</a:t>
            </a:r>
            <a:endParaRPr lang="en-US" altLang="zh-CN" sz="24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57150">
              <a:lnSpc>
                <a:spcPct val="115000"/>
              </a:lnSpc>
              <a:spcAft>
                <a:spcPts val="600"/>
              </a:spcAft>
            </a:pP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若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x = 3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y = 2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，下列代码输出什么？若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x = 3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y = 4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呢？若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x = 2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y = 2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呢？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if (x &gt; 2) {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if (y &gt; 2) {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  int z = x + y;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  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cout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&lt;&lt; "z is " &lt;&lt; z &lt;&lt; 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endl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else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cout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&lt;&lt; "x is " &lt;&lt; x &lt;&lt; 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endl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;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这里的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else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与哪个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if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配对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？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6E97D95-B2E9-405C-918D-B2AB390DBF18}"/>
              </a:ext>
            </a:extLst>
          </p:cNvPr>
          <p:cNvGrpSpPr/>
          <p:nvPr/>
        </p:nvGrpSpPr>
        <p:grpSpPr>
          <a:xfrm>
            <a:off x="83126" y="111043"/>
            <a:ext cx="11212403" cy="707886"/>
            <a:chOff x="83126" y="111043"/>
            <a:chExt cx="7639915" cy="70788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6CF55B7-E19E-4C0D-A0C5-7CF457228213}"/>
                </a:ext>
              </a:extLst>
            </p:cNvPr>
            <p:cNvSpPr/>
            <p:nvPr/>
          </p:nvSpPr>
          <p:spPr>
            <a:xfrm>
              <a:off x="232409" y="136525"/>
              <a:ext cx="749063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思考与练习</a:t>
              </a:r>
              <a:endPara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9AF9CCA-84D0-473C-BAA7-49278002E9B5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FD216EB-DBC6-4286-87F4-C07B27C7F1CA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28D9A1-3E80-4FE5-B66C-F796F5667EFF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9DBFE3D-27D2-40CE-AD34-89110B7C40CA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13</a:t>
              </a:fld>
              <a:endParaRPr lang="zh-CN" altLang="en-US" sz="16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7CE5784-7DBC-4F1C-86D0-0E5DDC9ACD5F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988C68AE-9A4C-40A0-85DD-71EEB1338448}"/>
              </a:ext>
            </a:extLst>
          </p:cNvPr>
          <p:cNvSpPr/>
          <p:nvPr/>
        </p:nvSpPr>
        <p:spPr>
          <a:xfrm>
            <a:off x="6018906" y="929639"/>
            <a:ext cx="4586342" cy="518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>
              <a:lnSpc>
                <a:spcPct val="115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262626"/>
                </a:solidFill>
                <a:latin typeface="微软雅黑"/>
                <a:ea typeface="微软雅黑"/>
              </a:rPr>
              <a:t>读代码写结果②</a:t>
            </a:r>
            <a:endParaRPr lang="en-US" altLang="zh-CN" sz="240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int x = 7;</a:t>
            </a:r>
            <a:endParaRPr lang="gsw-FR" altLang="zh-CN" sz="1600" dirty="0">
              <a:solidFill>
                <a:srgbClr val="8E2A2A"/>
              </a:solidFill>
              <a:latin typeface="Consolas"/>
              <a:ea typeface="微软雅黑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if (x &gt; 5)  cout &lt;&lt; "A";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else if (x &gt; 3)  cout &lt;&lt; "B";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else  cout &lt;&lt; "C";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endParaRPr lang="gsw-FR" altLang="zh-CN" sz="1600" dirty="0">
              <a:solidFill>
                <a:srgbClr val="8E2A2A"/>
              </a:solidFill>
              <a:latin typeface="Consolas"/>
              <a:ea typeface="微软雅黑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lang="gsw-FR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nt score = 40;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if (score &gt;= 60);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  cout &lt;&lt; "Pass";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if (score &lt; 60)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  cout &lt;&lt; "Not Pass";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endParaRPr lang="gsw-FR" altLang="zh-CN" sz="1600" dirty="0">
              <a:solidFill>
                <a:srgbClr val="8E2A2A"/>
              </a:solidFill>
              <a:latin typeface="Consolas"/>
              <a:ea typeface="微软雅黑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int x = 3;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if (x = 0) </a:t>
            </a:r>
            <a:r>
              <a:rPr lang="en-US" altLang="zh-CN" sz="1600" dirty="0" err="1">
                <a:solidFill>
                  <a:srgbClr val="8E2A2A"/>
                </a:solidFill>
                <a:latin typeface="Consolas"/>
                <a:ea typeface="微软雅黑"/>
              </a:rPr>
              <a:t>cout</a:t>
            </a: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 &lt;&lt; "A";   </a:t>
            </a:r>
            <a:endParaRPr lang="gsw-FR" altLang="zh-CN" dirty="0">
              <a:solidFill>
                <a:srgbClr val="8E2A2A"/>
              </a:solidFill>
              <a:latin typeface="Consolas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3986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矩形 4"/>
          <p:cNvSpPr>
            <a:spLocks noChangeArrowheads="1"/>
          </p:cNvSpPr>
          <p:nvPr/>
        </p:nvSpPr>
        <p:spPr bwMode="auto">
          <a:xfrm>
            <a:off x="580890" y="920621"/>
            <a:ext cx="4983888" cy="50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程序设计综合实践课的成绩评级估计方式如下：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每次上机考试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800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分，两次上机考试取最高分，而后根据最高分进行评级。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[0,400)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区间，评级为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，考试不通过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[400,500)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区间，评级为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[500,650)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区间，评级为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[650,800]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区间，评级为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输入某位同学两次上机考试系统反馈得分，请估计他的评级。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注意系统在线反馈得分并不一定是最终得分，仅供参考，最终得分考试后确定。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1" name="矩形 10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14</a:t>
              </a:fld>
              <a:endParaRPr lang="zh-CN" altLang="en-US" sz="16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标题 1"/>
          <p:cNvSpPr txBox="1"/>
          <p:nvPr/>
        </p:nvSpPr>
        <p:spPr>
          <a:xfrm>
            <a:off x="432844" y="128905"/>
            <a:ext cx="10515600" cy="7078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课堂练习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：成绩评级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 rot="5400000">
            <a:off x="-161272" y="355441"/>
            <a:ext cx="707886" cy="219089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096000" y="836792"/>
            <a:ext cx="5294811" cy="5218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输入描述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zh-CN" altLang="en-US" sz="1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两个</a:t>
            </a:r>
            <a:r>
              <a:rPr lang="en-US" altLang="zh-CN" sz="1600" b="1" dirty="0">
                <a:latin typeface="Times New Roman" panose="02020603050405020304" pitchFamily="18" charset="0"/>
                <a:ea typeface="楷体_GB2312" pitchFamily="49" charset="-122"/>
              </a:rPr>
              <a:t>[0,800]</a:t>
            </a: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区间的整数，表示某同学两次上机考试系统反馈的成绩。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zh-CN" altLang="en-US" sz="1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输出描述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zh-CN" altLang="en-US" sz="1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输出一行，包括一个大写字母（</a:t>
            </a:r>
            <a:r>
              <a:rPr lang="en-US" altLang="zh-CN" sz="1600" b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1600" b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1600" b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1600" b="1" dirty="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之一），表示该同学这门课的评级估计。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zh-CN" altLang="en-US" sz="1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样例输入</a:t>
            </a:r>
            <a:r>
              <a:rPr lang="en-US" altLang="zh-CN" sz="16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1" dirty="0">
                <a:latin typeface="Times New Roman" panose="02020603050405020304" pitchFamily="18" charset="0"/>
                <a:ea typeface="楷体_GB2312" pitchFamily="49" charset="-122"/>
              </a:rPr>
              <a:t>800 0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latin typeface="Times New Roman" panose="02020603050405020304" pitchFamily="18" charset="0"/>
                <a:ea typeface="楷体_GB2312" pitchFamily="49" charset="-122"/>
              </a:rPr>
              <a:t>样例输出 </a:t>
            </a:r>
            <a:endParaRPr lang="en-US" altLang="zh-CN" sz="16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endParaRPr lang="zh-CN" altLang="en-US" sz="16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271309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0C9BFE9B-D98E-418D-8F6B-4A97AD9865F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8016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BMI 范围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程序输出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BMI &lt; 18.5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偏瘦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Underweight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18.5 ≤ BMI &lt; 24.0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正常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24.0 ≤ BMI &lt; 28.0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超重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Overweight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28.0 ≤ BMI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肥胖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Obese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8">
            <a:extLst>
              <a:ext uri="{FF2B5EF4-FFF2-40B4-BE49-F238E27FC236}">
                <a16:creationId xmlns:a16="http://schemas.microsoft.com/office/drawing/2014/main" id="{D4E3FF31-5317-4EFF-945B-7A13A92C8742}"/>
              </a:ext>
            </a:extLst>
          </p:cNvPr>
          <p:cNvSpPr txBox="1"/>
          <p:nvPr/>
        </p:nvSpPr>
        <p:spPr>
          <a:xfrm>
            <a:off x="7680960" y="1280160"/>
            <a:ext cx="4114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问题</a:t>
            </a:r>
            <a:endParaRPr sz="17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身体质量指数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BMI =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体重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(kg) ÷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身高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(m)²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程序输入体重（kg）与身高（m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），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输出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BMI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值及其分类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分类阈值采用我国《成人体重判定》标准（WS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/T 428）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分析（套用四步法</a:t>
            </a:r>
            <a:r>
              <a:rPr sz="1700" b="1" i="0" dirty="0">
                <a:solidFill>
                  <a:srgbClr val="1F3A5F"/>
                </a:solidFill>
                <a:latin typeface="微软雅黑"/>
                <a:ea typeface="微软雅黑"/>
              </a:rPr>
              <a:t>）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①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输入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kg、m；输出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BMI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与分类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② 4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个区间，互斥且完备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③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阈值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18.5 / 24 / 28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单调递增，每个分支只需判断上界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④ 边界测试：18.5、23.9、24、27.9、28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64F9F5A-EBF6-4291-98F0-9AD0FABC6A75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5B3EA25-24FA-4714-8A6B-E4F877FCF98B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C6E0A5B-571C-4BF7-916D-1624051BF09A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15</a:t>
              </a:fld>
              <a:endParaRPr lang="zh-CN" altLang="en-US" sz="16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20B6EDF-A848-4B95-BA22-283A6A52C144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047AF23-6E11-41BA-B3D8-4B7F0DA40458}"/>
              </a:ext>
            </a:extLst>
          </p:cNvPr>
          <p:cNvGrpSpPr/>
          <p:nvPr/>
        </p:nvGrpSpPr>
        <p:grpSpPr>
          <a:xfrm>
            <a:off x="83126" y="111043"/>
            <a:ext cx="11212403" cy="707886"/>
            <a:chOff x="83126" y="111043"/>
            <a:chExt cx="7639915" cy="70788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2A2525D-782A-4A9B-95F1-8CD5D9C4AC65}"/>
                </a:ext>
              </a:extLst>
            </p:cNvPr>
            <p:cNvSpPr/>
            <p:nvPr/>
          </p:nvSpPr>
          <p:spPr>
            <a:xfrm>
              <a:off x="232409" y="136525"/>
              <a:ext cx="749063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实例：计算</a:t>
              </a:r>
              <a:r>
                <a:rPr lang="en-US" altLang="zh-CN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BMI</a:t>
              </a:r>
              <a:endPara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F5A3A67-EEF8-492E-9201-0ED2ACCEF1FA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9481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777B5295-D97C-45E0-B27D-472BBEEE2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566630"/>
              </p:ext>
            </p:extLst>
          </p:nvPr>
        </p:nvGraphicFramePr>
        <p:xfrm>
          <a:off x="457200" y="1280160"/>
          <a:ext cx="694944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步骤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要做的事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以 BMI 分类为例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①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明确</a:t>
                      </a:r>
                      <a:endParaRPr lang="en-US" altLang="zh-CN"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输入输出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程序读什么？输出什么？单位、类型是什么？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输入体重(kg)、身高(m)；输出 BMI 值与分类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②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穷举</a:t>
                      </a:r>
                      <a:endParaRPr lang="en-US" altLang="zh-CN"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所有情况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列出全部可能的情况，检查是否互斥、是否完备（有没有漏掉的？重叠的？）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偏瘦 / 正常 / 超重 / 肥胖，阈值 18.5、24、28；非法输入？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③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安排</a:t>
                      </a:r>
                      <a:endParaRPr lang="en-US" altLang="zh-CN"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判断顺序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阈值单调排列；“最严/最特殊”的条件放前面；非法输入先排除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bmi &lt; 18.5 → &lt; 24 → &lt; 28 → else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④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编码并</a:t>
                      </a:r>
                      <a:endParaRPr lang="en-US" altLang="zh-CN"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ctr"/>
                      <a:r>
                        <a:rPr lang="zh-CN" altLang="en-US"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测试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边界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套用 if / if-else / 多分支模板；对每个阈值测“正好等于”和“差一点”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测 18.5、23.9、24、27.9、28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8">
            <a:extLst>
              <a:ext uri="{FF2B5EF4-FFF2-40B4-BE49-F238E27FC236}">
                <a16:creationId xmlns:a16="http://schemas.microsoft.com/office/drawing/2014/main" id="{CDEA6AC4-4499-4A64-B0A1-513D78508B27}"/>
              </a:ext>
            </a:extLst>
          </p:cNvPr>
          <p:cNvSpPr txBox="1"/>
          <p:nvPr/>
        </p:nvSpPr>
        <p:spPr>
          <a:xfrm>
            <a:off x="7680960" y="1280160"/>
            <a:ext cx="4114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</a:rPr>
              <a:t>写代码之前先想清楚</a:t>
            </a: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</a:rPr>
              <a:t>情况有几种</a:t>
            </a: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</a:rPr>
              <a:t>，是分支程序不出错的关键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</a:rPr>
              <a:t>“互斥”：任一输入只落在一种情况里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</a:rPr>
              <a:t>“完备”：任一输入都有情况接住（别忘了 </a:t>
            </a:r>
            <a:r>
              <a:rPr sz="1600" b="0" i="0">
                <a:solidFill>
                  <a:srgbClr val="8E2A2A"/>
                </a:solidFill>
                <a:latin typeface="Consolas"/>
                <a:ea typeface="微软雅黑"/>
              </a:rPr>
              <a:t>else</a:t>
            </a: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</a:rPr>
              <a:t> 兜底）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  <a:latin typeface="微软雅黑"/>
                <a:ea typeface="微软雅黑"/>
              </a:rPr>
              <a:t>接下来的两个实例（BMI、个人所得税）和课堂练习 ③ 都按这四步来分析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A7AFC3D-9B4D-4B4A-A3BF-4EE089F9831C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1A31D51-2451-4F15-B786-63A12ED1C6D8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2F530AF-F9DA-4922-BB58-58865233B514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16</a:t>
              </a:fld>
              <a:endParaRPr lang="zh-CN" altLang="en-US" sz="16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EB5A1D4-6962-4A1D-9E4C-FA255997C0E3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6713FAB-3441-40BC-977D-D2FB040DDA37}"/>
              </a:ext>
            </a:extLst>
          </p:cNvPr>
          <p:cNvGrpSpPr/>
          <p:nvPr/>
        </p:nvGrpSpPr>
        <p:grpSpPr>
          <a:xfrm>
            <a:off x="83126" y="111043"/>
            <a:ext cx="11212403" cy="707886"/>
            <a:chOff x="83126" y="111043"/>
            <a:chExt cx="7639915" cy="70788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630EE60-3B66-4AA2-975F-BE493998D3CD}"/>
                </a:ext>
              </a:extLst>
            </p:cNvPr>
            <p:cNvSpPr/>
            <p:nvPr/>
          </p:nvSpPr>
          <p:spPr>
            <a:xfrm>
              <a:off x="232409" y="136525"/>
              <a:ext cx="749063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分支程序的设计方法：四步法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66186B8-E7BE-42D6-BD27-5F4C78F695D8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916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EEA3920E-CEAC-427D-8540-67069F784E36}"/>
              </a:ext>
            </a:extLst>
          </p:cNvPr>
          <p:cNvSpPr/>
          <p:nvPr/>
        </p:nvSpPr>
        <p:spPr>
          <a:xfrm>
            <a:off x="457200" y="1188720"/>
            <a:ext cx="6400800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2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2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main()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{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2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weight;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&gt;&gt; weight;</a:t>
            </a:r>
          </a:p>
          <a:p>
            <a:pPr algn="l">
              <a:lnSpc>
                <a:spcPct val="105000"/>
              </a:lnSpc>
              <a:buNone/>
            </a:pPr>
            <a:r>
              <a:rPr lang="en-US" altLang="zh-CN" sz="1200" dirty="0">
                <a:solidFill>
                  <a:srgbClr val="4EC9B0"/>
                </a:solidFill>
                <a:latin typeface="Consolas"/>
                <a:ea typeface="微软雅黑"/>
              </a:rPr>
              <a:t>    </a:t>
            </a:r>
            <a:r>
              <a:rPr sz="12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height;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&gt;&gt; height;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200" b="0" i="1" dirty="0">
                <a:solidFill>
                  <a:srgbClr val="6A9955"/>
                </a:solidFill>
                <a:latin typeface="Consolas"/>
                <a:ea typeface="微软雅黑"/>
              </a:rPr>
              <a:t>// Compute BMI</a:t>
            </a:r>
          </a:p>
          <a:p>
            <a:pPr algn="l">
              <a:lnSpc>
                <a:spcPct val="105000"/>
              </a:lnSpc>
              <a:buNone/>
            </a:pPr>
            <a:r>
              <a:rPr sz="12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2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bmi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= weight / (height * height);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200" b="0" i="1" dirty="0">
                <a:solidFill>
                  <a:srgbClr val="6A9955"/>
                </a:solidFill>
                <a:latin typeface="Consolas"/>
                <a:ea typeface="微软雅黑"/>
              </a:rPr>
              <a:t>// Display result</a:t>
            </a:r>
          </a:p>
          <a:p>
            <a:pPr algn="l">
              <a:lnSpc>
                <a:spcPct val="105000"/>
              </a:lnSpc>
              <a:buNone/>
            </a:pPr>
            <a:r>
              <a:rPr sz="12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bmi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 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微软雅黑"/>
              </a:rPr>
              <a:t>18.5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微软雅黑"/>
              </a:rPr>
              <a:t>"Underweight"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2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bmi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 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微软雅黑"/>
              </a:rPr>
              <a:t>24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微软雅黑"/>
              </a:rPr>
              <a:t>"Normal"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2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bmi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 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微软雅黑"/>
              </a:rPr>
              <a:t>28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微软雅黑"/>
              </a:rPr>
              <a:t>"Overweight"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2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微软雅黑"/>
              </a:rPr>
              <a:t>"Obese"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2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2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 }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FD17976-A3AA-4922-A188-83C3897655B2}"/>
              </a:ext>
            </a:extLst>
          </p:cNvPr>
          <p:cNvSpPr txBox="1"/>
          <p:nvPr/>
        </p:nvSpPr>
        <p:spPr>
          <a:xfrm>
            <a:off x="7132320" y="1234440"/>
            <a:ext cx="469361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>
                <a:solidFill>
                  <a:srgbClr val="1F3A5F"/>
                </a:solidFill>
                <a:latin typeface="微软雅黑"/>
                <a:ea typeface="微软雅黑"/>
              </a:rPr>
              <a:t>设计要点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先算值，再分级：</a:t>
            </a:r>
            <a:r>
              <a:rPr sz="1300" b="1" i="0">
                <a:solidFill>
                  <a:srgbClr val="262626"/>
                </a:solidFill>
                <a:latin typeface="微软雅黑"/>
                <a:ea typeface="微软雅黑"/>
              </a:rPr>
              <a:t>计算与判断分开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，程序结构清楚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多分支 if-else 按阈值</a:t>
            </a:r>
            <a:r>
              <a:rPr sz="1300" b="1" i="0">
                <a:solidFill>
                  <a:srgbClr val="262626"/>
                </a:solidFill>
                <a:latin typeface="微软雅黑"/>
                <a:ea typeface="微软雅黑"/>
              </a:rPr>
              <a:t>从小到大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排列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第二个分支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bmi &lt; 24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隐含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bmi &gt;= 18.5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，无需写成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bmi &gt;= 18.5 &amp;&amp; bmi &lt; 24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>
                <a:solidFill>
                  <a:srgbClr val="1F3A5F"/>
                </a:solidFill>
                <a:latin typeface="微软雅黑"/>
                <a:ea typeface="微软雅黑"/>
              </a:rPr>
              <a:t>运行示例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输入 65 kg、1.75 m → BMI is 21.2245，Normal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输入 80 kg、1.70 m → BMI is 27.6817，Overweight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>
                <a:solidFill>
                  <a:srgbClr val="E8833A"/>
                </a:solidFill>
                <a:latin typeface="微软雅黑"/>
                <a:ea typeface="微软雅黑"/>
              </a:rPr>
              <a:t>思考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把四个分支的顺序倒过来（先判 </a:t>
            </a: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bmi &lt; 28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）还对吗？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身高输入为 0 时会发生什么？该加一个什么判断？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9541368-55B2-4AE1-BE02-6CC236FB8171}"/>
              </a:ext>
            </a:extLst>
          </p:cNvPr>
          <p:cNvGrpSpPr/>
          <p:nvPr/>
        </p:nvGrpSpPr>
        <p:grpSpPr>
          <a:xfrm>
            <a:off x="83126" y="111043"/>
            <a:ext cx="11212403" cy="707886"/>
            <a:chOff x="83126" y="111043"/>
            <a:chExt cx="7639915" cy="70788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1E0D1A5-7C5E-4B1D-B9BB-DD06E1FC4FC4}"/>
                </a:ext>
              </a:extLst>
            </p:cNvPr>
            <p:cNvSpPr/>
            <p:nvPr/>
          </p:nvSpPr>
          <p:spPr>
            <a:xfrm>
              <a:off x="232409" y="136525"/>
              <a:ext cx="749063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实例：计算</a:t>
              </a:r>
              <a:r>
                <a:rPr lang="en-US" altLang="zh-CN" sz="3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BMI</a:t>
              </a:r>
              <a:endPara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EAB7730-DD2C-41BA-9A84-37EA0A31607E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F5FE532-5519-4A27-9D20-4D63BF770057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BE2EACB-34E6-4576-BE9F-EFC0AC218206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1498B9-EC6E-4657-9E34-3C6C08C6AD02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17</a:t>
              </a:fld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38BCDAB-2C82-4447-92FE-9E4D8AB45680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7364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1" name="矩形 10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18</a:t>
              </a:fld>
              <a:endParaRPr lang="zh-CN" altLang="en-US" sz="16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标题 1"/>
          <p:cNvSpPr txBox="1"/>
          <p:nvPr/>
        </p:nvSpPr>
        <p:spPr>
          <a:xfrm>
            <a:off x="432844" y="128905"/>
            <a:ext cx="10515600" cy="7078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课堂练习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：阶梯电价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 rot="5400000">
            <a:off x="-161272" y="355441"/>
            <a:ext cx="707886" cy="219089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2301AB17-BEA6-47DD-8019-DEE8FFC6AE93}"/>
              </a:ext>
            </a:extLst>
          </p:cNvPr>
          <p:cNvSpPr txBox="1"/>
          <p:nvPr/>
        </p:nvSpPr>
        <p:spPr>
          <a:xfrm>
            <a:off x="367553" y="1040036"/>
            <a:ext cx="70408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背景</a:t>
            </a:r>
            <a:endParaRPr sz="15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居民用电实行</a:t>
            </a:r>
            <a:r>
              <a:rPr sz="13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阶梯电价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：用得越多，超出部分的单价越高。以下简化的三档年度标准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第一档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≤ 2160 度：0.55 元/度　｜　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第二档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2161–4200 度：0.60 元/度　｜　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第三档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&gt; 4200 度：0.85 元/度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任务</a:t>
            </a:r>
            <a:endParaRPr sz="15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输入全年用电量（度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），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输出应缴电费</a:t>
            </a:r>
            <a:r>
              <a:rPr lang="zh-CN" altLang="en-US" sz="1300" dirty="0">
                <a:solidFill>
                  <a:srgbClr val="262626"/>
                </a:solidFill>
                <a:latin typeface="微软雅黑"/>
                <a:ea typeface="微软雅黑"/>
              </a:rPr>
              <a:t>（保留两位小数）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（元）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按</a:t>
            </a:r>
            <a:r>
              <a:rPr sz="13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分段累加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计算：每一档只对落在该档内的电量按该档单价计费</a:t>
            </a:r>
            <a:endParaRPr sz="13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用电量为负数时</a:t>
            </a:r>
            <a:r>
              <a:rPr lang="zh-CN" altLang="en-US"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输出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“</a:t>
            </a:r>
            <a:r>
              <a:rPr lang="en-US" altLang="zh-CN"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Error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”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先手算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3000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度的电费，再写程序验证</a:t>
            </a:r>
            <a:endParaRPr sz="13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9819F863-DC9F-48E3-8205-38AF999CD36F}"/>
              </a:ext>
            </a:extLst>
          </p:cNvPr>
          <p:cNvSpPr txBox="1"/>
          <p:nvPr/>
        </p:nvSpPr>
        <p:spPr>
          <a:xfrm>
            <a:off x="367553" y="4022722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F3A5F"/>
                </a:solidFill>
                <a:latin typeface="微软雅黑"/>
                <a:ea typeface="微软雅黑"/>
              </a:rPr>
              <a:t>运行示例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20C7F4E3-89F8-430F-8D57-78AF25569465}"/>
              </a:ext>
            </a:extLst>
          </p:cNvPr>
          <p:cNvSpPr/>
          <p:nvPr/>
        </p:nvSpPr>
        <p:spPr>
          <a:xfrm>
            <a:off x="878541" y="4331876"/>
            <a:ext cx="1398494" cy="1874519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200" b="0" i="0" dirty="0">
                <a:solidFill>
                  <a:srgbClr val="D4D4D4"/>
                </a:solidFill>
                <a:latin typeface="Consolas"/>
                <a:ea typeface="微软雅黑"/>
              </a:rPr>
              <a:t>输入：</a:t>
            </a: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B5CEA8"/>
                </a:solidFill>
                <a:latin typeface="Consolas"/>
                <a:ea typeface="微软雅黑"/>
              </a:rPr>
              <a:t>3000</a:t>
            </a:r>
          </a:p>
          <a:p>
            <a:pPr algn="l">
              <a:lnSpc>
                <a:spcPct val="105000"/>
              </a:lnSpc>
              <a:buNone/>
            </a:pP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lang="zh-CN" altLang="en-US" sz="1200" b="0" i="0" dirty="0">
                <a:solidFill>
                  <a:srgbClr val="D4D4D4"/>
                </a:solidFill>
                <a:latin typeface="Consolas"/>
                <a:ea typeface="微软雅黑"/>
              </a:rPr>
              <a:t>输出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  <a:ea typeface="微软雅黑"/>
              </a:rPr>
              <a:t>: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200" b="0" i="0" dirty="0">
                <a:solidFill>
                  <a:srgbClr val="B5CEA8"/>
                </a:solidFill>
                <a:latin typeface="Consolas"/>
                <a:ea typeface="微软雅黑"/>
              </a:rPr>
              <a:t>1692</a:t>
            </a:r>
            <a:endParaRPr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200" b="0" i="0" dirty="0">
              <a:solidFill>
                <a:srgbClr val="D4D4D4"/>
              </a:solidFill>
              <a:latin typeface="Consolas"/>
              <a:ea typeface="微软雅黑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8EB258D-B9BA-48B5-90B2-941563416E57}"/>
              </a:ext>
            </a:extLst>
          </p:cNvPr>
          <p:cNvSpPr txBox="1"/>
          <p:nvPr/>
        </p:nvSpPr>
        <p:spPr>
          <a:xfrm>
            <a:off x="7682753" y="1040036"/>
            <a:ext cx="4023360" cy="20988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提示</a:t>
            </a:r>
            <a:endParaRPr sz="15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sz="1300" dirty="0">
                <a:solidFill>
                  <a:srgbClr val="262626"/>
                </a:solidFill>
                <a:latin typeface="微软雅黑"/>
                <a:ea typeface="微软雅黑"/>
              </a:rPr>
              <a:t>第一档电费</a:t>
            </a:r>
            <a:r>
              <a:rPr lang="en-US" altLang="zh-CN" sz="1300" dirty="0">
                <a:solidFill>
                  <a:srgbClr val="262626"/>
                </a:solidFill>
                <a:latin typeface="微软雅黑"/>
                <a:ea typeface="微软雅黑"/>
              </a:rPr>
              <a:t>=kwh*0.55</a:t>
            </a:r>
            <a:endParaRPr sz="13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第二档电费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= 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2160 × 0.55 + (kwh − 2160) × 0.60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第三档电费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=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前两档整段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+ 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(kwh − 4200) × 0.85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把三个单价和两个阈值都写成</a:t>
            </a:r>
            <a:r>
              <a:rPr sz="13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命名常量</a:t>
            </a:r>
            <a:endParaRPr sz="1300" b="1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255A2BB4-D36E-45A3-A467-BE45E0CB427C}"/>
              </a:ext>
            </a:extLst>
          </p:cNvPr>
          <p:cNvSpPr/>
          <p:nvPr/>
        </p:nvSpPr>
        <p:spPr>
          <a:xfrm>
            <a:off x="7682753" y="3920396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buNone/>
            </a:pPr>
            <a:r>
              <a:rPr sz="14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自测数据（含边界值</a:t>
            </a:r>
            <a:r>
              <a:rPr sz="1400" b="1" i="0" dirty="0">
                <a:solidFill>
                  <a:srgbClr val="1F3A5F"/>
                </a:solidFill>
                <a:latin typeface="微软雅黑"/>
                <a:ea typeface="微软雅黑"/>
              </a:rPr>
              <a:t>）</a:t>
            </a:r>
          </a:p>
          <a:p>
            <a:pPr>
              <a:buNone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−10 →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输入错误</a:t>
            </a:r>
            <a:endParaRPr sz="13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>
              <a:buNone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0 → 0 元</a:t>
            </a:r>
          </a:p>
          <a:p>
            <a:pPr>
              <a:buNone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2160 → 1188</a:t>
            </a:r>
            <a:r>
              <a:rPr lang="en-US" altLang="zh-CN"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.00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元（第一档上限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>
              <a:buNone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2161 → 1188.6</a:t>
            </a:r>
            <a:r>
              <a:rPr lang="en-US" altLang="zh-CN"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0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元</a:t>
            </a:r>
          </a:p>
          <a:p>
            <a:pPr>
              <a:buNone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4200 → 2412</a:t>
            </a:r>
            <a:r>
              <a:rPr lang="en-US" altLang="zh-CN"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.00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元（第二档上限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>
              <a:buNone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4201 → 2412.85 元</a:t>
            </a:r>
          </a:p>
          <a:p>
            <a:pPr>
              <a:buNone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5000 → 3092</a:t>
            </a:r>
            <a:r>
              <a:rPr lang="en-US" altLang="zh-CN"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.00</a:t>
            </a: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 元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31C911D9-0A5E-4503-BE9F-D17A397EB74B}"/>
              </a:ext>
            </a:extLst>
          </p:cNvPr>
          <p:cNvSpPr/>
          <p:nvPr/>
        </p:nvSpPr>
        <p:spPr>
          <a:xfrm>
            <a:off x="2551355" y="4339756"/>
            <a:ext cx="1398494" cy="1874519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200" b="0" i="0" dirty="0">
                <a:solidFill>
                  <a:srgbClr val="D4D4D4"/>
                </a:solidFill>
                <a:latin typeface="Consolas"/>
                <a:ea typeface="微软雅黑"/>
              </a:rPr>
              <a:t>输入：</a:t>
            </a: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lang="en-US" altLang="zh-CN" sz="1200" b="0" i="0" dirty="0">
                <a:solidFill>
                  <a:srgbClr val="B5CEA8"/>
                </a:solidFill>
                <a:latin typeface="Consolas"/>
                <a:ea typeface="微软雅黑"/>
              </a:rPr>
              <a:t>5000</a:t>
            </a:r>
            <a:endParaRPr sz="1200" b="0" i="0" dirty="0">
              <a:solidFill>
                <a:srgbClr val="B5CEA8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lang="zh-CN" altLang="en-US" sz="1200" b="0" i="0" dirty="0">
                <a:solidFill>
                  <a:srgbClr val="D4D4D4"/>
                </a:solidFill>
                <a:latin typeface="Consolas"/>
                <a:ea typeface="微软雅黑"/>
              </a:rPr>
              <a:t>输出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  <a:ea typeface="微软雅黑"/>
              </a:rPr>
              <a:t>: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lang="en-US" altLang="zh-CN" sz="1200" b="0" i="0" dirty="0">
                <a:solidFill>
                  <a:srgbClr val="B5CEA8"/>
                </a:solidFill>
                <a:latin typeface="Consolas"/>
                <a:ea typeface="微软雅黑"/>
              </a:rPr>
              <a:t>3092</a:t>
            </a:r>
            <a:endParaRPr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200" b="0" i="0" dirty="0">
              <a:solidFill>
                <a:srgbClr val="D4D4D4"/>
              </a:solidFill>
              <a:latin typeface="Consolas"/>
              <a:ea typeface="微软雅黑"/>
            </a:endParaRP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E6245D15-DCE7-4169-B557-CA9CC5AC98A5}"/>
              </a:ext>
            </a:extLst>
          </p:cNvPr>
          <p:cNvSpPr/>
          <p:nvPr/>
        </p:nvSpPr>
        <p:spPr>
          <a:xfrm>
            <a:off x="4320989" y="4339756"/>
            <a:ext cx="1398494" cy="1874519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200" b="0" i="0" dirty="0">
                <a:solidFill>
                  <a:srgbClr val="D4D4D4"/>
                </a:solidFill>
                <a:latin typeface="Consolas"/>
                <a:ea typeface="微软雅黑"/>
              </a:rPr>
              <a:t>输入：</a:t>
            </a: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lang="en-US" altLang="zh-CN" sz="1200" b="0" i="0" dirty="0">
                <a:solidFill>
                  <a:srgbClr val="B5CEA8"/>
                </a:solidFill>
                <a:latin typeface="Consolas"/>
                <a:ea typeface="微软雅黑"/>
              </a:rPr>
              <a:t>-10</a:t>
            </a:r>
            <a:endParaRPr sz="1200" b="0" i="0" dirty="0">
              <a:solidFill>
                <a:srgbClr val="B5CEA8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lang="zh-CN" altLang="en-US" sz="1200" b="0" i="0" dirty="0">
                <a:solidFill>
                  <a:srgbClr val="D4D4D4"/>
                </a:solidFill>
                <a:latin typeface="Consolas"/>
                <a:ea typeface="微软雅黑"/>
              </a:rPr>
              <a:t>输出</a:t>
            </a:r>
            <a:r>
              <a:rPr lang="en-US" altLang="zh-CN" sz="1200" dirty="0">
                <a:solidFill>
                  <a:srgbClr val="D4D4D4"/>
                </a:solidFill>
                <a:latin typeface="Consolas"/>
                <a:ea typeface="微软雅黑"/>
              </a:rPr>
              <a:t>:</a:t>
            </a:r>
            <a:r>
              <a:rPr sz="12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endParaRPr lang="en-US" altLang="zh-CN"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nsolas"/>
                <a:ea typeface="微软雅黑"/>
              </a:rPr>
              <a:t>Error</a:t>
            </a:r>
            <a:endParaRPr sz="12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200" b="0" i="0" dirty="0">
              <a:solidFill>
                <a:srgbClr val="D4D4D4"/>
              </a:solidFill>
              <a:latin typeface="Consolas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0165265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191A9413-9E88-4B9C-A584-219D96143453}"/>
              </a:ext>
            </a:extLst>
          </p:cNvPr>
          <p:cNvSpPr txBox="1"/>
          <p:nvPr/>
        </p:nvSpPr>
        <p:spPr>
          <a:xfrm>
            <a:off x="640080" y="1234440"/>
            <a:ext cx="10972800" cy="104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">
              <a:lnSpc>
                <a:spcPct val="115000"/>
              </a:lnSpc>
              <a:spcAft>
                <a:spcPts val="600"/>
              </a:spcAft>
            </a:pP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如何判断变量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900" b="0" i="0" dirty="0">
                <a:solidFill>
                  <a:srgbClr val="8E2A2A"/>
                </a:solidFill>
                <a:latin typeface="Consolas"/>
                <a:ea typeface="微软雅黑"/>
              </a:rPr>
              <a:t>x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既大于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 1 </a:t>
            </a: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又小于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 100？</a:t>
            </a:r>
            <a:endParaRPr lang="en-US" altLang="zh-CN" sz="200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57150">
              <a:lnSpc>
                <a:spcPct val="115000"/>
              </a:lnSpc>
              <a:spcAft>
                <a:spcPts val="600"/>
              </a:spcAft>
            </a:pPr>
            <a:r>
              <a:rPr sz="2800" b="0" i="0" dirty="0">
                <a:solidFill>
                  <a:srgbClr val="8E2A2A"/>
                </a:solidFill>
                <a:latin typeface="Consolas"/>
                <a:ea typeface="微软雅黑"/>
              </a:rPr>
              <a:t>1 &lt; x &lt; 100</a:t>
            </a:r>
            <a:r>
              <a:rPr sz="32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zh-CN" altLang="en-US" sz="3200" dirty="0">
                <a:solidFill>
                  <a:srgbClr val="262626"/>
                </a:solidFill>
                <a:latin typeface="微软雅黑"/>
                <a:ea typeface="微软雅黑"/>
              </a:rPr>
              <a:t>？</a:t>
            </a:r>
            <a:endParaRPr lang="en-US" altLang="zh-CN" sz="320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EB83753-983E-4420-8350-C0F867D70B22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F736CF7-AD53-44D3-8EDD-556DF14E2729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9A1CFC9-8F1C-4B53-B663-7E86DDC1DE43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19</a:t>
              </a:fld>
              <a:endParaRPr lang="zh-CN" altLang="en-US" sz="16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018CD5C-B6D2-4C39-9D63-BD52B03C24A4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C33B107-7CA9-402F-9578-12E9F9D0F067}"/>
              </a:ext>
            </a:extLst>
          </p:cNvPr>
          <p:cNvGrpSpPr/>
          <p:nvPr/>
        </p:nvGrpSpPr>
        <p:grpSpPr>
          <a:xfrm>
            <a:off x="83126" y="111043"/>
            <a:ext cx="2468485" cy="733368"/>
            <a:chOff x="83126" y="111043"/>
            <a:chExt cx="2892484" cy="7333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589F1F7-C0FD-41F4-A9B5-F672E109C01A}"/>
                </a:ext>
              </a:extLst>
            </p:cNvPr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思考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50ECBD3-EAB5-467D-94DE-10ACEBE2B1EB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610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xfrm>
            <a:off x="2405623" y="162007"/>
            <a:ext cx="4787657" cy="707887"/>
          </a:xfrm>
        </p:spPr>
        <p:txBody>
          <a:bodyPr/>
          <a:lstStyle/>
          <a:p>
            <a:r>
              <a:rPr lang="en-US" altLang="zh-CN" dirty="0"/>
              <a:t>Logical Operators</a:t>
            </a:r>
            <a:endParaRPr lang="zh-CN" altLang="en-US" dirty="0"/>
          </a:p>
        </p:txBody>
      </p:sp>
      <p:sp>
        <p:nvSpPr>
          <p:cNvPr id="66564" name="Text Box 3"/>
          <p:cNvSpPr txBox="1">
            <a:spLocks noChangeArrowheads="1"/>
          </p:cNvSpPr>
          <p:nvPr/>
        </p:nvSpPr>
        <p:spPr bwMode="auto">
          <a:xfrm>
            <a:off x="2469257" y="2636838"/>
            <a:ext cx="6570360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tabLst>
                <a:tab pos="1771650" algn="l"/>
                <a:tab pos="3657600" algn="l"/>
              </a:tabLst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tabLst>
                <a:tab pos="1771650" algn="l"/>
                <a:tab pos="3657600" algn="l"/>
              </a:tabLst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tabLst>
                <a:tab pos="1771650" algn="l"/>
                <a:tab pos="3657600" algn="l"/>
              </a:tabLst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771650" algn="l"/>
                <a:tab pos="3657600" algn="l"/>
              </a:tabLst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771650" algn="l"/>
                <a:tab pos="3657600" algn="l"/>
              </a:tabLst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71650" algn="l"/>
                <a:tab pos="3657600" algn="l"/>
              </a:tabLst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71650" algn="l"/>
                <a:tab pos="3657600" algn="l"/>
              </a:tabLst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71650" algn="l"/>
                <a:tab pos="3657600" algn="l"/>
              </a:tabLst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771650" algn="l"/>
                <a:tab pos="3657600" algn="l"/>
              </a:tabLst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Operator 	Name	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!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not	logical negation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&amp;&amp;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and	logical 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conjunciton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||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or	logical disjunction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6" name="矩形 5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20</a:t>
              </a:fld>
              <a:endParaRPr lang="zh-CN" altLang="en-US" sz="16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3126" y="111043"/>
            <a:ext cx="2468485" cy="733368"/>
            <a:chOff x="83126" y="111043"/>
            <a:chExt cx="2892484" cy="733368"/>
          </a:xfrm>
        </p:grpSpPr>
        <p:sp>
          <p:nvSpPr>
            <p:cNvPr id="10" name="矩形 9"/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逻辑运算</a:t>
              </a:r>
            </a:p>
          </p:txBody>
        </p:sp>
        <p:sp>
          <p:nvSpPr>
            <p:cNvPr id="11" name="矩形 10"/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TextBox 8">
            <a:extLst>
              <a:ext uri="{FF2B5EF4-FFF2-40B4-BE49-F238E27FC236}">
                <a16:creationId xmlns:a16="http://schemas.microsoft.com/office/drawing/2014/main" id="{876358DA-5B69-4361-8B5D-A9A78C3249AE}"/>
              </a:ext>
            </a:extLst>
          </p:cNvPr>
          <p:cNvSpPr txBox="1"/>
          <p:nvPr/>
        </p:nvSpPr>
        <p:spPr>
          <a:xfrm>
            <a:off x="309033" y="1233392"/>
            <a:ext cx="9248623" cy="9857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用于把多个简单条件</a:t>
            </a:r>
            <a:r>
              <a:rPr sz="2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组合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成复合条件</a:t>
            </a:r>
            <a:endParaRPr lang="en-US" sz="24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FontTx/>
              <a:buChar char="•"/>
            </a:pPr>
            <a:r>
              <a:rPr lang="zh-CN" altLang="en-US" sz="2400" dirty="0">
                <a:solidFill>
                  <a:srgbClr val="262626"/>
                </a:solidFill>
                <a:latin typeface="微软雅黑"/>
                <a:ea typeface="微软雅黑"/>
              </a:rPr>
              <a:t>逻辑运算符对 </a:t>
            </a:r>
            <a:r>
              <a:rPr lang="en" altLang="zh-CN" sz="2400" b="1" dirty="0">
                <a:solidFill>
                  <a:srgbClr val="262626"/>
                </a:solidFill>
                <a:latin typeface="微软雅黑"/>
                <a:ea typeface="微软雅黑"/>
              </a:rPr>
              <a:t>bool </a:t>
            </a:r>
            <a:r>
              <a:rPr lang="zh-CN" altLang="en-US" sz="2400" b="1" dirty="0">
                <a:solidFill>
                  <a:srgbClr val="262626"/>
                </a:solidFill>
                <a:latin typeface="微软雅黑"/>
                <a:ea typeface="微软雅黑"/>
              </a:rPr>
              <a:t>值</a:t>
            </a:r>
            <a:r>
              <a:rPr lang="zh-CN" altLang="en-US" sz="2400" dirty="0">
                <a:solidFill>
                  <a:srgbClr val="262626"/>
                </a:solidFill>
                <a:latin typeface="微软雅黑"/>
                <a:ea typeface="微软雅黑"/>
              </a:rPr>
              <a:t>进行运算，结果仍为 </a:t>
            </a:r>
            <a:r>
              <a:rPr lang="en" altLang="zh-CN" sz="2400" dirty="0">
                <a:solidFill>
                  <a:srgbClr val="262626"/>
                </a:solidFill>
                <a:latin typeface="微软雅黑"/>
                <a:ea typeface="微软雅黑"/>
              </a:rPr>
              <a:t>bool </a:t>
            </a:r>
            <a:r>
              <a:rPr lang="zh-CN" altLang="en-US" sz="2400" dirty="0">
                <a:solidFill>
                  <a:srgbClr val="262626"/>
                </a:solidFill>
                <a:latin typeface="微软雅黑"/>
                <a:ea typeface="微软雅黑"/>
              </a:rPr>
              <a:t>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2423160" y="155156"/>
            <a:ext cx="4752703" cy="714738"/>
          </a:xfrm>
        </p:spPr>
        <p:txBody>
          <a:bodyPr/>
          <a:lstStyle/>
          <a:p>
            <a:r>
              <a:rPr lang="en-US" altLang="zh-CN" dirty="0"/>
              <a:t>Logical Operators</a:t>
            </a:r>
            <a:endParaRPr lang="zh-CN" altLang="en-US" dirty="0"/>
          </a:p>
        </p:txBody>
      </p:sp>
      <p:graphicFrame>
        <p:nvGraphicFramePr>
          <p:cNvPr id="67588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877784"/>
              </p:ext>
            </p:extLst>
          </p:nvPr>
        </p:nvGraphicFramePr>
        <p:xfrm>
          <a:off x="789714" y="1271158"/>
          <a:ext cx="10305830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r:id="rId3" imgW="5043170" imgH="816610" progId="Word.Picture.8">
                  <p:embed/>
                </p:oleObj>
              </mc:Choice>
              <mc:Fallback>
                <p:oleObj r:id="rId3" imgW="5043170" imgH="816610" progId="Word.Picture.8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14" y="1271158"/>
                        <a:ext cx="10305830" cy="1674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254608"/>
              </p:ext>
            </p:extLst>
          </p:nvPr>
        </p:nvGraphicFramePr>
        <p:xfrm>
          <a:off x="789714" y="3238908"/>
          <a:ext cx="10274008" cy="2582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r:id="rId5" imgW="5043170" imgH="1269365" progId="Word.Picture.8">
                  <p:embed/>
                </p:oleObj>
              </mc:Choice>
              <mc:Fallback>
                <p:oleObj r:id="rId5" imgW="5043170" imgH="1269365" progId="Word.Picture.8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14" y="3238908"/>
                        <a:ext cx="10274008" cy="258277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7" name="矩形 6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fld>
              <a:endParaRPr lang="zh-CN" altLang="en-US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3126" y="111043"/>
            <a:ext cx="2468485" cy="733368"/>
            <a:chOff x="83126" y="111043"/>
            <a:chExt cx="2892484" cy="733368"/>
          </a:xfrm>
        </p:grpSpPr>
        <p:sp>
          <p:nvSpPr>
            <p:cNvPr id="11" name="矩形 10"/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逻辑运算</a:t>
              </a:r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标题 1"/>
          <p:cNvSpPr>
            <a:spLocks noGrp="1"/>
          </p:cNvSpPr>
          <p:nvPr>
            <p:ph type="title"/>
          </p:nvPr>
        </p:nvSpPr>
        <p:spPr>
          <a:xfrm>
            <a:off x="2551611" y="159867"/>
            <a:ext cx="4787537" cy="610235"/>
          </a:xfrm>
        </p:spPr>
        <p:txBody>
          <a:bodyPr/>
          <a:lstStyle/>
          <a:p>
            <a:r>
              <a:rPr lang="en-US" altLang="zh-CN" dirty="0"/>
              <a:t>Logical Operators</a:t>
            </a:r>
            <a:endParaRPr lang="zh-CN" altLang="en-US" dirty="0"/>
          </a:p>
        </p:txBody>
      </p:sp>
      <p:graphicFrame>
        <p:nvGraphicFramePr>
          <p:cNvPr id="68612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0463"/>
              </p:ext>
            </p:extLst>
          </p:nvPr>
        </p:nvGraphicFramePr>
        <p:xfrm>
          <a:off x="884680" y="1034504"/>
          <a:ext cx="10139951" cy="2549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r:id="rId4" imgW="5043170" imgH="1269365" progId="Word.Picture.8">
                  <p:embed/>
                </p:oleObj>
              </mc:Choice>
              <mc:Fallback>
                <p:oleObj r:id="rId4" imgW="5043170" imgH="1269365" progId="Word.Picture.8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680" y="1034504"/>
                        <a:ext cx="10139951" cy="254907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6" name="矩形 5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fld>
              <a:endParaRPr lang="zh-CN" altLang="en-US" sz="16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3126" y="111043"/>
            <a:ext cx="2468485" cy="733368"/>
            <a:chOff x="83126" y="111043"/>
            <a:chExt cx="2892484" cy="733368"/>
          </a:xfrm>
        </p:grpSpPr>
        <p:sp>
          <p:nvSpPr>
            <p:cNvPr id="10" name="矩形 9"/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逻辑运算</a:t>
              </a:r>
            </a:p>
          </p:txBody>
        </p:sp>
        <p:sp>
          <p:nvSpPr>
            <p:cNvPr id="11" name="矩形 10"/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6840525-7C5D-42B5-8F4B-58335D248AF8}"/>
              </a:ext>
            </a:extLst>
          </p:cNvPr>
          <p:cNvSpPr/>
          <p:nvPr/>
        </p:nvSpPr>
        <p:spPr>
          <a:xfrm>
            <a:off x="1155373" y="3714889"/>
            <a:ext cx="10040470" cy="2075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b="1" dirty="0">
                <a:solidFill>
                  <a:srgbClr val="1F3A5F"/>
                </a:solidFill>
                <a:latin typeface="微软雅黑"/>
                <a:ea typeface="微软雅黑"/>
              </a:rPr>
              <a:t>例：判断 </a:t>
            </a:r>
            <a:r>
              <a:rPr lang="gsw-FR" altLang="zh-CN" b="1" dirty="0">
                <a:solidFill>
                  <a:srgbClr val="8E2A2A"/>
                </a:solidFill>
                <a:latin typeface="Consolas"/>
                <a:ea typeface="微软雅黑"/>
              </a:rPr>
              <a:t>x</a:t>
            </a:r>
            <a:r>
              <a:rPr lang="gsw-FR" altLang="zh-CN" b="1" dirty="0">
                <a:solidFill>
                  <a:srgbClr val="1F3A5F"/>
                </a:solidFill>
                <a:latin typeface="微软雅黑"/>
                <a:ea typeface="微软雅黑"/>
              </a:rPr>
              <a:t> </a:t>
            </a:r>
            <a:r>
              <a:rPr lang="zh-CN" altLang="en-US" b="1" dirty="0">
                <a:solidFill>
                  <a:srgbClr val="1F3A5F"/>
                </a:solidFill>
                <a:latin typeface="微软雅黑"/>
                <a:ea typeface="微软雅黑"/>
              </a:rPr>
              <a:t>在 </a:t>
            </a:r>
            <a:r>
              <a:rPr lang="en-US" altLang="zh-CN" b="1" dirty="0">
                <a:solidFill>
                  <a:srgbClr val="1F3A5F"/>
                </a:solidFill>
                <a:latin typeface="微软雅黑"/>
                <a:ea typeface="微软雅黑"/>
              </a:rPr>
              <a:t>(1, 100) </a:t>
            </a:r>
            <a:r>
              <a:rPr lang="zh-CN" altLang="en-US" b="1" dirty="0">
                <a:solidFill>
                  <a:srgbClr val="1F3A5F"/>
                </a:solidFill>
                <a:latin typeface="微软雅黑"/>
                <a:ea typeface="微软雅黑"/>
              </a:rPr>
              <a:t>之间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zh-CN" sz="2000" dirty="0">
                <a:solidFill>
                  <a:srgbClr val="8E2A2A"/>
                </a:solidFill>
                <a:latin typeface="Consolas"/>
                <a:ea typeface="微软雅黑"/>
              </a:rPr>
              <a:t>1 &lt; </a:t>
            </a:r>
            <a:r>
              <a:rPr lang="gsw-FR" altLang="zh-CN" sz="2000" dirty="0">
                <a:solidFill>
                  <a:srgbClr val="8E2A2A"/>
                </a:solidFill>
                <a:latin typeface="Consolas"/>
                <a:ea typeface="微软雅黑"/>
              </a:rPr>
              <a:t>x &amp;&amp; x &lt; 100</a:t>
            </a:r>
            <a:r>
              <a:rPr lang="gsw-FR" altLang="zh-CN" sz="200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gsw-FR" altLang="zh-CN" sz="2000" dirty="0">
                <a:solidFill>
                  <a:srgbClr val="FF0000"/>
                </a:solidFill>
                <a:latin typeface="微软雅黑"/>
                <a:ea typeface="微软雅黑"/>
              </a:rPr>
              <a:t>✔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dirty="0">
                <a:solidFill>
                  <a:srgbClr val="8E2A2A"/>
                </a:solidFill>
                <a:latin typeface="Consolas"/>
                <a:ea typeface="微软雅黑"/>
              </a:rPr>
              <a:t>1 &lt; x &lt; 100</a:t>
            </a:r>
            <a:r>
              <a:rPr lang="gsw-FR" altLang="zh-CN" dirty="0">
                <a:solidFill>
                  <a:srgbClr val="262626"/>
                </a:solidFill>
                <a:latin typeface="微软雅黑"/>
                <a:ea typeface="微软雅黑"/>
              </a:rPr>
              <a:t>              </a:t>
            </a:r>
            <a:r>
              <a:rPr lang="gsw-FR" altLang="zh-CN" sz="200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gsw-FR" altLang="zh-CN" sz="2000" dirty="0">
                <a:solidFill>
                  <a:srgbClr val="FF0000"/>
                </a:solidFill>
                <a:latin typeface="微软雅黑"/>
                <a:ea typeface="微软雅黑"/>
              </a:rPr>
              <a:t>✘  </a:t>
            </a:r>
            <a:r>
              <a:rPr lang="zh-CN" altLang="gsw-FR" dirty="0">
                <a:solidFill>
                  <a:srgbClr val="262626"/>
                </a:solidFill>
                <a:latin typeface="微软雅黑"/>
                <a:ea typeface="微软雅黑"/>
              </a:rPr>
              <a:t>（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先算 </a:t>
            </a:r>
            <a:r>
              <a:rPr lang="en-US" altLang="zh-CN" dirty="0">
                <a:solidFill>
                  <a:srgbClr val="8E2A2A"/>
                </a:solidFill>
                <a:latin typeface="Consolas"/>
                <a:ea typeface="微软雅黑"/>
              </a:rPr>
              <a:t>1 &lt; </a:t>
            </a:r>
            <a:r>
              <a:rPr lang="gsw-FR" altLang="zh-CN" dirty="0">
                <a:solidFill>
                  <a:srgbClr val="8E2A2A"/>
                </a:solidFill>
                <a:latin typeface="Consolas"/>
                <a:ea typeface="微软雅黑"/>
              </a:rPr>
              <a:t>x</a:t>
            </a:r>
            <a:r>
              <a:rPr lang="gsw-FR" altLang="zh-CN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得 </a:t>
            </a:r>
            <a:r>
              <a:rPr lang="en-US" altLang="zh-CN" dirty="0">
                <a:solidFill>
                  <a:srgbClr val="262626"/>
                </a:solidFill>
                <a:latin typeface="微软雅黑"/>
                <a:ea typeface="微软雅黑"/>
              </a:rPr>
              <a:t>0/1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，再与 </a:t>
            </a:r>
            <a:r>
              <a:rPr lang="en-US" altLang="zh-CN" dirty="0">
                <a:solidFill>
                  <a:srgbClr val="262626"/>
                </a:solidFill>
                <a:latin typeface="微软雅黑"/>
                <a:ea typeface="微软雅黑"/>
              </a:rPr>
              <a:t>100 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比较，永远为 </a:t>
            </a:r>
            <a:r>
              <a:rPr lang="gsw-FR" altLang="zh-CN" dirty="0">
                <a:solidFill>
                  <a:srgbClr val="262626"/>
                </a:solidFill>
                <a:latin typeface="微软雅黑"/>
                <a:ea typeface="微软雅黑"/>
              </a:rPr>
              <a:t>true</a:t>
            </a:r>
            <a:r>
              <a:rPr lang="zh-CN" altLang="gsw-FR" dirty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b="1" dirty="0">
                <a:solidFill>
                  <a:srgbClr val="1F3A5F"/>
                </a:solidFill>
                <a:latin typeface="微软雅黑"/>
                <a:ea typeface="微软雅黑"/>
              </a:rPr>
              <a:t>例：判断 </a:t>
            </a:r>
            <a:r>
              <a:rPr lang="gsw-FR" altLang="zh-CN" b="1" dirty="0">
                <a:solidFill>
                  <a:srgbClr val="8E2A2A"/>
                </a:solidFill>
                <a:latin typeface="Consolas"/>
                <a:ea typeface="微软雅黑"/>
              </a:rPr>
              <a:t>n</a:t>
            </a:r>
            <a:r>
              <a:rPr lang="gsw-FR" altLang="zh-CN" b="1" dirty="0">
                <a:solidFill>
                  <a:srgbClr val="1F3A5F"/>
                </a:solidFill>
                <a:latin typeface="微软雅黑"/>
                <a:ea typeface="微软雅黑"/>
              </a:rPr>
              <a:t> </a:t>
            </a:r>
            <a:r>
              <a:rPr lang="zh-CN" altLang="en-US" b="1" dirty="0">
                <a:solidFill>
                  <a:srgbClr val="1F3A5F"/>
                </a:solidFill>
                <a:latin typeface="微软雅黑"/>
                <a:ea typeface="微软雅黑"/>
              </a:rPr>
              <a:t>不能被 </a:t>
            </a:r>
            <a:r>
              <a:rPr lang="en-US" altLang="zh-CN" b="1" dirty="0">
                <a:solidFill>
                  <a:srgbClr val="1F3A5F"/>
                </a:solidFill>
                <a:latin typeface="微软雅黑"/>
                <a:ea typeface="微软雅黑"/>
              </a:rPr>
              <a:t>3 </a:t>
            </a:r>
            <a:r>
              <a:rPr lang="zh-CN" altLang="en-US" b="1" dirty="0">
                <a:solidFill>
                  <a:srgbClr val="1F3A5F"/>
                </a:solidFill>
                <a:latin typeface="微软雅黑"/>
                <a:ea typeface="微软雅黑"/>
              </a:rPr>
              <a:t>整除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gsw-FR" altLang="zh-CN" sz="2000" dirty="0">
                <a:solidFill>
                  <a:srgbClr val="8E2A2A"/>
                </a:solidFill>
                <a:latin typeface="Consolas"/>
                <a:ea typeface="微软雅黑"/>
              </a:rPr>
              <a:t>n % 3 != 0</a:t>
            </a:r>
            <a:r>
              <a:rPr lang="gsw-FR" altLang="zh-CN" sz="2000" dirty="0">
                <a:solidFill>
                  <a:srgbClr val="262626"/>
                </a:solidFill>
                <a:latin typeface="微软雅黑"/>
                <a:ea typeface="微软雅黑"/>
              </a:rPr>
              <a:t>  </a:t>
            </a:r>
            <a:r>
              <a:rPr lang="zh-CN" altLang="en-US" sz="2000" dirty="0">
                <a:solidFill>
                  <a:srgbClr val="262626"/>
                </a:solidFill>
                <a:latin typeface="微软雅黑"/>
                <a:ea typeface="微软雅黑"/>
              </a:rPr>
              <a:t>或  </a:t>
            </a:r>
            <a:r>
              <a:rPr lang="en-US" altLang="zh-CN" sz="2000" dirty="0">
                <a:solidFill>
                  <a:srgbClr val="8E2A2A"/>
                </a:solidFill>
                <a:latin typeface="Consolas"/>
                <a:ea typeface="微软雅黑"/>
              </a:rPr>
              <a:t>!(</a:t>
            </a:r>
            <a:r>
              <a:rPr lang="gsw-FR" altLang="zh-CN" sz="2000" dirty="0">
                <a:solidFill>
                  <a:srgbClr val="8E2A2A"/>
                </a:solidFill>
                <a:latin typeface="Consolas"/>
                <a:ea typeface="微软雅黑"/>
              </a:rPr>
              <a:t>n % 3 == 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3">
            <a:extLst>
              <a:ext uri="{FF2B5EF4-FFF2-40B4-BE49-F238E27FC236}">
                <a16:creationId xmlns:a16="http://schemas.microsoft.com/office/drawing/2014/main" id="{6BE06032-AE2A-47B7-B5BB-063017860607}"/>
              </a:ext>
            </a:extLst>
          </p:cNvPr>
          <p:cNvSpPr txBox="1"/>
          <p:nvPr/>
        </p:nvSpPr>
        <p:spPr>
          <a:xfrm>
            <a:off x="403412" y="1307951"/>
            <a:ext cx="11247120" cy="502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短路求值（short-circuit</a:t>
            </a:r>
            <a:r>
              <a:rPr sz="2400" b="1" i="0" dirty="0">
                <a:solidFill>
                  <a:srgbClr val="1F3A5F"/>
                </a:solidFill>
                <a:latin typeface="微软雅黑"/>
                <a:ea typeface="微软雅黑"/>
              </a:rPr>
              <a:t> evaluation）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p1 &amp;&amp; p2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：若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p1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为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false，则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p2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不再计算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，整个表达式为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false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p1 || p2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：若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p1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为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true，则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p2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不再计算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，整个表达式为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true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利用短路可避免运行错误：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if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(n != 0 &amp;&amp; 100 / n &gt; 2)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—— n 为 0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时不会执行除法</a:t>
            </a:r>
            <a:endParaRPr lang="en-US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457150">
              <a:lnSpc>
                <a:spcPct val="115000"/>
              </a:lnSpc>
              <a:spcAft>
                <a:spcPts val="600"/>
              </a:spcAft>
            </a:pPr>
            <a:endParaRPr lang="en-US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457150">
              <a:lnSpc>
                <a:spcPct val="115000"/>
              </a:lnSpc>
              <a:spcAft>
                <a:spcPts val="600"/>
              </a:spcAft>
            </a:pPr>
            <a:endParaRPr lang="en-US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457150">
              <a:lnSpc>
                <a:spcPct val="115000"/>
              </a:lnSpc>
              <a:spcAft>
                <a:spcPts val="600"/>
              </a:spcAft>
            </a:pPr>
            <a:endParaRPr lang="en-US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457150">
              <a:lnSpc>
                <a:spcPct val="115000"/>
              </a:lnSpc>
              <a:spcAft>
                <a:spcPts val="600"/>
              </a:spcAft>
            </a:pPr>
            <a:endParaRPr lang="en-US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457150">
              <a:lnSpc>
                <a:spcPct val="115000"/>
              </a:lnSpc>
              <a:spcAft>
                <a:spcPts val="600"/>
              </a:spcAft>
            </a:pPr>
            <a:endParaRPr lang="en-US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457150">
              <a:lnSpc>
                <a:spcPct val="115000"/>
              </a:lnSpc>
              <a:spcAft>
                <a:spcPts val="600"/>
              </a:spcAft>
            </a:pP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德·摩根定律（De</a:t>
            </a:r>
            <a:r>
              <a:rPr sz="2000" b="1" i="0" dirty="0">
                <a:solidFill>
                  <a:srgbClr val="1F3A5F"/>
                </a:solidFill>
                <a:latin typeface="微软雅黑"/>
                <a:ea typeface="微软雅黑"/>
              </a:rPr>
              <a:t> Morgan）：</a:t>
            </a:r>
            <a:r>
              <a:rPr sz="2000" b="1" i="0" dirty="0">
                <a:solidFill>
                  <a:srgbClr val="8E2A2A"/>
                </a:solidFill>
                <a:latin typeface="Consolas"/>
                <a:ea typeface="微软雅黑"/>
              </a:rPr>
              <a:t>!(p1 &amp;&amp; p2)</a:t>
            </a:r>
            <a:r>
              <a:rPr sz="2000" b="1" i="0" dirty="0">
                <a:solidFill>
                  <a:srgbClr val="1F3A5F"/>
                </a:solidFill>
                <a:latin typeface="微软雅黑"/>
                <a:ea typeface="微软雅黑"/>
              </a:rPr>
              <a:t> ≡ </a:t>
            </a:r>
            <a:r>
              <a:rPr sz="2000" b="1" i="0" dirty="0">
                <a:solidFill>
                  <a:srgbClr val="8E2A2A"/>
                </a:solidFill>
                <a:latin typeface="Consolas"/>
                <a:ea typeface="微软雅黑"/>
              </a:rPr>
              <a:t>!p1 || !p2</a:t>
            </a:r>
            <a:r>
              <a:rPr sz="2000" b="1" i="0" dirty="0">
                <a:solidFill>
                  <a:srgbClr val="1F3A5F"/>
                </a:solidFill>
                <a:latin typeface="微软雅黑"/>
                <a:ea typeface="微软雅黑"/>
              </a:rPr>
              <a:t>　　</a:t>
            </a:r>
            <a:r>
              <a:rPr sz="2000" b="1" i="0" dirty="0">
                <a:solidFill>
                  <a:srgbClr val="8E2A2A"/>
                </a:solidFill>
                <a:latin typeface="Consolas"/>
                <a:ea typeface="微软雅黑"/>
              </a:rPr>
              <a:t>!(p1 || p2)</a:t>
            </a:r>
            <a:r>
              <a:rPr sz="2000" b="1" i="0" dirty="0">
                <a:solidFill>
                  <a:srgbClr val="1F3A5F"/>
                </a:solidFill>
                <a:latin typeface="微软雅黑"/>
                <a:ea typeface="微软雅黑"/>
              </a:rPr>
              <a:t> ≡ </a:t>
            </a:r>
            <a:r>
              <a:rPr sz="2000" b="1" i="0" dirty="0">
                <a:solidFill>
                  <a:srgbClr val="8E2A2A"/>
                </a:solidFill>
                <a:latin typeface="Consolas"/>
                <a:ea typeface="微软雅黑"/>
              </a:rPr>
              <a:t>!p1 &amp;&amp; !p2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例：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!(n % 2 == 0 &amp;&amp; n % 3 == 0)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可简化为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n % 2 != 0 || n % 3 != 0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C62CF64-EA0C-452D-9E30-69FA2EC05646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AF3A7E0-8C9C-4E68-932F-ACCC43655A19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BBD643-A733-4770-8287-ABD845E4237A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23</a:t>
              </a:fld>
              <a:endParaRPr lang="zh-CN" altLang="en-US" sz="16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FF9057E-3C7F-4DF2-BF6F-F2C878591B7C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11D4294A-2113-4CD2-84B9-1AB09F93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611" y="159867"/>
            <a:ext cx="4787537" cy="610235"/>
          </a:xfrm>
        </p:spPr>
        <p:txBody>
          <a:bodyPr/>
          <a:lstStyle/>
          <a:p>
            <a:r>
              <a:rPr lang="en-US" altLang="zh-CN" dirty="0"/>
              <a:t>Logical Operators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6CC1C47-1024-44B3-9ECF-84AD4E8EB466}"/>
              </a:ext>
            </a:extLst>
          </p:cNvPr>
          <p:cNvGrpSpPr/>
          <p:nvPr/>
        </p:nvGrpSpPr>
        <p:grpSpPr>
          <a:xfrm>
            <a:off x="83126" y="111043"/>
            <a:ext cx="2468485" cy="733368"/>
            <a:chOff x="83126" y="111043"/>
            <a:chExt cx="2892484" cy="73336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BFB397E-22CE-4962-B878-38E97E1C1A90}"/>
                </a:ext>
              </a:extLst>
            </p:cNvPr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逻辑运算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5278220-E753-4934-B4D2-9892468A917E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00ED883-C135-1A22-77EA-DED8866B764F}"/>
              </a:ext>
            </a:extLst>
          </p:cNvPr>
          <p:cNvSpPr txBox="1"/>
          <p:nvPr/>
        </p:nvSpPr>
        <p:spPr>
          <a:xfrm>
            <a:off x="1194393" y="3116764"/>
            <a:ext cx="6101442" cy="20313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zh-CN" dirty="0">
                <a:latin typeface="+mn-lt"/>
              </a:rPr>
              <a:t>int x = 0;</a:t>
            </a:r>
          </a:p>
          <a:p>
            <a:pPr rtl="0">
              <a:buNone/>
            </a:pPr>
            <a:r>
              <a:rPr lang="zh-CN" altLang="zh-CN" dirty="0">
                <a:latin typeface="+mn-lt"/>
              </a:rPr>
              <a:t>int count = 0;</a:t>
            </a:r>
          </a:p>
          <a:p>
            <a:pPr rtl="0">
              <a:buNone/>
            </a:pPr>
            <a:endParaRPr lang="zh-CN" altLang="zh-CN" dirty="0">
              <a:latin typeface="+mn-lt"/>
            </a:endParaRPr>
          </a:p>
          <a:p>
            <a:pPr rtl="0">
              <a:buNone/>
            </a:pPr>
            <a:r>
              <a:rPr lang="zh-CN" altLang="zh-CN" dirty="0">
                <a:latin typeface="+mn-lt"/>
              </a:rPr>
              <a:t>if (x &gt; 0 &amp;&amp; ++count &gt; 0) {</a:t>
            </a:r>
          </a:p>
          <a:p>
            <a:pPr rtl="0">
              <a:buNone/>
            </a:pPr>
            <a:r>
              <a:rPr lang="zh-CN" altLang="zh-CN" dirty="0">
                <a:latin typeface="+mn-lt"/>
              </a:rPr>
              <a:t>    cout &lt;&lt; "条件成立";</a:t>
            </a:r>
          </a:p>
          <a:p>
            <a:pPr rtl="0">
              <a:buNone/>
            </a:pPr>
            <a:r>
              <a:rPr lang="zh-CN" altLang="zh-CN" dirty="0">
                <a:latin typeface="+mn-lt"/>
              </a:rPr>
              <a:t>}</a:t>
            </a:r>
          </a:p>
          <a:p>
            <a:pPr rtl="0">
              <a:buNone/>
            </a:pPr>
            <a:r>
              <a:rPr lang="zh-CN" altLang="zh-CN" dirty="0">
                <a:latin typeface="+mn-lt"/>
              </a:rPr>
              <a:t>cout &lt;&lt; count; </a:t>
            </a:r>
            <a:endParaRPr lang="zh-CN" altLang="zh-C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781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53450F63-C77B-490C-B969-A49E09496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081969"/>
              </p:ext>
            </p:extLst>
          </p:nvPr>
        </p:nvGraphicFramePr>
        <p:xfrm>
          <a:off x="481262" y="1333098"/>
          <a:ext cx="11238297" cy="452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0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4878">
                <a:tc>
                  <a:txBody>
                    <a:bodyPr/>
                    <a:lstStyle/>
                    <a:p>
                      <a:pPr algn="ctr"/>
                      <a:r>
                        <a:rPr sz="1600" b="1" i="0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条件</a:t>
                      </a:r>
                      <a:r>
                        <a:rPr lang="zh-CN" altLang="en-US" sz="1600" b="1" i="0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（组合）</a:t>
                      </a:r>
                      <a:endParaRPr sz="160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正确写法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常见错误写法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错在哪里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87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 在 1 到 100 之间（含）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x &gt;= 1 &amp;&amp; x &lt;= 100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1 &lt;= x &lt;= 100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先算 1&lt;=x 得 0/1，再与 100 比较永远为真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87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 等于 1 或等于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x == 1 || x ==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x == 1 ||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“2”非零即 true，整个表达式永远为真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87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 不是 3 的倍数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x % 3 != 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x % 3 != 0 &amp;&amp; 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多余；也常误写为 x != 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87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 与 y 同号（都非零）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(x &gt; 0 &amp;&amp; y &gt; 0) || (x &lt; 0 &amp;&amp; y &lt; 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x &gt; 0 &amp;&amp; y &gt;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漏掉“都为负”的情况——不完备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7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 是小写字母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ch &gt;= 'a' &amp;&amp; ch &lt;= 'z'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ch &gt;= 'a' || ch &lt;= 'z'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|| 使任何字符都满足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78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年龄 18 岁以下或 60 岁以上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age &lt; 18 || age &gt; 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age &lt; 18 &amp;&amp; age &gt; 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一个人不可能同时满足，永远为假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878">
                <a:tc>
                  <a:txBody>
                    <a:bodyPr/>
                    <a:lstStyle/>
                    <a:p>
                      <a:pPr algn="ctr"/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不是（既大于</a:t>
                      </a:r>
                      <a:r>
                        <a:rPr sz="16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5 </a:t>
                      </a:r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又小于</a:t>
                      </a:r>
                      <a:r>
                        <a:rPr sz="16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10）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!(x &gt; 5 &amp;&amp; x &lt; 10)</a:t>
                      </a:r>
                    </a:p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等价 x &lt;= 5 || x &gt;= 10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!x &gt; 5 &amp;&amp; x &lt; 10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! </a:t>
                      </a:r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只作用于</a:t>
                      </a:r>
                      <a:r>
                        <a:rPr sz="16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x，优先级高于</a:t>
                      </a:r>
                      <a:r>
                        <a:rPr sz="16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&gt;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5678084D-2539-431B-B097-8FFC4A76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611" y="159867"/>
            <a:ext cx="4787537" cy="610235"/>
          </a:xfrm>
        </p:spPr>
        <p:txBody>
          <a:bodyPr/>
          <a:lstStyle/>
          <a:p>
            <a:r>
              <a:rPr lang="en-US" altLang="zh-CN" dirty="0"/>
              <a:t>Logical Operators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BBFFC40-6828-46BD-826B-EF752C53B730}"/>
              </a:ext>
            </a:extLst>
          </p:cNvPr>
          <p:cNvGrpSpPr/>
          <p:nvPr/>
        </p:nvGrpSpPr>
        <p:grpSpPr>
          <a:xfrm>
            <a:off x="83126" y="111043"/>
            <a:ext cx="2468485" cy="733368"/>
            <a:chOff x="83126" y="111043"/>
            <a:chExt cx="2892484" cy="733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7DFF9BD-8628-4AE5-A836-51AFFB4918A0}"/>
                </a:ext>
              </a:extLst>
            </p:cNvPr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逻辑运算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9E01D49-9166-4097-ADCD-781AD037EF77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16B13D8-A076-4EAB-92E7-74B43AA2409F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C245567-4D3F-4A97-8040-3CC3FD690427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3057086-A317-4CC7-9F0A-AE4A492F2A17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24</a:t>
              </a:fld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47A7E08-E02F-42D9-81BD-48A6D574DDE0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8971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678084D-2539-431B-B097-8FFC4A76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611" y="159867"/>
            <a:ext cx="4787537" cy="610235"/>
          </a:xfrm>
        </p:spPr>
        <p:txBody>
          <a:bodyPr/>
          <a:lstStyle/>
          <a:p>
            <a:r>
              <a:rPr lang="en-US" altLang="zh-CN" dirty="0"/>
              <a:t>Bitwise Operators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BBFFC40-6828-46BD-826B-EF752C53B730}"/>
              </a:ext>
            </a:extLst>
          </p:cNvPr>
          <p:cNvGrpSpPr/>
          <p:nvPr/>
        </p:nvGrpSpPr>
        <p:grpSpPr>
          <a:xfrm>
            <a:off x="83126" y="111043"/>
            <a:ext cx="2468485" cy="733368"/>
            <a:chOff x="83126" y="111043"/>
            <a:chExt cx="2892484" cy="733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7DFF9BD-8628-4AE5-A836-51AFFB4918A0}"/>
                </a:ext>
              </a:extLst>
            </p:cNvPr>
            <p:cNvSpPr/>
            <p:nvPr/>
          </p:nvSpPr>
          <p:spPr>
            <a:xfrm>
              <a:off x="232410" y="136525"/>
              <a:ext cx="27432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位运算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9E01D49-9166-4097-ADCD-781AD037EF77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16B13D8-A076-4EAB-92E7-74B43AA2409F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C245567-4D3F-4A97-8040-3CC3FD690427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3057086-A317-4CC7-9F0A-AE4A492F2A17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25</a:t>
              </a:fld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47A7E08-E02F-42D9-81BD-48A6D574DDE0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73EB9E8-A55A-4AC1-AF4B-A512DB3E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0" y="974021"/>
            <a:ext cx="7252172" cy="529839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66218AA-6EB8-41D9-A2CD-3251D9807239}"/>
              </a:ext>
            </a:extLst>
          </p:cNvPr>
          <p:cNvSpPr/>
          <p:nvPr/>
        </p:nvSpPr>
        <p:spPr>
          <a:xfrm>
            <a:off x="7680325" y="1601591"/>
            <a:ext cx="445231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1B6AC7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&lt;iostream&gt;</a:t>
            </a:r>
          </a:p>
          <a:p>
            <a:r>
              <a:rPr lang="en-US" altLang="zh-CN" sz="1600" dirty="0">
                <a:solidFill>
                  <a:srgbClr val="1B6AC7"/>
                </a:solidFill>
                <a:latin typeface="Consolas" panose="020B0609020204030204" pitchFamily="49" charset="0"/>
              </a:rPr>
              <a:t>using 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br>
              <a:rPr lang="en-US" altLang="zh-CN" sz="1600" dirty="0"/>
            </a:br>
            <a:r>
              <a:rPr lang="en-US" altLang="zh-CN" sz="1600" dirty="0">
                <a:solidFill>
                  <a:srgbClr val="1B6AC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1B6AC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 = 16; </a:t>
            </a:r>
            <a:r>
              <a:rPr lang="en-US" altLang="zh-CN" sz="1600" dirty="0">
                <a:solidFill>
                  <a:srgbClr val="14692E"/>
                </a:solidFill>
                <a:latin typeface="Consolas" panose="020B0609020204030204" pitchFamily="49" charset="0"/>
              </a:rPr>
              <a:t>// 0001 0000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1B6AC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result = num &gt;&gt; 1; </a:t>
            </a:r>
            <a:r>
              <a:rPr lang="en-US" altLang="zh-CN" sz="1600" dirty="0">
                <a:solidFill>
                  <a:srgbClr val="14692E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14692E"/>
                </a:solidFill>
                <a:latin typeface="Consolas" panose="020B0609020204030204" pitchFamily="49" charset="0"/>
              </a:rPr>
              <a:t>右移 </a:t>
            </a:r>
            <a:r>
              <a:rPr lang="en-US" altLang="zh-CN" sz="1600" dirty="0">
                <a:solidFill>
                  <a:srgbClr val="14692E"/>
                </a:solidFill>
                <a:latin typeface="Consolas" panose="020B0609020204030204" pitchFamily="49" charset="0"/>
              </a:rPr>
              <a:t>1 </a:t>
            </a:r>
            <a:r>
              <a:rPr lang="zh-CN" altLang="en-US" sz="1600" dirty="0">
                <a:solidFill>
                  <a:srgbClr val="14692E"/>
                </a:solidFill>
                <a:latin typeface="Consolas" panose="020B0609020204030204" pitchFamily="49" charset="0"/>
              </a:rPr>
              <a:t>位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zh-CN" sz="1600" dirty="0">
                <a:solidFill>
                  <a:srgbClr val="7E0B0B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7E0B0B"/>
                </a:solidFill>
                <a:latin typeface="Consolas" panose="020B0609020204030204" pitchFamily="49" charset="0"/>
              </a:rPr>
              <a:t>原始值</a:t>
            </a:r>
            <a:r>
              <a:rPr lang="en-US" altLang="zh-CN" sz="1600" dirty="0">
                <a:solidFill>
                  <a:srgbClr val="7E0B0B"/>
                </a:solidFill>
                <a:latin typeface="Consolas" panose="020B0609020204030204" pitchFamily="49" charset="0"/>
              </a:rPr>
              <a:t>: "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 num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zh-CN" sz="1600" dirty="0">
                <a:solidFill>
                  <a:srgbClr val="7E0B0B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7E0B0B"/>
                </a:solidFill>
                <a:latin typeface="Consolas" panose="020B0609020204030204" pitchFamily="49" charset="0"/>
              </a:rPr>
              <a:t>右移后</a:t>
            </a:r>
            <a:r>
              <a:rPr lang="en-US" altLang="zh-CN" sz="1600" dirty="0">
                <a:solidFill>
                  <a:srgbClr val="7E0B0B"/>
                </a:solidFill>
                <a:latin typeface="Consolas" panose="020B0609020204030204" pitchFamily="49" charset="0"/>
              </a:rPr>
              <a:t>: "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 result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1B6AC7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83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AA0DEAAA-809B-4FD6-A36D-DEA46A96B5D8}"/>
              </a:ext>
            </a:extLst>
          </p:cNvPr>
          <p:cNvSpPr/>
          <p:nvPr/>
        </p:nvSpPr>
        <p:spPr>
          <a:xfrm>
            <a:off x="170052" y="1153956"/>
            <a:ext cx="7270275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6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main()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{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"Enter a year: "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year;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&gt;&gt; year;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Check if the year is a leap year</a:t>
            </a:r>
          </a:p>
          <a:p>
            <a:pPr algn="l">
              <a:lnSpc>
                <a:spcPct val="105000"/>
              </a:lnSpc>
              <a:buNone/>
            </a:pPr>
            <a:r>
              <a:rPr sz="16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bool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isLeapYear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=</a:t>
            </a:r>
          </a:p>
          <a:p>
            <a:pPr algn="l">
              <a:lnSpc>
                <a:spcPct val="105000"/>
              </a:lnSpc>
              <a:buNone/>
            </a:pPr>
            <a:r>
              <a:rPr sz="16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(year %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==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&amp;&amp; year %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100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!=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 || (year %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400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==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Display the result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year &lt;&lt; 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" is a leap year? "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isLeapYear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}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350CE22-B6DD-4160-B19F-C40A0C6A2197}"/>
              </a:ext>
            </a:extLst>
          </p:cNvPr>
          <p:cNvSpPr txBox="1"/>
          <p:nvPr/>
        </p:nvSpPr>
        <p:spPr>
          <a:xfrm>
            <a:off x="7295949" y="1125618"/>
            <a:ext cx="4725998" cy="41685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1" i="0" dirty="0" err="1">
                <a:solidFill>
                  <a:srgbClr val="1F3A5F"/>
                </a:solidFill>
                <a:latin typeface="微软雅黑"/>
                <a:ea typeface="微软雅黑"/>
              </a:rPr>
              <a:t>闰年规则</a:t>
            </a:r>
            <a:endParaRPr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能被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4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整除但不能被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100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整除；或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457150">
              <a:lnSpc>
                <a:spcPct val="115000"/>
              </a:lnSpc>
              <a:spcAft>
                <a:spcPts val="600"/>
              </a:spcAft>
            </a:pP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能被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400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整除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1" i="0" dirty="0" err="1">
                <a:solidFill>
                  <a:srgbClr val="1F3A5F"/>
                </a:solidFill>
                <a:latin typeface="微软雅黑"/>
                <a:ea typeface="微软雅黑"/>
              </a:rPr>
              <a:t>从规则到代码：逐步构造</a:t>
            </a:r>
            <a:endParaRPr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year % 4 == 0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year % 4 == 0 &amp;&amp; year % 100 != 0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(... &amp;&amp; ...) || (year % 400 == 0)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1" i="0" dirty="0" err="1">
                <a:solidFill>
                  <a:srgbClr val="1F3A5F"/>
                </a:solidFill>
                <a:latin typeface="微软雅黑"/>
                <a:ea typeface="微软雅黑"/>
              </a:rPr>
              <a:t>运行示例</a:t>
            </a:r>
            <a:endParaRPr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2008 →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2008 is a leap year? 1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1900 →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1900 is a leap year? 0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2000 →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2000 is a leap year? 1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08AA7AF-7DB3-4D65-B53A-F0E9556829B5}"/>
              </a:ext>
            </a:extLst>
          </p:cNvPr>
          <p:cNvGrpSpPr/>
          <p:nvPr/>
        </p:nvGrpSpPr>
        <p:grpSpPr>
          <a:xfrm>
            <a:off x="83126" y="111043"/>
            <a:ext cx="4623345" cy="733368"/>
            <a:chOff x="83126" y="111043"/>
            <a:chExt cx="5417473" cy="73336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3E2AA27-4995-4871-A4B3-A0A2F8772CF9}"/>
                </a:ext>
              </a:extLst>
            </p:cNvPr>
            <p:cNvSpPr/>
            <p:nvPr/>
          </p:nvSpPr>
          <p:spPr>
            <a:xfrm>
              <a:off x="232410" y="136525"/>
              <a:ext cx="526818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实例：闰年判断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BEFFAEB-30BC-4A95-855B-1C087D94C278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B56309E-D366-417D-832E-521DE106A8A2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D415BDE-A1B8-4561-89D4-A0FF6CB2843D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EE46436-893D-490E-A3C4-B94473C1F576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26</a:t>
              </a:fld>
              <a:endParaRPr lang="zh-CN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35D16F4-ED29-4948-AB9C-3AC40580C464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157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矩形 2"/>
          <p:cNvSpPr>
            <a:spLocks noChangeArrowheads="1"/>
          </p:cNvSpPr>
          <p:nvPr/>
        </p:nvSpPr>
        <p:spPr bwMode="auto">
          <a:xfrm>
            <a:off x="1670050" y="1295400"/>
            <a:ext cx="45720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Range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Write a program which reads three integers a, b and c, and prints "Yes" if a&lt;b&lt;c, otherwise "No".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Three integers a, b and c are given in a line.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Print "Yes" or "No" in a line.</a:t>
            </a:r>
          </a:p>
        </p:txBody>
      </p:sp>
      <p:sp>
        <p:nvSpPr>
          <p:cNvPr id="55301" name="矩形 4"/>
          <p:cNvSpPr>
            <a:spLocks noChangeArrowheads="1"/>
          </p:cNvSpPr>
          <p:nvPr/>
        </p:nvSpPr>
        <p:spPr bwMode="auto">
          <a:xfrm>
            <a:off x="7380171" y="1665784"/>
            <a:ext cx="37338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 ≤ a, b, c ≤ 100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1 3 8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Yes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3 8 1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No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1" name="矩形 10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27</a:t>
              </a:fld>
              <a:endParaRPr lang="zh-CN" altLang="en-US" sz="16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标题 1"/>
          <p:cNvSpPr txBox="1"/>
          <p:nvPr/>
        </p:nvSpPr>
        <p:spPr>
          <a:xfrm>
            <a:off x="432844" y="128905"/>
            <a:ext cx="10515600" cy="7078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课堂练习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：大小判断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 rot="5400000">
            <a:off x="-161272" y="355441"/>
            <a:ext cx="707886" cy="219089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矩形 4"/>
          <p:cNvSpPr>
            <a:spLocks noChangeArrowheads="1"/>
          </p:cNvSpPr>
          <p:nvPr/>
        </p:nvSpPr>
        <p:spPr bwMode="auto">
          <a:xfrm>
            <a:off x="6553200" y="1371601"/>
            <a:ext cx="4038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</a:rPr>
              <a:t>1 ≤ the three integers ≤ 10000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Sample Input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</a:rPr>
              <a:t>3 8 1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Sample Output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</a:rPr>
              <a:t>1 3 8</a:t>
            </a: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5" name="矩形 1"/>
          <p:cNvSpPr>
            <a:spLocks noChangeArrowheads="1"/>
          </p:cNvSpPr>
          <p:nvPr/>
        </p:nvSpPr>
        <p:spPr bwMode="auto">
          <a:xfrm>
            <a:off x="1118644" y="1185016"/>
            <a:ext cx="45720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Sorting Three Numbers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Write a program which reads three integers, and prints them in ascending order.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Three integers are given in a line.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Print the given integers in ascending order in a line. Put a single space between two integers.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7" name="矩形 6"/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28</a:t>
              </a:fld>
              <a:endParaRPr lang="zh-CN" altLang="en-US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标题 1"/>
          <p:cNvSpPr txBox="1"/>
          <p:nvPr/>
        </p:nvSpPr>
        <p:spPr>
          <a:xfrm>
            <a:off x="432844" y="128905"/>
            <a:ext cx="10515600" cy="7078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课堂练习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：三个数排序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 rot="5400000">
            <a:off x="-161272" y="355441"/>
            <a:ext cx="707886" cy="219089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9BD0BE49-04C2-4A78-A827-4E5ABEA3D88E}"/>
              </a:ext>
            </a:extLst>
          </p:cNvPr>
          <p:cNvSpPr/>
          <p:nvPr/>
        </p:nvSpPr>
        <p:spPr>
          <a:xfrm>
            <a:off x="457200" y="1234440"/>
            <a:ext cx="5669280" cy="32004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switch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switch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-expression)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value1: statement(s)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         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value2: statement(s)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         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...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valueN: statement(s)N;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           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default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:     statement(s)-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for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-</a:t>
            </a: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default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0A15147-B609-4D21-8450-50D1A4CBBA2A}"/>
              </a:ext>
            </a:extLst>
          </p:cNvPr>
          <p:cNvSpPr txBox="1"/>
          <p:nvPr/>
        </p:nvSpPr>
        <p:spPr>
          <a:xfrm>
            <a:off x="457200" y="4572000"/>
            <a:ext cx="5669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  <a:latin typeface="微软雅黑"/>
                <a:ea typeface="微软雅黑"/>
              </a:rPr>
              <a:t>例：ATM 主菜单（输入 1～4 选择业务）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switch (choice) {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  case 1: /* 查询余额 */ break;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  case 2: /* 存款 */     break;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8E2A2A"/>
                </a:solidFill>
                <a:latin typeface="Consolas"/>
                <a:ea typeface="微软雅黑"/>
              </a:rPr>
              <a:t>  ...  default: cout &lt;&lt; "无效选项"; }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71324927-0EA1-4552-8F89-AC348E0974CE}"/>
              </a:ext>
            </a:extLst>
          </p:cNvPr>
          <p:cNvSpPr txBox="1"/>
          <p:nvPr/>
        </p:nvSpPr>
        <p:spPr>
          <a:xfrm>
            <a:off x="6400800" y="1234440"/>
            <a:ext cx="5486400" cy="46739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">
              <a:lnSpc>
                <a:spcPct val="115000"/>
              </a:lnSpc>
              <a:spcAft>
                <a:spcPts val="600"/>
              </a:spcAft>
            </a:pPr>
            <a:r>
              <a:rPr b="1" i="0" dirty="0">
                <a:solidFill>
                  <a:srgbClr val="1F3A5F"/>
                </a:solidFill>
                <a:latin typeface="微软雅黑"/>
                <a:ea typeface="微软雅黑"/>
              </a:rPr>
              <a:t>switch </a:t>
            </a:r>
            <a:r>
              <a:rPr b="1" i="0" dirty="0" err="1">
                <a:solidFill>
                  <a:srgbClr val="1F3A5F"/>
                </a:solidFill>
                <a:latin typeface="微软雅黑"/>
                <a:ea typeface="微软雅黑"/>
              </a:rPr>
              <a:t>语句规则</a:t>
            </a:r>
            <a:endParaRPr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switch-expression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必须是</a:t>
            </a:r>
            <a:r>
              <a:rPr lang="en-US" dirty="0" err="1">
                <a:solidFill>
                  <a:srgbClr val="262626"/>
                </a:solidFill>
                <a:latin typeface="微软雅黑"/>
                <a:ea typeface="微软雅黑"/>
              </a:rPr>
              <a:t>类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整型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结果（</a:t>
            </a:r>
            <a:r>
              <a:rPr b="0" i="0" dirty="0" err="1">
                <a:solidFill>
                  <a:srgbClr val="8E2A2A"/>
                </a:solidFill>
                <a:latin typeface="Consolas"/>
                <a:ea typeface="微软雅黑"/>
              </a:rPr>
              <a:t>char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b="0" i="0" dirty="0" err="1">
                <a:solidFill>
                  <a:srgbClr val="8E2A2A"/>
                </a:solidFill>
                <a:latin typeface="Consolas"/>
                <a:ea typeface="微软雅黑"/>
              </a:rPr>
              <a:t>short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b="0" i="0" dirty="0" err="1">
                <a:solidFill>
                  <a:srgbClr val="8E2A2A"/>
                </a:solidFill>
                <a:latin typeface="Consolas"/>
                <a:ea typeface="微软雅黑"/>
              </a:rPr>
              <a:t>int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b="0" i="0" dirty="0" err="1">
                <a:solidFill>
                  <a:srgbClr val="8E2A2A"/>
                </a:solidFill>
                <a:latin typeface="Consolas"/>
                <a:ea typeface="微软雅黑"/>
              </a:rPr>
              <a:t>long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），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不能是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8E2A2A"/>
                </a:solidFill>
                <a:latin typeface="Consolas"/>
                <a:ea typeface="微软雅黑"/>
              </a:rPr>
              <a:t>double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b="0" i="0" dirty="0" err="1">
                <a:solidFill>
                  <a:srgbClr val="8E2A2A"/>
                </a:solidFill>
                <a:latin typeface="Consolas"/>
                <a:ea typeface="微软雅黑"/>
              </a:rPr>
              <a:t>float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或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string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value1 … </a:t>
            </a:r>
            <a:r>
              <a:rPr b="0" i="0" dirty="0" err="1">
                <a:solidFill>
                  <a:srgbClr val="8E2A2A"/>
                </a:solidFill>
                <a:latin typeface="Consolas"/>
                <a:ea typeface="微软雅黑"/>
              </a:rPr>
              <a:t>valueN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必须是与表达式同类型的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常量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表达式，不能含变量（如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1 + x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执行时，表达式的值依次与各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case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比较，匹配则从该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case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开始执行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break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可选：遇到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break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跳出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switch；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没有</a:t>
            </a:r>
            <a:r>
              <a:rPr b="1" i="0" dirty="0">
                <a:solidFill>
                  <a:srgbClr val="262626"/>
                </a:solidFill>
                <a:latin typeface="微软雅黑"/>
                <a:ea typeface="微软雅黑"/>
              </a:rPr>
              <a:t> break 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会继续执行下一个</a:t>
            </a:r>
            <a:r>
              <a:rPr b="1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case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（fall-through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default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可选：所有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case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都不匹配时执行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各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case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的顺序无关紧要，但同一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switch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中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case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值不能重复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60189CA-FE14-4C9C-8AC5-0D0026561D20}"/>
              </a:ext>
            </a:extLst>
          </p:cNvPr>
          <p:cNvGrpSpPr/>
          <p:nvPr/>
        </p:nvGrpSpPr>
        <p:grpSpPr>
          <a:xfrm>
            <a:off x="83126" y="111043"/>
            <a:ext cx="4623345" cy="733368"/>
            <a:chOff x="83126" y="111043"/>
            <a:chExt cx="5417473" cy="73336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8E0A97B-C7C9-4358-B73A-5A33FA4F0A58}"/>
                </a:ext>
              </a:extLst>
            </p:cNvPr>
            <p:cNvSpPr/>
            <p:nvPr/>
          </p:nvSpPr>
          <p:spPr>
            <a:xfrm>
              <a:off x="232410" y="136525"/>
              <a:ext cx="526818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switch</a:t>
              </a:r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语句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A7E4183-06ED-4248-804E-D6A6EF8C40C0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08CCE71-5545-46EE-BCF2-FDBA8B52A2BE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E6B424D-E462-491D-90E7-8A03D0ACE815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1381F78-A2E6-4D22-8DFD-8FF28B260838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29</a:t>
              </a:fld>
              <a:endParaRPr lang="zh-CN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3CEA384-91F9-4922-8218-BAAFBDCA30CE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889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ision 7">
            <a:extLst>
              <a:ext uri="{FF2B5EF4-FFF2-40B4-BE49-F238E27FC236}">
                <a16:creationId xmlns:a16="http://schemas.microsoft.com/office/drawing/2014/main" id="{AF3632C3-FBA7-45B6-BEBB-E27387767388}"/>
              </a:ext>
            </a:extLst>
          </p:cNvPr>
          <p:cNvSpPr/>
          <p:nvPr/>
        </p:nvSpPr>
        <p:spPr>
          <a:xfrm>
            <a:off x="548640" y="1280160"/>
            <a:ext cx="2103120" cy="82296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choice == 1</a:t>
            </a:r>
          </a:p>
        </p:txBody>
      </p:sp>
      <p:cxnSp>
        <p:nvCxnSpPr>
          <p:cNvPr id="5" name="Connector 8">
            <a:extLst>
              <a:ext uri="{FF2B5EF4-FFF2-40B4-BE49-F238E27FC236}">
                <a16:creationId xmlns:a16="http://schemas.microsoft.com/office/drawing/2014/main" id="{D3D5FB36-0C90-44ED-AF25-B39F35FAD7A5}"/>
              </a:ext>
            </a:extLst>
          </p:cNvPr>
          <p:cNvCxnSpPr/>
          <p:nvPr/>
        </p:nvCxnSpPr>
        <p:spPr>
          <a:xfrm>
            <a:off x="2651760" y="1691640"/>
            <a:ext cx="73152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9">
            <a:extLst>
              <a:ext uri="{FF2B5EF4-FFF2-40B4-BE49-F238E27FC236}">
                <a16:creationId xmlns:a16="http://schemas.microsoft.com/office/drawing/2014/main" id="{0AF456A0-1063-458D-9F96-F775AEC731ED}"/>
              </a:ext>
            </a:extLst>
          </p:cNvPr>
          <p:cNvSpPr txBox="1"/>
          <p:nvPr/>
        </p:nvSpPr>
        <p:spPr>
          <a:xfrm>
            <a:off x="2743200" y="1371600"/>
            <a:ext cx="555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213F16D-18B2-4798-A0F8-39071D3F2FFF}"/>
              </a:ext>
            </a:extLst>
          </p:cNvPr>
          <p:cNvSpPr/>
          <p:nvPr/>
        </p:nvSpPr>
        <p:spPr>
          <a:xfrm>
            <a:off x="3383280" y="137160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查询余额</a:t>
            </a:r>
          </a:p>
        </p:txBody>
      </p:sp>
      <p:cxnSp>
        <p:nvCxnSpPr>
          <p:cNvPr id="8" name="Connector 11">
            <a:extLst>
              <a:ext uri="{FF2B5EF4-FFF2-40B4-BE49-F238E27FC236}">
                <a16:creationId xmlns:a16="http://schemas.microsoft.com/office/drawing/2014/main" id="{C1657F11-DFAA-4459-BBC8-BA450136A8F9}"/>
              </a:ext>
            </a:extLst>
          </p:cNvPr>
          <p:cNvCxnSpPr/>
          <p:nvPr/>
        </p:nvCxnSpPr>
        <p:spPr>
          <a:xfrm>
            <a:off x="5577840" y="1691640"/>
            <a:ext cx="5486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F3A07611-E716-468C-987A-604A82521076}"/>
              </a:ext>
            </a:extLst>
          </p:cNvPr>
          <p:cNvSpPr txBox="1"/>
          <p:nvPr/>
        </p:nvSpPr>
        <p:spPr>
          <a:xfrm>
            <a:off x="6080760" y="1463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8833A"/>
                </a:solidFill>
                <a:latin typeface="Consolas"/>
                <a:ea typeface="微软雅黑"/>
              </a:rPr>
              <a:t>break</a:t>
            </a:r>
          </a:p>
        </p:txBody>
      </p:sp>
      <p:cxnSp>
        <p:nvCxnSpPr>
          <p:cNvPr id="10" name="Connector 13">
            <a:extLst>
              <a:ext uri="{FF2B5EF4-FFF2-40B4-BE49-F238E27FC236}">
                <a16:creationId xmlns:a16="http://schemas.microsoft.com/office/drawing/2014/main" id="{6C2E2AE1-772D-4FA0-95D6-F097C1CE63ED}"/>
              </a:ext>
            </a:extLst>
          </p:cNvPr>
          <p:cNvCxnSpPr/>
          <p:nvPr/>
        </p:nvCxnSpPr>
        <p:spPr>
          <a:xfrm>
            <a:off x="1600200" y="2103120"/>
            <a:ext cx="0" cy="2743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4">
            <a:extLst>
              <a:ext uri="{FF2B5EF4-FFF2-40B4-BE49-F238E27FC236}">
                <a16:creationId xmlns:a16="http://schemas.microsoft.com/office/drawing/2014/main" id="{EBBE9032-65C6-4381-B44D-8E22C041176A}"/>
              </a:ext>
            </a:extLst>
          </p:cNvPr>
          <p:cNvSpPr txBox="1"/>
          <p:nvPr/>
        </p:nvSpPr>
        <p:spPr>
          <a:xfrm>
            <a:off x="1673352" y="2057400"/>
            <a:ext cx="6062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12" name="Decision 15">
            <a:extLst>
              <a:ext uri="{FF2B5EF4-FFF2-40B4-BE49-F238E27FC236}">
                <a16:creationId xmlns:a16="http://schemas.microsoft.com/office/drawing/2014/main" id="{CD232725-D621-41BE-8822-FDB14544BECD}"/>
              </a:ext>
            </a:extLst>
          </p:cNvPr>
          <p:cNvSpPr/>
          <p:nvPr/>
        </p:nvSpPr>
        <p:spPr>
          <a:xfrm>
            <a:off x="548640" y="2377440"/>
            <a:ext cx="2103120" cy="82296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choice == 2</a:t>
            </a:r>
          </a:p>
        </p:txBody>
      </p:sp>
      <p:cxnSp>
        <p:nvCxnSpPr>
          <p:cNvPr id="13" name="Connector 16">
            <a:extLst>
              <a:ext uri="{FF2B5EF4-FFF2-40B4-BE49-F238E27FC236}">
                <a16:creationId xmlns:a16="http://schemas.microsoft.com/office/drawing/2014/main" id="{34E623FE-6A6A-450D-89E2-1FA9D300D266}"/>
              </a:ext>
            </a:extLst>
          </p:cNvPr>
          <p:cNvCxnSpPr/>
          <p:nvPr/>
        </p:nvCxnSpPr>
        <p:spPr>
          <a:xfrm>
            <a:off x="2651760" y="2788920"/>
            <a:ext cx="73152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7">
            <a:extLst>
              <a:ext uri="{FF2B5EF4-FFF2-40B4-BE49-F238E27FC236}">
                <a16:creationId xmlns:a16="http://schemas.microsoft.com/office/drawing/2014/main" id="{DDDD56CE-7930-48E7-8B3C-1E0743D3E998}"/>
              </a:ext>
            </a:extLst>
          </p:cNvPr>
          <p:cNvSpPr txBox="1"/>
          <p:nvPr/>
        </p:nvSpPr>
        <p:spPr>
          <a:xfrm>
            <a:off x="2743200" y="2468880"/>
            <a:ext cx="555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D365DFDF-4A6D-4A43-AEAB-748F715FAA76}"/>
              </a:ext>
            </a:extLst>
          </p:cNvPr>
          <p:cNvSpPr/>
          <p:nvPr/>
        </p:nvSpPr>
        <p:spPr>
          <a:xfrm>
            <a:off x="3383280" y="246888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存款</a:t>
            </a:r>
          </a:p>
        </p:txBody>
      </p:sp>
      <p:cxnSp>
        <p:nvCxnSpPr>
          <p:cNvPr id="16" name="Connector 19">
            <a:extLst>
              <a:ext uri="{FF2B5EF4-FFF2-40B4-BE49-F238E27FC236}">
                <a16:creationId xmlns:a16="http://schemas.microsoft.com/office/drawing/2014/main" id="{D2A744F8-2BFE-41C4-A9A9-38FBFC35CF22}"/>
              </a:ext>
            </a:extLst>
          </p:cNvPr>
          <p:cNvCxnSpPr/>
          <p:nvPr/>
        </p:nvCxnSpPr>
        <p:spPr>
          <a:xfrm>
            <a:off x="5577840" y="2788920"/>
            <a:ext cx="5486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20">
            <a:extLst>
              <a:ext uri="{FF2B5EF4-FFF2-40B4-BE49-F238E27FC236}">
                <a16:creationId xmlns:a16="http://schemas.microsoft.com/office/drawing/2014/main" id="{FBBAF287-D5A4-42D4-A41B-F65F72654C30}"/>
              </a:ext>
            </a:extLst>
          </p:cNvPr>
          <p:cNvSpPr txBox="1"/>
          <p:nvPr/>
        </p:nvSpPr>
        <p:spPr>
          <a:xfrm>
            <a:off x="6080760" y="2560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8833A"/>
                </a:solidFill>
                <a:latin typeface="Consolas"/>
                <a:ea typeface="微软雅黑"/>
              </a:rPr>
              <a:t>break</a:t>
            </a:r>
          </a:p>
        </p:txBody>
      </p:sp>
      <p:cxnSp>
        <p:nvCxnSpPr>
          <p:cNvPr id="18" name="Connector 21">
            <a:extLst>
              <a:ext uri="{FF2B5EF4-FFF2-40B4-BE49-F238E27FC236}">
                <a16:creationId xmlns:a16="http://schemas.microsoft.com/office/drawing/2014/main" id="{191EF258-1048-4A4C-A68D-0ABB40E6A56B}"/>
              </a:ext>
            </a:extLst>
          </p:cNvPr>
          <p:cNvCxnSpPr/>
          <p:nvPr/>
        </p:nvCxnSpPr>
        <p:spPr>
          <a:xfrm>
            <a:off x="1600200" y="3200400"/>
            <a:ext cx="0" cy="2743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22">
            <a:extLst>
              <a:ext uri="{FF2B5EF4-FFF2-40B4-BE49-F238E27FC236}">
                <a16:creationId xmlns:a16="http://schemas.microsoft.com/office/drawing/2014/main" id="{F07D8465-AE57-4C30-BEEB-0B92E35CC5FF}"/>
              </a:ext>
            </a:extLst>
          </p:cNvPr>
          <p:cNvSpPr txBox="1"/>
          <p:nvPr/>
        </p:nvSpPr>
        <p:spPr>
          <a:xfrm>
            <a:off x="1673352" y="3154680"/>
            <a:ext cx="6062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20" name="Decision 23">
            <a:extLst>
              <a:ext uri="{FF2B5EF4-FFF2-40B4-BE49-F238E27FC236}">
                <a16:creationId xmlns:a16="http://schemas.microsoft.com/office/drawing/2014/main" id="{C828FC38-AEFB-45A4-AFAE-A795B56D1261}"/>
              </a:ext>
            </a:extLst>
          </p:cNvPr>
          <p:cNvSpPr/>
          <p:nvPr/>
        </p:nvSpPr>
        <p:spPr>
          <a:xfrm>
            <a:off x="548640" y="3474720"/>
            <a:ext cx="2103120" cy="82296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choice == 3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A9DA4F3B-8344-4CA7-9AF6-FD827FEF6F58}"/>
              </a:ext>
            </a:extLst>
          </p:cNvPr>
          <p:cNvCxnSpPr/>
          <p:nvPr/>
        </p:nvCxnSpPr>
        <p:spPr>
          <a:xfrm>
            <a:off x="2651760" y="3886200"/>
            <a:ext cx="73152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5">
            <a:extLst>
              <a:ext uri="{FF2B5EF4-FFF2-40B4-BE49-F238E27FC236}">
                <a16:creationId xmlns:a16="http://schemas.microsoft.com/office/drawing/2014/main" id="{5EFE4322-2AA8-4F4F-8F5B-E945397A9226}"/>
              </a:ext>
            </a:extLst>
          </p:cNvPr>
          <p:cNvSpPr txBox="1"/>
          <p:nvPr/>
        </p:nvSpPr>
        <p:spPr>
          <a:xfrm>
            <a:off x="2743200" y="3566160"/>
            <a:ext cx="555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id="{E1D856F3-3B93-4084-820C-387274BEDEB2}"/>
              </a:ext>
            </a:extLst>
          </p:cNvPr>
          <p:cNvSpPr/>
          <p:nvPr/>
        </p:nvSpPr>
        <p:spPr>
          <a:xfrm>
            <a:off x="3383280" y="356616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取款</a:t>
            </a:r>
          </a:p>
        </p:txBody>
      </p:sp>
      <p:cxnSp>
        <p:nvCxnSpPr>
          <p:cNvPr id="24" name="Connector 27">
            <a:extLst>
              <a:ext uri="{FF2B5EF4-FFF2-40B4-BE49-F238E27FC236}">
                <a16:creationId xmlns:a16="http://schemas.microsoft.com/office/drawing/2014/main" id="{08985A5D-857B-4397-A5E3-A0B2B72691C7}"/>
              </a:ext>
            </a:extLst>
          </p:cNvPr>
          <p:cNvCxnSpPr/>
          <p:nvPr/>
        </p:nvCxnSpPr>
        <p:spPr>
          <a:xfrm>
            <a:off x="5577840" y="3886200"/>
            <a:ext cx="5486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8">
            <a:extLst>
              <a:ext uri="{FF2B5EF4-FFF2-40B4-BE49-F238E27FC236}">
                <a16:creationId xmlns:a16="http://schemas.microsoft.com/office/drawing/2014/main" id="{EBCDF5D2-CBC9-4E1E-A4CE-ED76915C24C4}"/>
              </a:ext>
            </a:extLst>
          </p:cNvPr>
          <p:cNvSpPr txBox="1"/>
          <p:nvPr/>
        </p:nvSpPr>
        <p:spPr>
          <a:xfrm>
            <a:off x="6080760" y="3657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8833A"/>
                </a:solidFill>
                <a:latin typeface="Consolas"/>
                <a:ea typeface="微软雅黑"/>
              </a:rPr>
              <a:t>break</a:t>
            </a:r>
          </a:p>
        </p:txBody>
      </p:sp>
      <p:cxnSp>
        <p:nvCxnSpPr>
          <p:cNvPr id="26" name="Connector 29">
            <a:extLst>
              <a:ext uri="{FF2B5EF4-FFF2-40B4-BE49-F238E27FC236}">
                <a16:creationId xmlns:a16="http://schemas.microsoft.com/office/drawing/2014/main" id="{978F1902-9512-4EBD-ABFB-ED668144F107}"/>
              </a:ext>
            </a:extLst>
          </p:cNvPr>
          <p:cNvCxnSpPr/>
          <p:nvPr/>
        </p:nvCxnSpPr>
        <p:spPr>
          <a:xfrm>
            <a:off x="1600200" y="4297680"/>
            <a:ext cx="0" cy="2743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30">
            <a:extLst>
              <a:ext uri="{FF2B5EF4-FFF2-40B4-BE49-F238E27FC236}">
                <a16:creationId xmlns:a16="http://schemas.microsoft.com/office/drawing/2014/main" id="{17947E9D-EEAC-45E3-A1B8-F60EDCCD8E5F}"/>
              </a:ext>
            </a:extLst>
          </p:cNvPr>
          <p:cNvSpPr txBox="1"/>
          <p:nvPr/>
        </p:nvSpPr>
        <p:spPr>
          <a:xfrm>
            <a:off x="1673352" y="4251960"/>
            <a:ext cx="6062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28" name="Decision 31">
            <a:extLst>
              <a:ext uri="{FF2B5EF4-FFF2-40B4-BE49-F238E27FC236}">
                <a16:creationId xmlns:a16="http://schemas.microsoft.com/office/drawing/2014/main" id="{A3E7693F-8A12-4B2C-8745-0083CC607BD6}"/>
              </a:ext>
            </a:extLst>
          </p:cNvPr>
          <p:cNvSpPr/>
          <p:nvPr/>
        </p:nvSpPr>
        <p:spPr>
          <a:xfrm>
            <a:off x="548640" y="4572000"/>
            <a:ext cx="2103120" cy="822960"/>
          </a:xfrm>
          <a:prstGeom prst="flowChartDecision">
            <a:avLst/>
          </a:prstGeom>
          <a:solidFill>
            <a:srgbClr val="F4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微软雅黑"/>
              </a:rPr>
              <a:t>choice == 4</a:t>
            </a:r>
          </a:p>
        </p:txBody>
      </p:sp>
      <p:cxnSp>
        <p:nvCxnSpPr>
          <p:cNvPr id="29" name="Connector 32">
            <a:extLst>
              <a:ext uri="{FF2B5EF4-FFF2-40B4-BE49-F238E27FC236}">
                <a16:creationId xmlns:a16="http://schemas.microsoft.com/office/drawing/2014/main" id="{DA711DFA-B2B4-4325-9C82-58657ABE382B}"/>
              </a:ext>
            </a:extLst>
          </p:cNvPr>
          <p:cNvCxnSpPr/>
          <p:nvPr/>
        </p:nvCxnSpPr>
        <p:spPr>
          <a:xfrm>
            <a:off x="2651760" y="4983480"/>
            <a:ext cx="73152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33">
            <a:extLst>
              <a:ext uri="{FF2B5EF4-FFF2-40B4-BE49-F238E27FC236}">
                <a16:creationId xmlns:a16="http://schemas.microsoft.com/office/drawing/2014/main" id="{81277F52-EDC3-4E82-AD68-343A193475F1}"/>
              </a:ext>
            </a:extLst>
          </p:cNvPr>
          <p:cNvSpPr txBox="1"/>
          <p:nvPr/>
        </p:nvSpPr>
        <p:spPr>
          <a:xfrm>
            <a:off x="2743200" y="4663440"/>
            <a:ext cx="555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1E22AF01-8B95-4266-A14F-7B75D647D8F6}"/>
              </a:ext>
            </a:extLst>
          </p:cNvPr>
          <p:cNvSpPr/>
          <p:nvPr/>
        </p:nvSpPr>
        <p:spPr>
          <a:xfrm>
            <a:off x="3383280" y="466344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转账</a:t>
            </a:r>
          </a:p>
        </p:txBody>
      </p:sp>
      <p:cxnSp>
        <p:nvCxnSpPr>
          <p:cNvPr id="32" name="Connector 35">
            <a:extLst>
              <a:ext uri="{FF2B5EF4-FFF2-40B4-BE49-F238E27FC236}">
                <a16:creationId xmlns:a16="http://schemas.microsoft.com/office/drawing/2014/main" id="{4E1F9B7B-E40A-4602-B866-B53DE1F3654C}"/>
              </a:ext>
            </a:extLst>
          </p:cNvPr>
          <p:cNvCxnSpPr/>
          <p:nvPr/>
        </p:nvCxnSpPr>
        <p:spPr>
          <a:xfrm>
            <a:off x="5577840" y="4983480"/>
            <a:ext cx="54864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6">
            <a:extLst>
              <a:ext uri="{FF2B5EF4-FFF2-40B4-BE49-F238E27FC236}">
                <a16:creationId xmlns:a16="http://schemas.microsoft.com/office/drawing/2014/main" id="{D23E3DAC-99D4-4BB8-9893-C4FE610820C6}"/>
              </a:ext>
            </a:extLst>
          </p:cNvPr>
          <p:cNvSpPr txBox="1"/>
          <p:nvPr/>
        </p:nvSpPr>
        <p:spPr>
          <a:xfrm>
            <a:off x="6080760" y="4754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8833A"/>
                </a:solidFill>
                <a:latin typeface="Consolas"/>
                <a:ea typeface="微软雅黑"/>
              </a:rPr>
              <a:t>break</a:t>
            </a:r>
          </a:p>
        </p:txBody>
      </p:sp>
      <p:cxnSp>
        <p:nvCxnSpPr>
          <p:cNvPr id="34" name="Connector 37">
            <a:extLst>
              <a:ext uri="{FF2B5EF4-FFF2-40B4-BE49-F238E27FC236}">
                <a16:creationId xmlns:a16="http://schemas.microsoft.com/office/drawing/2014/main" id="{1BE458D7-A545-4288-B3FB-93D81D37D65D}"/>
              </a:ext>
            </a:extLst>
          </p:cNvPr>
          <p:cNvCxnSpPr/>
          <p:nvPr/>
        </p:nvCxnSpPr>
        <p:spPr>
          <a:xfrm>
            <a:off x="1600200" y="5394960"/>
            <a:ext cx="0" cy="27432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8">
            <a:extLst>
              <a:ext uri="{FF2B5EF4-FFF2-40B4-BE49-F238E27FC236}">
                <a16:creationId xmlns:a16="http://schemas.microsoft.com/office/drawing/2014/main" id="{E7DF78D1-375E-435A-97DC-F81CD224AFCF}"/>
              </a:ext>
            </a:extLst>
          </p:cNvPr>
          <p:cNvSpPr txBox="1"/>
          <p:nvPr/>
        </p:nvSpPr>
        <p:spPr>
          <a:xfrm>
            <a:off x="1673352" y="5349240"/>
            <a:ext cx="6062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36" name="Rectangle 39">
            <a:extLst>
              <a:ext uri="{FF2B5EF4-FFF2-40B4-BE49-F238E27FC236}">
                <a16:creationId xmlns:a16="http://schemas.microsoft.com/office/drawing/2014/main" id="{644AD2BC-D80F-4CDD-8CA8-5F9D4D20FE9D}"/>
              </a:ext>
            </a:extLst>
          </p:cNvPr>
          <p:cNvSpPr/>
          <p:nvPr/>
        </p:nvSpPr>
        <p:spPr>
          <a:xfrm>
            <a:off x="685800" y="5669280"/>
            <a:ext cx="1828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>
                <a:solidFill>
                  <a:srgbClr val="262626"/>
                </a:solidFill>
                <a:latin typeface="Consolas"/>
                <a:ea typeface="微软雅黑"/>
              </a:rPr>
              <a:t>default: 无效选项</a:t>
            </a: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AF8C63CA-BD4F-4CF2-96BA-B54008CA1AA4}"/>
              </a:ext>
            </a:extLst>
          </p:cNvPr>
          <p:cNvSpPr txBox="1"/>
          <p:nvPr/>
        </p:nvSpPr>
        <p:spPr>
          <a:xfrm>
            <a:off x="6949440" y="11430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C0392B"/>
                </a:solidFill>
                <a:latin typeface="微软雅黑"/>
                <a:ea typeface="微软雅黑"/>
              </a:rPr>
              <a:t>没有 break 会“穿透”到下一个 case</a:t>
            </a:r>
          </a:p>
        </p:txBody>
      </p:sp>
      <p:sp>
        <p:nvSpPr>
          <p:cNvPr id="38" name="Rounded Rectangle 41">
            <a:extLst>
              <a:ext uri="{FF2B5EF4-FFF2-40B4-BE49-F238E27FC236}">
                <a16:creationId xmlns:a16="http://schemas.microsoft.com/office/drawing/2014/main" id="{F6D8BFA1-B2BA-4215-A6B7-93C89FFF8B7D}"/>
              </a:ext>
            </a:extLst>
          </p:cNvPr>
          <p:cNvSpPr/>
          <p:nvPr/>
        </p:nvSpPr>
        <p:spPr>
          <a:xfrm>
            <a:off x="6949440" y="1554480"/>
            <a:ext cx="4846320" cy="23774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day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switch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(day)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"Mon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"Tue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"Wed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default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"Other"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输出：Tue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 Wed Other</a:t>
            </a:r>
          </a:p>
        </p:txBody>
      </p:sp>
      <p:sp>
        <p:nvSpPr>
          <p:cNvPr id="39" name="TextBox 42">
            <a:extLst>
              <a:ext uri="{FF2B5EF4-FFF2-40B4-BE49-F238E27FC236}">
                <a16:creationId xmlns:a16="http://schemas.microsoft.com/office/drawing/2014/main" id="{8F591648-5628-4220-A185-D750CF8C9BD6}"/>
              </a:ext>
            </a:extLst>
          </p:cNvPr>
          <p:cNvSpPr txBox="1"/>
          <p:nvPr/>
        </p:nvSpPr>
        <p:spPr>
          <a:xfrm>
            <a:off x="6949440" y="4023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1" i="0" dirty="0" err="1">
                <a:solidFill>
                  <a:srgbClr val="2E8B57"/>
                </a:solidFill>
                <a:latin typeface="微软雅黑"/>
                <a:ea typeface="微软雅黑"/>
              </a:rPr>
              <a:t>有意利用穿透：多个</a:t>
            </a:r>
            <a:r>
              <a:rPr sz="1600" b="1" i="0" dirty="0">
                <a:solidFill>
                  <a:srgbClr val="2E8B57"/>
                </a:solidFill>
                <a:latin typeface="微软雅黑"/>
                <a:ea typeface="微软雅黑"/>
              </a:rPr>
              <a:t> case </a:t>
            </a:r>
            <a:r>
              <a:rPr sz="1600" b="1" i="0" dirty="0" err="1">
                <a:solidFill>
                  <a:srgbClr val="2E8B57"/>
                </a:solidFill>
                <a:latin typeface="微软雅黑"/>
                <a:ea typeface="微软雅黑"/>
              </a:rPr>
              <a:t>共用一段代码</a:t>
            </a:r>
            <a:endParaRPr sz="1600" b="1" i="0" dirty="0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40" name="Rounded Rectangle 43">
            <a:extLst>
              <a:ext uri="{FF2B5EF4-FFF2-40B4-BE49-F238E27FC236}">
                <a16:creationId xmlns:a16="http://schemas.microsoft.com/office/drawing/2014/main" id="{1996DDFC-5D0D-4A47-B05C-AC3BAB262A59}"/>
              </a:ext>
            </a:extLst>
          </p:cNvPr>
          <p:cNvSpPr/>
          <p:nvPr/>
        </p:nvSpPr>
        <p:spPr>
          <a:xfrm>
            <a:off x="6949440" y="4434840"/>
            <a:ext cx="4846320" cy="19202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switch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ch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'a'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'e'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'</a:t>
            </a:r>
            <a:r>
              <a:rPr sz="1400" b="0" i="0" dirty="0" err="1">
                <a:solidFill>
                  <a:srgbClr val="CE9178"/>
                </a:solidFill>
                <a:latin typeface="Consolas"/>
                <a:ea typeface="微软雅黑"/>
              </a:rPr>
              <a:t>i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'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'o'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'u'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"vowel"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default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"consonant"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714A8DB-89FA-425C-9345-2427CBD24366}"/>
              </a:ext>
            </a:extLst>
          </p:cNvPr>
          <p:cNvGrpSpPr/>
          <p:nvPr/>
        </p:nvGrpSpPr>
        <p:grpSpPr>
          <a:xfrm>
            <a:off x="83126" y="111043"/>
            <a:ext cx="4623345" cy="733368"/>
            <a:chOff x="83126" y="111043"/>
            <a:chExt cx="5417473" cy="733368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BC29130-91E5-46CD-BF74-1CDE1A2ECFF4}"/>
                </a:ext>
              </a:extLst>
            </p:cNvPr>
            <p:cNvSpPr/>
            <p:nvPr/>
          </p:nvSpPr>
          <p:spPr>
            <a:xfrm>
              <a:off x="232410" y="136525"/>
              <a:ext cx="526818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switch</a:t>
              </a:r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语句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D744163-5C16-4C82-AF14-B3EC2B92173F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369185A-A30A-4AAF-A700-2F85F6F13832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B684A29-35CC-47DB-A801-446188A007CD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DFE67A5-F221-4167-BF45-E2B079CC154D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30</a:t>
              </a:fld>
              <a:endParaRPr lang="zh-CN" altLang="en-US" sz="16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D4057CF-0CC5-4379-B4B4-CC265214ED17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3458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883DB04E-4F05-48B8-8476-A5D763138F0D}"/>
              </a:ext>
            </a:extLst>
          </p:cNvPr>
          <p:cNvSpPr/>
          <p:nvPr/>
        </p:nvSpPr>
        <p:spPr>
          <a:xfrm>
            <a:off x="418699" y="824423"/>
            <a:ext cx="6583680" cy="5744082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main()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{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"Enter a year: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year;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&gt;&gt; year;</a:t>
            </a:r>
          </a:p>
          <a:p>
            <a:pPr algn="l">
              <a:lnSpc>
                <a:spcPct val="105000"/>
              </a:lnSpc>
              <a:buNone/>
            </a:pPr>
            <a:r>
              <a:rPr sz="14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lang="en-US" altLang="zh-CN" sz="140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switch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(year %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{</a:t>
            </a:r>
          </a:p>
          <a:p>
            <a:pPr algn="l">
              <a:lnSpc>
                <a:spcPct val="105000"/>
              </a:lnSpc>
              <a:buNone/>
            </a:pPr>
            <a:r>
              <a:rPr sz="14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</a:t>
            </a:r>
            <a:r>
              <a:rPr lang="en-US" altLang="zh-CN"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"monkey"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"rooster"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"dog"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"pig"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"rat"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"ox"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6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"tiger"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7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"rabbit"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8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"dragon"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9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"snake"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"horse"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1" i="0" dirty="0">
                <a:solidFill>
                  <a:srgbClr val="E8833A"/>
                </a:solidFill>
                <a:latin typeface="Consolas"/>
                <a:ea typeface="微软雅黑"/>
              </a:rPr>
              <a:t>▶ 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case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11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: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"sheep"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break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}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}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85AD7EF-D612-47B2-9351-914BD8D53472}"/>
              </a:ext>
            </a:extLst>
          </p:cNvPr>
          <p:cNvSpPr txBox="1"/>
          <p:nvPr/>
        </p:nvSpPr>
        <p:spPr>
          <a:xfrm>
            <a:off x="7315200" y="1234440"/>
            <a:ext cx="4510735" cy="45085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问题：根据年份输出生肖</a:t>
            </a:r>
            <a:endParaRPr sz="16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十二生肖以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12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年为周期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year % 12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的值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0～11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对应：猴、鸡、狗、猪、鼠、牛、虎、兔、龙、蛇、马、羊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运行示例</a:t>
            </a:r>
            <a:endParaRPr sz="16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1963 →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1963 % 12 = 7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→ rabbit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2015 →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2015 % 12 = 11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→ sheep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为什么用</a:t>
            </a:r>
            <a:r>
              <a:rPr sz="1600" b="1" i="0" dirty="0">
                <a:solidFill>
                  <a:srgbClr val="1F3A5F"/>
                </a:solidFill>
                <a:latin typeface="微软雅黑"/>
                <a:ea typeface="微软雅黑"/>
              </a:rPr>
              <a:t> switch </a:t>
            </a:r>
            <a:r>
              <a:rPr sz="16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而非</a:t>
            </a:r>
            <a:r>
              <a:rPr sz="1600" b="1" i="0" dirty="0">
                <a:solidFill>
                  <a:srgbClr val="1F3A5F"/>
                </a:solidFill>
                <a:latin typeface="微软雅黑"/>
                <a:ea typeface="微软雅黑"/>
              </a:rPr>
              <a:t> if-else？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离散的整数值一一对应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→ switch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更清晰、不易写错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12 个 </a:t>
            </a:r>
            <a:r>
              <a:rPr b="0" i="0" dirty="0">
                <a:solidFill>
                  <a:srgbClr val="8E2A2A"/>
                </a:solidFill>
                <a:latin typeface="Consolas"/>
                <a:ea typeface="微软雅黑"/>
              </a:rPr>
              <a:t>else if (year % 12 == k)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显得冗长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3BBEF00-A1B4-4B44-87F2-2037CF8BC79B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3E372BF-A951-41DD-9BE9-0CA342822086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BAA9C80-F749-4F01-BE33-94E38B607C27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31</a:t>
              </a:fld>
              <a:endParaRPr lang="zh-CN" altLang="en-US" sz="16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879D8F-FABB-4F3F-8569-9965AE919125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E8A9D1A-B1E1-4E5D-9F52-9543028E9CDB}"/>
              </a:ext>
            </a:extLst>
          </p:cNvPr>
          <p:cNvGrpSpPr/>
          <p:nvPr/>
        </p:nvGrpSpPr>
        <p:grpSpPr>
          <a:xfrm>
            <a:off x="83126" y="111043"/>
            <a:ext cx="5412239" cy="733368"/>
            <a:chOff x="83126" y="111043"/>
            <a:chExt cx="6341871" cy="73336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F05ADA0-9891-44F1-98AF-340296F3ADFD}"/>
                </a:ext>
              </a:extLst>
            </p:cNvPr>
            <p:cNvSpPr/>
            <p:nvPr/>
          </p:nvSpPr>
          <p:spPr>
            <a:xfrm>
              <a:off x="232410" y="136525"/>
              <a:ext cx="619258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实例：识别生肖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AD3C9B9-7FA9-4F39-B2B4-C97F13EECC61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2770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EE75CF16-BDEA-4758-A32D-BAAB82B30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291935"/>
              </p:ext>
            </p:extLst>
          </p:nvPr>
        </p:nvGraphicFramePr>
        <p:xfrm>
          <a:off x="418699" y="1060909"/>
          <a:ext cx="7109012" cy="473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9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381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比较项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多分支 if-else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switch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381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能判断什么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任意布尔条件：区间、大小、复合条件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只能判断“等于某个整型常量”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381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表达式类型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整型（int、char、short、long），不能是 double / 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381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典型场景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成绩分级、BMI、个税分级、阶梯电价、AQI 等级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菜单选项、月份、星期、生肖、状态码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381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可读性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条件多时层层 else if 略显冗长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离散值一一对应，一目了然</a:t>
                      </a:r>
                      <a:endParaRPr sz="18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381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易错点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条件顺序、边界 &gt; 与 &gt;=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漏写 break 造成穿透；漏写 default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386">
                <a:tc>
                  <a:txBody>
                    <a:bodyPr/>
                    <a:lstStyle/>
                    <a:p>
                      <a:pPr algn="ctr"/>
                      <a:r>
                        <a:rPr sz="1800" b="1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互相转换</a:t>
                      </a:r>
                      <a:endParaRPr sz="1800" b="1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switch 总能改写为 if-else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只有“等值判断”的</a:t>
                      </a:r>
                      <a:r>
                        <a:rPr sz="18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if-else </a:t>
                      </a:r>
                      <a:r>
                        <a:rPr sz="18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才能改写为</a:t>
                      </a:r>
                      <a:r>
                        <a:rPr sz="18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switch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8">
            <a:extLst>
              <a:ext uri="{FF2B5EF4-FFF2-40B4-BE49-F238E27FC236}">
                <a16:creationId xmlns:a16="http://schemas.microsoft.com/office/drawing/2014/main" id="{828EA5C2-AF01-4258-AA32-2784F43491AF}"/>
              </a:ext>
            </a:extLst>
          </p:cNvPr>
          <p:cNvSpPr txBox="1"/>
          <p:nvPr/>
        </p:nvSpPr>
        <p:spPr>
          <a:xfrm>
            <a:off x="7746047" y="1557338"/>
            <a:ext cx="4114800" cy="3531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判断口诀</a:t>
            </a:r>
            <a:endParaRPr sz="20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问“</a:t>
            </a:r>
            <a:r>
              <a:rPr sz="20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它等于几</a:t>
            </a:r>
            <a:r>
              <a:rPr sz="2000" b="1" i="0" dirty="0">
                <a:solidFill>
                  <a:srgbClr val="262626"/>
                </a:solidFill>
                <a:latin typeface="微软雅黑"/>
                <a:ea typeface="微软雅黑"/>
              </a:rPr>
              <a:t>？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” → switch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问“</a:t>
            </a:r>
            <a:r>
              <a:rPr sz="20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它在哪个范围</a:t>
            </a:r>
            <a:r>
              <a:rPr sz="2000" b="1" i="0" dirty="0">
                <a:solidFill>
                  <a:srgbClr val="262626"/>
                </a:solidFill>
                <a:latin typeface="微软雅黑"/>
                <a:ea typeface="微软雅黑"/>
              </a:rPr>
              <a:t>？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” → if-else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回头看</a:t>
            </a:r>
            <a:endParaRPr sz="20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生肖程序按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year % 12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等值判断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→ switch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个税、阶梯电价按区间判断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只能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if-else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AF78180-A255-4B69-BCD6-E6C34A944022}"/>
              </a:ext>
            </a:extLst>
          </p:cNvPr>
          <p:cNvGrpSpPr/>
          <p:nvPr/>
        </p:nvGrpSpPr>
        <p:grpSpPr>
          <a:xfrm>
            <a:off x="83126" y="111043"/>
            <a:ext cx="5412239" cy="733368"/>
            <a:chOff x="83126" y="111043"/>
            <a:chExt cx="6341871" cy="733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E519917-765D-41A1-91AC-D8E269D2BAC5}"/>
                </a:ext>
              </a:extLst>
            </p:cNvPr>
            <p:cNvSpPr/>
            <p:nvPr/>
          </p:nvSpPr>
          <p:spPr>
            <a:xfrm>
              <a:off x="232410" y="136525"/>
              <a:ext cx="619258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用</a:t>
              </a:r>
              <a:r>
                <a:rPr lang="en-US" altLang="zh-CN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if-else</a:t>
              </a:r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还是</a:t>
              </a:r>
              <a:r>
                <a:rPr lang="en-US" altLang="zh-CN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switch</a:t>
              </a:r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？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55AE37E-BF6E-44E9-8E8D-ED1BCB67AEC4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13025F3-0120-4F8D-8CCE-401E33F8E4B6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D186476-C4FE-492B-9657-FA802CCAD5DD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019B810-3EE9-478E-8B7A-AEE42B253BEF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32</a:t>
              </a:fld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843580C-8E90-4C6F-8EF7-9CDB43698BF7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328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324D8DC6-DB6B-4F5C-8343-B9EC9498922A}"/>
              </a:ext>
            </a:extLst>
          </p:cNvPr>
          <p:cNvSpPr txBox="1"/>
          <p:nvPr/>
        </p:nvSpPr>
        <p:spPr>
          <a:xfrm>
            <a:off x="625638" y="1085149"/>
            <a:ext cx="10972800" cy="5076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switch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的表达式可以是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double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类型吗？可以是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string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吗？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case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后面能写变量吗？如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case x + 1: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default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必须放在最后吗？可以省略吗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？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下列代码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x = 2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时输出什么？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x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= 5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时呢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？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switch (x) {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case 1: 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cout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&lt;&lt; "one ";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case 2: 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cout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&lt;&lt; "two ";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case 3: 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cout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&lt;&lt; "three "; break;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 default: </a:t>
            </a:r>
            <a:r>
              <a:rPr sz="2000" b="0" i="0" dirty="0" err="1">
                <a:solidFill>
                  <a:srgbClr val="8E2A2A"/>
                </a:solidFill>
                <a:latin typeface="Consolas"/>
                <a:ea typeface="微软雅黑"/>
              </a:rPr>
              <a:t>cout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 &lt;&lt; "other";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}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把 </a:t>
            </a:r>
            <a:r>
              <a:rPr sz="2000" b="0" i="0" dirty="0">
                <a:solidFill>
                  <a:srgbClr val="8E2A2A"/>
                </a:solidFill>
                <a:latin typeface="Consolas"/>
                <a:ea typeface="微软雅黑"/>
              </a:rPr>
              <a:t>if (a == 1) b = 10; else if (a == 2) b = 20; else b = 0;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改写为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 switch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DD62C97-3791-45F7-9874-1E2A6A2DEDBF}"/>
              </a:ext>
            </a:extLst>
          </p:cNvPr>
          <p:cNvGrpSpPr/>
          <p:nvPr/>
        </p:nvGrpSpPr>
        <p:grpSpPr>
          <a:xfrm>
            <a:off x="83126" y="111043"/>
            <a:ext cx="5412239" cy="733368"/>
            <a:chOff x="83126" y="111043"/>
            <a:chExt cx="6341871" cy="73336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3ACFD6C-EEB4-4F06-954A-5B2BAD5D9A95}"/>
                </a:ext>
              </a:extLst>
            </p:cNvPr>
            <p:cNvSpPr/>
            <p:nvPr/>
          </p:nvSpPr>
          <p:spPr>
            <a:xfrm>
              <a:off x="232410" y="136525"/>
              <a:ext cx="619258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思考与练习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A11C08C-FAA9-41D5-832F-09182F3B6AB9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CC379AC-3077-4A6A-96B8-DE883237E131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46D89F5-0348-42B9-B687-91594904ADCA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D8D1AEC-D081-404F-A2C3-E759EE71703B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33</a:t>
              </a:fld>
              <a:endParaRPr lang="zh-CN" altLang="en-US" sz="16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D274B23-33DC-4368-BA96-C9000D5D1CE3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0328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4E43C0EA-D809-407A-8215-CC73B8AA3A7C}"/>
              </a:ext>
            </a:extLst>
          </p:cNvPr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1" i="0" dirty="0">
                <a:solidFill>
                  <a:srgbClr val="1F3A5F"/>
                </a:solidFill>
                <a:latin typeface="微软雅黑"/>
                <a:ea typeface="微软雅黑"/>
              </a:rPr>
              <a:t>用 if-else 写</a:t>
            </a:r>
            <a:r>
              <a:rPr lang="zh-CN" altLang="en-US" sz="1600" b="1" i="0" dirty="0">
                <a:solidFill>
                  <a:srgbClr val="FF0000"/>
                </a:solidFill>
                <a:latin typeface="微软雅黑"/>
                <a:ea typeface="微软雅黑"/>
              </a:rPr>
              <a:t>（双分支）</a:t>
            </a:r>
            <a:endParaRPr sz="1600" b="1" i="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B7C7BFE4-C051-429B-A0D4-1FAFACBBAEBD}"/>
              </a:ext>
            </a:extLst>
          </p:cNvPr>
          <p:cNvSpPr/>
          <p:nvPr/>
        </p:nvSpPr>
        <p:spPr>
          <a:xfrm>
            <a:off x="45720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(x &gt;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y 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y = -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endParaRPr sz="1500" b="0" i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(num %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==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cout &lt;&lt; num &lt;&lt;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" is even"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cout &lt;&lt; num &lt;&lt;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" is odd"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endParaRPr sz="1500" b="0" i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(num1 &gt; num2)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max = num1;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 max = num2;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42211DB6-210A-4ED4-ADD4-B5DCECB84A94}"/>
              </a:ext>
            </a:extLst>
          </p:cNvPr>
          <p:cNvSpPr txBox="1"/>
          <p:nvPr/>
        </p:nvSpPr>
        <p:spPr>
          <a:xfrm>
            <a:off x="621792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1F3A5F"/>
                </a:solidFill>
                <a:latin typeface="微软雅黑"/>
                <a:ea typeface="微软雅黑"/>
              </a:rPr>
              <a:t>用条件表达式写（等价）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8B7774E4-00A8-4AB2-9F85-F40B1598D000}"/>
              </a:ext>
            </a:extLst>
          </p:cNvPr>
          <p:cNvSpPr/>
          <p:nvPr/>
        </p:nvSpPr>
        <p:spPr>
          <a:xfrm>
            <a:off x="621792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y = (x &gt;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 ?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: -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endParaRPr sz="1500" b="0" i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500" b="0" i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cout &lt;&lt; ((num %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== </a:t>
            </a:r>
            <a:r>
              <a:rPr sz="1500" b="0" i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 ?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"even"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 : </a:t>
            </a:r>
            <a:r>
              <a:rPr sz="1500" b="0" i="0">
                <a:solidFill>
                  <a:srgbClr val="CE9178"/>
                </a:solidFill>
                <a:latin typeface="Consolas"/>
                <a:ea typeface="微软雅黑"/>
              </a:rPr>
              <a:t>"odd"</a:t>
            </a: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);</a:t>
            </a:r>
          </a:p>
          <a:p>
            <a:pPr algn="l">
              <a:lnSpc>
                <a:spcPct val="105000"/>
              </a:lnSpc>
              <a:buNone/>
            </a:pPr>
            <a:endParaRPr sz="1500" b="0" i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500" b="0" i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500" b="0" i="0">
                <a:solidFill>
                  <a:srgbClr val="D4D4D4"/>
                </a:solidFill>
                <a:latin typeface="Consolas"/>
                <a:ea typeface="微软雅黑"/>
              </a:rPr>
              <a:t>max = (num1 &gt; num2) ? num1 : num2;</a:t>
            </a:r>
          </a:p>
          <a:p>
            <a:pPr algn="l">
              <a:lnSpc>
                <a:spcPct val="105000"/>
              </a:lnSpc>
              <a:buNone/>
            </a:pPr>
            <a:endParaRPr sz="1500" b="0" i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500" b="0" i="1">
                <a:solidFill>
                  <a:srgbClr val="6A9955"/>
                </a:solidFill>
                <a:latin typeface="Consolas"/>
                <a:ea typeface="微软雅黑"/>
              </a:rPr>
              <a:t>// 语法：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1">
                <a:solidFill>
                  <a:srgbClr val="6A9955"/>
                </a:solidFill>
                <a:latin typeface="Consolas"/>
                <a:ea typeface="微软雅黑"/>
              </a:rPr>
              <a:t>// boolean-expression ? expression1 : expression2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i="1">
                <a:solidFill>
                  <a:srgbClr val="6A9955"/>
                </a:solidFill>
                <a:latin typeface="Consolas"/>
                <a:ea typeface="微软雅黑"/>
              </a:rPr>
              <a:t>// 条件为 true 取 expression1，否则取 expression2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FDA37EB3-3A4B-4452-A6B9-BCE008AF5729}"/>
              </a:ext>
            </a:extLst>
          </p:cNvPr>
          <p:cNvSpPr/>
          <p:nvPr/>
        </p:nvSpPr>
        <p:spPr>
          <a:xfrm>
            <a:off x="457200" y="5760720"/>
            <a:ext cx="11292840" cy="64008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buNone/>
            </a:pPr>
            <a:r>
              <a:rPr sz="1600" b="0" i="0" dirty="0">
                <a:solidFill>
                  <a:srgbClr val="FF0000"/>
                </a:solidFill>
                <a:latin typeface="微软雅黑"/>
                <a:ea typeface="微软雅黑"/>
              </a:rPr>
              <a:t>?: 是唯一的三元运算符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；表达式1、表达式2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类型应一致；在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cout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中使用时外面要加括号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（&lt;&lt; 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优先级高于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?:）。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EC55845-229D-4340-8817-35DF765CBA93}"/>
              </a:ext>
            </a:extLst>
          </p:cNvPr>
          <p:cNvGrpSpPr/>
          <p:nvPr/>
        </p:nvGrpSpPr>
        <p:grpSpPr>
          <a:xfrm>
            <a:off x="83126" y="111043"/>
            <a:ext cx="6864521" cy="733368"/>
            <a:chOff x="83126" y="111043"/>
            <a:chExt cx="8043604" cy="7333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0C38831-B179-410C-990E-BA9AEA8E748D}"/>
                </a:ext>
              </a:extLst>
            </p:cNvPr>
            <p:cNvSpPr/>
            <p:nvPr/>
          </p:nvSpPr>
          <p:spPr>
            <a:xfrm>
              <a:off x="232410" y="136525"/>
              <a:ext cx="789432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条件表达式（</a:t>
              </a:r>
              <a:r>
                <a:rPr lang="en-US" altLang="zh-CN" sz="400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?:</a:t>
              </a:r>
              <a:r>
                <a:rPr lang="en-US" altLang="zh-CN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运算符）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68A2691-FC4E-41AB-B231-1CEFDC6DBC58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AD09A7-E6F5-4FFA-B644-7306D0F79EA1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933D2CF-8D23-4020-B874-A50D004CB4F3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BC03D8D-400F-4CEE-99ED-642B9F69CC1F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34</a:t>
              </a:fld>
              <a:endParaRPr lang="zh-CN" altLang="en-US" sz="1600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5072B94-99E0-40AA-973C-5E22142BD4B7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97730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633D38CF-F9A8-418F-A9AB-B6ECA422A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749995"/>
              </p:ext>
            </p:extLst>
          </p:nvPr>
        </p:nvGraphicFramePr>
        <p:xfrm>
          <a:off x="396240" y="905628"/>
          <a:ext cx="6949440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运算符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结合律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var++  var--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后缀自增、自减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+  -  ++var  --var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一元正负、前缀自增、自减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右→左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static_cast&lt;type&gt;(v)  (type)v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类型转换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右→左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逻辑非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右→左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*  /  %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乘、除、求余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左→右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+  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加、减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左→右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&lt;  &lt;=  &gt;  &gt;=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关系比较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左→右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==  !=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相等、不等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左→右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&amp;&amp;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逻辑与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左→右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||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逻辑或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左→右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=  +=  -=  *=  /=  %=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赋值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右→左</a:t>
                      </a:r>
                      <a:endParaRPr sz="16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8">
            <a:extLst>
              <a:ext uri="{FF2B5EF4-FFF2-40B4-BE49-F238E27FC236}">
                <a16:creationId xmlns:a16="http://schemas.microsoft.com/office/drawing/2014/main" id="{9D54B3CC-7DC9-4EBD-8FB4-37B2024D43EF}"/>
              </a:ext>
            </a:extLst>
          </p:cNvPr>
          <p:cNvSpPr txBox="1"/>
          <p:nvPr/>
        </p:nvSpPr>
        <p:spPr>
          <a:xfrm>
            <a:off x="7680960" y="1280160"/>
            <a:ext cx="4114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括号内的表达式</a:t>
            </a:r>
            <a:r>
              <a:rPr sz="17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最先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计算，可嵌套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同一表达式中按</a:t>
            </a:r>
            <a:r>
              <a:rPr sz="17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优先级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从高到低运算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优先级相同的运算符按</a:t>
            </a:r>
            <a:r>
              <a:rPr sz="17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结合律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：除赋值运算符外，所有二元运算符</a:t>
            </a:r>
            <a:r>
              <a:rPr sz="17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左结合</a:t>
            </a:r>
            <a:endParaRPr sz="1700" b="1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a - b + c - d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≡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((a - b) + c) - d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a = b += c = 5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≡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a = (b += (c = 5))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关系运算符优先级高于逻辑运算符，所以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x &gt; 1 &amp;&amp; x &lt; 10</a:t>
            </a:r>
            <a:r>
              <a:rPr sz="17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无需括号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不确定时加括号</a:t>
            </a:r>
            <a:r>
              <a:rPr sz="17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，既保证正确又提高可读性</a:t>
            </a:r>
            <a:endParaRPr sz="17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1A0EC18-6DA5-48FA-A0A2-1B9D3A588817}"/>
              </a:ext>
            </a:extLst>
          </p:cNvPr>
          <p:cNvGrpSpPr/>
          <p:nvPr/>
        </p:nvGrpSpPr>
        <p:grpSpPr>
          <a:xfrm>
            <a:off x="83126" y="111043"/>
            <a:ext cx="6864521" cy="733368"/>
            <a:chOff x="83126" y="111043"/>
            <a:chExt cx="8043604" cy="733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B00C9B6-FE51-46BE-A78A-6B63A1B48768}"/>
                </a:ext>
              </a:extLst>
            </p:cNvPr>
            <p:cNvSpPr/>
            <p:nvPr/>
          </p:nvSpPr>
          <p:spPr>
            <a:xfrm>
              <a:off x="232410" y="136525"/>
              <a:ext cx="789432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运算符优先级和结合律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3554485-2AC3-4584-B6DF-9FAE729D285D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54205A5-7D7A-434C-99E6-BA3DFBAB5EAE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2558C6C-0407-4A7E-8A70-BA6720686F46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EAE120E-487B-4B7C-B76A-CB1F7C908D31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35</a:t>
              </a:fld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827F50E-0E59-4975-A789-7B4A91A31AEA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1860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1A0EC18-6DA5-48FA-A0A2-1B9D3A588817}"/>
              </a:ext>
            </a:extLst>
          </p:cNvPr>
          <p:cNvGrpSpPr/>
          <p:nvPr/>
        </p:nvGrpSpPr>
        <p:grpSpPr>
          <a:xfrm>
            <a:off x="83126" y="111043"/>
            <a:ext cx="6864521" cy="733368"/>
            <a:chOff x="83126" y="111043"/>
            <a:chExt cx="8043604" cy="733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B00C9B6-FE51-46BE-A78A-6B63A1B48768}"/>
                </a:ext>
              </a:extLst>
            </p:cNvPr>
            <p:cNvSpPr/>
            <p:nvPr/>
          </p:nvSpPr>
          <p:spPr>
            <a:xfrm>
              <a:off x="232410" y="136525"/>
              <a:ext cx="789432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运算符优先级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3554485-2AC3-4584-B6DF-9FAE729D285D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54205A5-7D7A-434C-99E6-BA3DFBAB5EAE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2558C6C-0407-4A7E-8A70-BA6720686F46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EAE120E-487B-4B7C-B76A-CB1F7C908D31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36</a:t>
              </a:fld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827F50E-0E59-4975-A789-7B4A91A31AEA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4" name="图片 4">
            <a:extLst>
              <a:ext uri="{FF2B5EF4-FFF2-40B4-BE49-F238E27FC236}">
                <a16:creationId xmlns:a16="http://schemas.microsoft.com/office/drawing/2014/main" id="{3EA72AE5-8F0D-4BD5-9F95-A1E6608C1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022882"/>
            <a:ext cx="69342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">
            <a:extLst>
              <a:ext uri="{FF2B5EF4-FFF2-40B4-BE49-F238E27FC236}">
                <a16:creationId xmlns:a16="http://schemas.microsoft.com/office/drawing/2014/main" id="{4BF92792-6CEC-427B-A383-AD38573D5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956332"/>
            <a:ext cx="7315200" cy="914400"/>
          </a:xfrm>
          <a:prstGeom prst="rect">
            <a:avLst/>
          </a:prstGeom>
          <a:noFill/>
          <a:ln w="38100" algn="ctr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 sz="1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6F94FA-A97E-4812-9EF6-843B50ECBBDC}"/>
              </a:ext>
            </a:extLst>
          </p:cNvPr>
          <p:cNvSpPr/>
          <p:nvPr/>
        </p:nvSpPr>
        <p:spPr bwMode="auto">
          <a:xfrm>
            <a:off x="2319338" y="2946932"/>
            <a:ext cx="7315200" cy="609600"/>
          </a:xfrm>
          <a:prstGeom prst="rect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7" name="矩形 7">
            <a:extLst>
              <a:ext uri="{FF2B5EF4-FFF2-40B4-BE49-F238E27FC236}">
                <a16:creationId xmlns:a16="http://schemas.microsoft.com/office/drawing/2014/main" id="{C8549D61-ECD5-421D-BF94-A543157E9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3642257"/>
            <a:ext cx="7315200" cy="914400"/>
          </a:xfrm>
          <a:prstGeom prst="rect">
            <a:avLst/>
          </a:prstGeom>
          <a:noFill/>
          <a:ln w="38100" algn="ctr">
            <a:solidFill>
              <a:srgbClr val="92D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 sz="1800"/>
          </a:p>
        </p:txBody>
      </p:sp>
      <p:sp>
        <p:nvSpPr>
          <p:cNvPr id="18" name="矩形 8">
            <a:extLst>
              <a:ext uri="{FF2B5EF4-FFF2-40B4-BE49-F238E27FC236}">
                <a16:creationId xmlns:a16="http://schemas.microsoft.com/office/drawing/2014/main" id="{467B6AD4-B104-42AB-A949-DCA17E72B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338" y="4637620"/>
            <a:ext cx="7315200" cy="609600"/>
          </a:xfrm>
          <a:prstGeom prst="rect">
            <a:avLst/>
          </a:prstGeom>
          <a:noFill/>
          <a:ln w="38100" algn="ctr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411775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803CDA3E-516D-4BE5-A156-8D6F95D3001F}"/>
              </a:ext>
            </a:extLst>
          </p:cNvPr>
          <p:cNvSpPr/>
          <p:nvPr/>
        </p:nvSpPr>
        <p:spPr>
          <a:xfrm>
            <a:off x="331437" y="1052777"/>
            <a:ext cx="7348888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+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*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* </a:t>
            </a: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(4 + 3)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&amp;&amp; (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endParaRPr sz="16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+ </a:t>
            </a: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4 * 4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*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7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&amp;&amp; (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(1)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括号内加法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+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16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5 * 7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&amp;&amp; (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(2)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乘法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3 + 16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35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&amp;&amp; (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(3)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乘法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19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35 - 1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&amp;&amp; (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-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5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   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(4)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加法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19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34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&amp;&amp; </a:t>
            </a: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(4 - 3 &gt; 5)       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(5)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减法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19 &gt; 34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&amp;&amp; </a:t>
            </a: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(1 &gt; 5)           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(6)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括号内减法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false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&amp;&amp; </a:t>
            </a: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(1 &gt; 5)             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(7)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大于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FF0000"/>
                </a:solidFill>
                <a:latin typeface="Consolas"/>
                <a:ea typeface="微软雅黑"/>
              </a:rPr>
              <a:t>false 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&amp;&amp;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false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       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(8)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大于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false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                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(9)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逻辑与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E27B529-1681-4965-B693-220CA4C34AC2}"/>
              </a:ext>
            </a:extLst>
          </p:cNvPr>
          <p:cNvSpPr txBox="1"/>
          <p:nvPr/>
        </p:nvSpPr>
        <p:spPr>
          <a:xfrm>
            <a:off x="7680960" y="1234440"/>
            <a:ext cx="4144975" cy="29012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先算括号内，再按优先级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*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+ -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&gt;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&amp;&amp;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实际上，由于</a:t>
            </a:r>
            <a:r>
              <a:rPr b="1" i="0" dirty="0" err="1">
                <a:solidFill>
                  <a:srgbClr val="FF0000"/>
                </a:solidFill>
                <a:latin typeface="微软雅黑"/>
                <a:ea typeface="微软雅黑"/>
              </a:rPr>
              <a:t>短路求值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，第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(7)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步得到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false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后，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&amp;&amp;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右侧不再计算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1" i="0" dirty="0" err="1">
                <a:solidFill>
                  <a:srgbClr val="1F3A5F"/>
                </a:solidFill>
                <a:latin typeface="微软雅黑"/>
                <a:ea typeface="微软雅黑"/>
              </a:rPr>
              <a:t>课堂练习：写出下列表达式的值</a:t>
            </a:r>
            <a:endParaRPr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2 * 3 + 4 &gt; 10 || 5 % 2 == 1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!(3 &gt; 2) &amp;&amp; 4 &lt; 5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10 - 2 - 3 * 2 &gt;= 2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50DFB62-4D76-4401-ADCD-DA4244AEB17C}"/>
              </a:ext>
            </a:extLst>
          </p:cNvPr>
          <p:cNvGrpSpPr/>
          <p:nvPr/>
        </p:nvGrpSpPr>
        <p:grpSpPr>
          <a:xfrm>
            <a:off x="83126" y="111043"/>
            <a:ext cx="6864521" cy="733368"/>
            <a:chOff x="83126" y="111043"/>
            <a:chExt cx="8043604" cy="733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ED38B2D-A286-476A-87AA-925B680F4E26}"/>
                </a:ext>
              </a:extLst>
            </p:cNvPr>
            <p:cNvSpPr/>
            <p:nvPr/>
          </p:nvSpPr>
          <p:spPr>
            <a:xfrm>
              <a:off x="232410" y="136525"/>
              <a:ext cx="789432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逐步求值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1DDBF6B-5FE1-4EF1-AF9E-E27724E74DAC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1C7DF2-D0EC-4A8A-9370-8826AA2945A4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C024F8-0329-4861-AAEB-A439BB40EF50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CA744BA-B0AB-46E5-9424-7909985CFA7B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37</a:t>
              </a:fld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5545DCE-6684-4957-94AA-93AD270D3BCA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9404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4D55645-E31B-444F-A07D-62C059E40AEB}"/>
              </a:ext>
            </a:extLst>
          </p:cNvPr>
          <p:cNvGrpSpPr/>
          <p:nvPr/>
        </p:nvGrpSpPr>
        <p:grpSpPr>
          <a:xfrm>
            <a:off x="83126" y="111043"/>
            <a:ext cx="6864521" cy="733368"/>
            <a:chOff x="83126" y="111043"/>
            <a:chExt cx="8043604" cy="7333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DA326AA-09E3-443F-8353-C38E011A070D}"/>
                </a:ext>
              </a:extLst>
            </p:cNvPr>
            <p:cNvSpPr/>
            <p:nvPr/>
          </p:nvSpPr>
          <p:spPr>
            <a:xfrm>
              <a:off x="232410" y="136525"/>
              <a:ext cx="789432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课堂练习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0C152D7-BE72-4442-BC44-99322B7F6D8E}"/>
                </a:ext>
              </a:extLst>
            </p:cNvPr>
            <p:cNvSpPr/>
            <p:nvPr/>
          </p:nvSpPr>
          <p:spPr>
            <a:xfrm rot="5400000">
              <a:off x="-196175" y="390344"/>
              <a:ext cx="707886" cy="149283"/>
            </a:xfrm>
            <a:prstGeom prst="rect">
              <a:avLst/>
            </a:prstGeom>
            <a:solidFill>
              <a:srgbClr val="005D9D"/>
            </a:solidFill>
            <a:ln>
              <a:solidFill>
                <a:srgbClr val="005D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E21ADD0-C971-47F5-BE27-95C9EA767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820584"/>
              </p:ext>
            </p:extLst>
          </p:nvPr>
        </p:nvGraphicFramePr>
        <p:xfrm>
          <a:off x="851647" y="1917165"/>
          <a:ext cx="9932862" cy="1943100"/>
        </p:xfrm>
        <a:graphic>
          <a:graphicData uri="http://schemas.openxmlformats.org/drawingml/2006/table">
            <a:tbl>
              <a:tblPr/>
              <a:tblGrid>
                <a:gridCol w="3310954">
                  <a:extLst>
                    <a:ext uri="{9D8B030D-6E8A-4147-A177-3AD203B41FA5}">
                      <a16:colId xmlns:a16="http://schemas.microsoft.com/office/drawing/2014/main" val="1796495512"/>
                    </a:ext>
                  </a:extLst>
                </a:gridCol>
                <a:gridCol w="3310954">
                  <a:extLst>
                    <a:ext uri="{9D8B030D-6E8A-4147-A177-3AD203B41FA5}">
                      <a16:colId xmlns:a16="http://schemas.microsoft.com/office/drawing/2014/main" val="3439536937"/>
                    </a:ext>
                  </a:extLst>
                </a:gridCol>
                <a:gridCol w="3310954">
                  <a:extLst>
                    <a:ext uri="{9D8B030D-6E8A-4147-A177-3AD203B41FA5}">
                      <a16:colId xmlns:a16="http://schemas.microsoft.com/office/drawing/2014/main" val="3908347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solidFill>
                            <a:srgbClr val="2E333D"/>
                          </a:solidFill>
                          <a:effectLst/>
                        </a:rPr>
                        <a:t>学生类型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solidFill>
                            <a:srgbClr val="2E333D"/>
                          </a:solidFill>
                          <a:effectLst/>
                        </a:rPr>
                        <a:t>代表群体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 dirty="0">
                          <a:solidFill>
                            <a:srgbClr val="2E333D"/>
                          </a:solidFill>
                          <a:effectLst/>
                        </a:rPr>
                        <a:t>欢迎信息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7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</a:rPr>
                        <a:t>新入学本科生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</a:rPr>
                        <a:t>欢迎本科新生入学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371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</a:rPr>
                        <a:t>在读本科生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</a:rPr>
                        <a:t>欢迎回校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48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>
                          <a:effectLst/>
                        </a:rPr>
                        <a:t>3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</a:rPr>
                        <a:t>新入学研究生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</a:rPr>
                        <a:t>欢迎研究生新生入学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27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dirty="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</a:rPr>
                        <a:t>在读研究生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dirty="0">
                          <a:effectLst/>
                        </a:rPr>
                        <a:t>欢迎回校</a:t>
                      </a: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36424"/>
                  </a:ext>
                </a:extLst>
              </a:tr>
            </a:tbl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D1229AA5-5C59-46BA-9BE9-6F1803A1F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2354" y="2827338"/>
            <a:ext cx="12192000" cy="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238284876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  <a:t>报到欢迎信息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FF6700"/>
                </a:solidFill>
                <a:effectLst/>
                <a:latin typeface="Arial" panose="020B0604020202020204" pitchFamily="34" charset="0"/>
                <a:ea typeface="Helvetica Neue"/>
              </a:rPr>
              <a:t>1</a:t>
            </a: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4DBC96"/>
                </a:solidFill>
                <a:effectLst/>
                <a:latin typeface="Arial" panose="020B0604020202020204" pitchFamily="34" charset="0"/>
                <a:ea typeface="Helvetica Neue"/>
              </a:rPr>
              <a:t>4</a:t>
            </a:r>
            <a:endParaRPr kumimoji="0" lang="zh-CN" altLang="zh-CN" sz="15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5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</a:br>
            <a:endParaRPr kumimoji="0" lang="zh-CN" altLang="zh-CN" sz="15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Helvetica Neue"/>
              </a:rPr>
              <a:t>分支结构</a:t>
            </a:r>
            <a:endParaRPr kumimoji="0" lang="zh-CN" altLang="zh-CN" sz="15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  <a:t>时间限制：C/C++ 1000MS，其他语言 2000MS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  <a:t>内存限制：C/C++ 128MB，其他语言 256MB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  <a:t>难度：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Helvetica Neue"/>
              </a:rPr>
              <a:t>语法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  <a:t>出题人：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495060"/>
                </a:solidFill>
                <a:effectLst/>
                <a:latin typeface="Arial" panose="020B0604020202020204" pitchFamily="34" charset="0"/>
                <a:ea typeface="Helvetica Neue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3091F2"/>
                </a:solidFill>
                <a:effectLst/>
                <a:latin typeface="Arial" panose="020B0604020202020204" pitchFamily="34" charset="0"/>
                <a:ea typeface="Helvetica Neue"/>
              </a:rPr>
              <a:t>题目描述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Arial" panose="020B0604020202020204" pitchFamily="34" charset="0"/>
                <a:ea typeface="-apple-system"/>
              </a:rPr>
              <a:t>校实施无纸化办公，需要设计一个显示程序用于开学报到。要求根据输入的学生类型，输出如下对应的欢迎信息：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3091F2"/>
                </a:solidFill>
                <a:effectLst/>
                <a:latin typeface="Arial" panose="020B0604020202020204" pitchFamily="34" charset="0"/>
                <a:ea typeface="Helvetica Neue"/>
              </a:rPr>
              <a:t>输入描述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Arial" panose="020B0604020202020204" pitchFamily="34" charset="0"/>
                <a:ea typeface="-apple-system"/>
              </a:rPr>
              <a:t>输入一个数字代表学生类型。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3091F2"/>
                </a:solidFill>
                <a:effectLst/>
                <a:latin typeface="Arial" panose="020B0604020202020204" pitchFamily="34" charset="0"/>
                <a:ea typeface="Helvetica Neue"/>
              </a:rPr>
              <a:t>输出描述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Arial" panose="020B0604020202020204" pitchFamily="34" charset="0"/>
                <a:ea typeface="-apple-system"/>
              </a:rPr>
              <a:t>输出欢迎信息。为了避免编码问题，只需要输出拼音即可。即分别输出: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Arial" panose="020B0604020202020204" pitchFamily="34" charset="0"/>
                <a:ea typeface="-apple-system"/>
              </a:rPr>
              <a:t>“huan ying ben ke xin sheng ru xue”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Arial" panose="020B0604020202020204" pitchFamily="34" charset="0"/>
                <a:ea typeface="-apple-system"/>
              </a:rPr>
              <a:t>“huan ying hui xiao”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Arial" panose="020B0604020202020204" pitchFamily="34" charset="0"/>
                <a:ea typeface="-apple-system"/>
              </a:rPr>
              <a:t>“huan ying yan jiu sheng xin sheng ru xue”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24292E"/>
                </a:solidFill>
                <a:effectLst/>
                <a:latin typeface="Arial" panose="020B0604020202020204" pitchFamily="34" charset="0"/>
                <a:ea typeface="-apple-system"/>
              </a:rPr>
              <a:t>“huan ying hui xiao”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3091F2"/>
                </a:solidFill>
                <a:effectLst/>
                <a:latin typeface="Arial" panose="020B0604020202020204" pitchFamily="34" charset="0"/>
                <a:ea typeface="Helvetica Neue"/>
              </a:rPr>
              <a:t>样例输入 1 </a:t>
            </a:r>
            <a:endParaRPr kumimoji="0" lang="zh-CN" altLang="zh-CN" sz="11000" b="0" i="0" u="none" strike="noStrike" cap="none" normalizeH="0" baseline="0">
              <a:ln>
                <a:noFill/>
              </a:ln>
              <a:solidFill>
                <a:srgbClr val="404654"/>
              </a:solidFill>
              <a:effectLst/>
              <a:latin typeface="Consolas" panose="020B0609020204030204" pitchFamily="49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0" b="0" i="0" u="none" strike="noStrike" cap="none" normalizeH="0" baseline="0">
                <a:ln>
                  <a:noFill/>
                </a:ln>
                <a:solidFill>
                  <a:srgbClr val="404654"/>
                </a:solidFill>
                <a:effectLst/>
                <a:latin typeface="Consolas" panose="020B0609020204030204" pitchFamily="49" charset="0"/>
                <a:ea typeface="Helvetica Neue"/>
              </a:rPr>
              <a:t>1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495060"/>
              </a:solidFill>
              <a:effectLst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3091F2"/>
                </a:solidFill>
                <a:effectLst/>
                <a:latin typeface="Arial" panose="020B0604020202020204" pitchFamily="34" charset="0"/>
                <a:ea typeface="Helvetica Neue"/>
              </a:rPr>
              <a:t>样例输出 1 </a:t>
            </a:r>
            <a:endParaRPr kumimoji="0" lang="zh-CN" altLang="zh-CN" sz="11000" b="0" i="0" u="none" strike="noStrike" cap="none" normalizeH="0" baseline="0">
              <a:ln>
                <a:noFill/>
              </a:ln>
              <a:solidFill>
                <a:srgbClr val="404654"/>
              </a:solidFill>
              <a:effectLst/>
              <a:latin typeface="Consolas" panose="020B0609020204030204" pitchFamily="49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0" b="0" i="0" u="none" strike="noStrike" cap="none" normalizeH="0" baseline="0">
                <a:ln>
                  <a:noFill/>
                </a:ln>
                <a:solidFill>
                  <a:srgbClr val="404654"/>
                </a:solidFill>
                <a:effectLst/>
                <a:latin typeface="Consolas" panose="020B0609020204030204" pitchFamily="49" charset="0"/>
                <a:ea typeface="Helvetica Neue"/>
              </a:rPr>
              <a:t>huan ying ben ke xin sheng ru xue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BA2652-3C77-46EE-A876-07BCAD7A4A4C}"/>
              </a:ext>
            </a:extLst>
          </p:cNvPr>
          <p:cNvSpPr/>
          <p:nvPr/>
        </p:nvSpPr>
        <p:spPr>
          <a:xfrm>
            <a:off x="748146" y="1154471"/>
            <a:ext cx="102523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24292E"/>
                </a:solidFill>
                <a:latin typeface="-apple-system"/>
              </a:rPr>
              <a:t>学校实施无纸化办公，需要设计一个显示程序用于开学报到。要求根据输入的学生类型，输出如下对应的欢迎信息：</a:t>
            </a:r>
            <a:endParaRPr lang="zh-CN" altLang="en-US" sz="20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65290CF-3F61-4FC1-A03B-78746D82AFE0}"/>
              </a:ext>
            </a:extLst>
          </p:cNvPr>
          <p:cNvGrpSpPr/>
          <p:nvPr/>
        </p:nvGrpSpPr>
        <p:grpSpPr>
          <a:xfrm>
            <a:off x="-1" y="6427504"/>
            <a:ext cx="12192001" cy="282004"/>
            <a:chOff x="0" y="6349682"/>
            <a:chExt cx="12192001" cy="282004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7A68410-E51F-4F2B-937E-7422A7D41743}"/>
                </a:ext>
              </a:extLst>
            </p:cNvPr>
            <p:cNvSpPr/>
            <p:nvPr/>
          </p:nvSpPr>
          <p:spPr>
            <a:xfrm>
              <a:off x="0" y="6349683"/>
              <a:ext cx="2011674" cy="282003"/>
            </a:xfrm>
            <a:prstGeom prst="rect">
              <a:avLst/>
            </a:prstGeom>
            <a:solidFill>
              <a:srgbClr val="005D9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B397B8F-C24C-4970-9208-28359EF8516E}"/>
                </a:ext>
              </a:extLst>
            </p:cNvPr>
            <p:cNvSpPr/>
            <p:nvPr/>
          </p:nvSpPr>
          <p:spPr>
            <a:xfrm>
              <a:off x="10199688" y="6349682"/>
              <a:ext cx="1992313" cy="282003"/>
            </a:xfrm>
            <a:prstGeom prst="rect">
              <a:avLst/>
            </a:prstGeom>
            <a:solidFill>
              <a:srgbClr val="005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3FF9CF8E-04E2-4D02-9A7F-1D8A9551A75E}" type="slidenum">
                <a:rPr lang="zh-CN" altLang="en-US" sz="160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38</a:t>
              </a:fld>
              <a:endParaRPr lang="zh-CN" altLang="en-US" sz="16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3F3B832-E497-4A1D-B2D1-DE7A877E1DB2}"/>
                </a:ext>
              </a:extLst>
            </p:cNvPr>
            <p:cNvSpPr/>
            <p:nvPr/>
          </p:nvSpPr>
          <p:spPr>
            <a:xfrm>
              <a:off x="2005030" y="6349682"/>
              <a:ext cx="8214019" cy="282003"/>
            </a:xfrm>
            <a:prstGeom prst="rect">
              <a:avLst/>
            </a:prstGeom>
            <a:solidFill>
              <a:srgbClr val="005D9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程序设计原理 天津大学</a:t>
              </a:r>
              <a:endPara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E8405288-859A-46FC-BE3D-7BBF52A7671F}"/>
              </a:ext>
            </a:extLst>
          </p:cNvPr>
          <p:cNvSpPr/>
          <p:nvPr/>
        </p:nvSpPr>
        <p:spPr>
          <a:xfrm>
            <a:off x="851647" y="4088866"/>
            <a:ext cx="82140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24292E"/>
                </a:solidFill>
                <a:latin typeface="-apple-system"/>
              </a:rPr>
              <a:t>输入学生类型，输出欢迎信息</a:t>
            </a:r>
            <a:endParaRPr lang="zh-CN" altLang="en-US" dirty="0"/>
          </a:p>
          <a:p>
            <a:r>
              <a:rPr lang="zh-CN" altLang="en-US" dirty="0">
                <a:solidFill>
                  <a:srgbClr val="24292E"/>
                </a:solidFill>
                <a:latin typeface="-apple-system"/>
              </a:rPr>
              <a:t>为了避免编码问题，只需要输出拼音即可。即分别输出</a:t>
            </a:r>
            <a:r>
              <a:rPr lang="en-US" altLang="zh-CN" dirty="0">
                <a:solidFill>
                  <a:srgbClr val="24292E"/>
                </a:solidFill>
                <a:latin typeface="-apple-system"/>
              </a:rPr>
              <a:t>:</a:t>
            </a:r>
          </a:p>
          <a:p>
            <a:r>
              <a:rPr lang="en-US" altLang="zh-CN" dirty="0">
                <a:solidFill>
                  <a:srgbClr val="24292E"/>
                </a:solidFill>
                <a:latin typeface="-apple-system"/>
              </a:rPr>
              <a:t>“</a:t>
            </a:r>
            <a:r>
              <a:rPr lang="gsw-FR" altLang="zh-CN" dirty="0">
                <a:solidFill>
                  <a:srgbClr val="24292E"/>
                </a:solidFill>
                <a:latin typeface="-apple-system"/>
              </a:rPr>
              <a:t>huan ying ben ke xin sheng ru xue”</a:t>
            </a:r>
          </a:p>
          <a:p>
            <a:r>
              <a:rPr lang="gsw-FR" altLang="zh-CN" dirty="0">
                <a:solidFill>
                  <a:srgbClr val="24292E"/>
                </a:solidFill>
                <a:latin typeface="-apple-system"/>
              </a:rPr>
              <a:t>“huan ying hui xiao”</a:t>
            </a:r>
          </a:p>
          <a:p>
            <a:r>
              <a:rPr lang="gsw-FR" altLang="zh-CN" dirty="0">
                <a:solidFill>
                  <a:srgbClr val="24292E"/>
                </a:solidFill>
                <a:latin typeface="-apple-system"/>
              </a:rPr>
              <a:t>“huan ying yan jiu sheng xin sheng ru xue”</a:t>
            </a:r>
          </a:p>
          <a:p>
            <a:r>
              <a:rPr lang="gsw-FR" altLang="zh-CN" dirty="0">
                <a:solidFill>
                  <a:srgbClr val="24292E"/>
                </a:solidFill>
                <a:latin typeface="-apple-system"/>
              </a:rPr>
              <a:t>“huan ying hui xiao”</a:t>
            </a:r>
            <a:endParaRPr lang="gsw-FR" altLang="zh-CN" b="0" i="0" dirty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80909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53750" y="133350"/>
            <a:ext cx="1009650" cy="10096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EABF93F-0928-415B-BFE4-9BE3337FD991}"/>
              </a:ext>
            </a:extLst>
          </p:cNvPr>
          <p:cNvSpPr>
            <a:spLocks noGrp="1"/>
          </p:cNvSpPr>
          <p:nvPr/>
        </p:nvSpPr>
        <p:spPr>
          <a:xfrm>
            <a:off x="95250" y="171450"/>
            <a:ext cx="209550" cy="657225"/>
          </a:xfrm>
          <a:prstGeom prst="rect">
            <a:avLst/>
          </a:prstGeom>
          <a:solidFill>
            <a:srgbClr val="075F95"/>
          </a:solidFill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D46B7F-6F6F-431B-9128-487A2E94A9B2}"/>
              </a:ext>
            </a:extLst>
          </p:cNvPr>
          <p:cNvSpPr>
            <a:spLocks noGrp="1"/>
          </p:cNvSpPr>
          <p:nvPr/>
        </p:nvSpPr>
        <p:spPr>
          <a:xfrm>
            <a:off x="476250" y="219075"/>
            <a:ext cx="10287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23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7232E"/>
                </a:solidFill>
                <a:latin typeface="Hiragino Sans GB"/>
                <a:ea typeface="Hiragino Sans GB"/>
                <a:cs typeface="Hiragino Sans GB"/>
              </a:rPr>
              <a:t>小结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8F8FCD-D41D-49FF-A752-F68F37B71127}"/>
              </a:ext>
            </a:extLst>
          </p:cNvPr>
          <p:cNvSpPr>
            <a:spLocks noGrp="1"/>
          </p:cNvSpPr>
          <p:nvPr/>
        </p:nvSpPr>
        <p:spPr>
          <a:xfrm>
            <a:off x="0" y="6448425"/>
            <a:ext cx="12192000" cy="285750"/>
          </a:xfrm>
          <a:prstGeom prst="rect">
            <a:avLst/>
          </a:prstGeom>
          <a:solidFill>
            <a:srgbClr val="075F95"/>
          </a:solidFill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30FB2-3A2D-4929-9774-BA02FF8D084C}"/>
              </a:ext>
            </a:extLst>
          </p:cNvPr>
          <p:cNvSpPr>
            <a:spLocks noGrp="1"/>
          </p:cNvSpPr>
          <p:nvPr/>
        </p:nvSpPr>
        <p:spPr>
          <a:xfrm>
            <a:off x="4857750" y="6457950"/>
            <a:ext cx="39052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程序设计原理  天津大学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769530-92A1-4181-8E19-559237A049F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8B53F9-626A-4FF8-8B36-ED823AE04C27}"/>
              </a:ext>
            </a:extLst>
          </p:cNvPr>
          <p:cNvSpPr>
            <a:spLocks noGrp="1"/>
          </p:cNvSpPr>
          <p:nvPr/>
        </p:nvSpPr>
        <p:spPr>
          <a:xfrm>
            <a:off x="1266825" y="1952625"/>
            <a:ext cx="35242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379569-E12D-4601-A0AC-DDC5E63F3DFF}"/>
              </a:ext>
            </a:extLst>
          </p:cNvPr>
          <p:cNvSpPr>
            <a:spLocks noGrp="1"/>
          </p:cNvSpPr>
          <p:nvPr/>
        </p:nvSpPr>
        <p:spPr>
          <a:xfrm>
            <a:off x="1676400" y="1977339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能使用 </a:t>
            </a:r>
            <a:r>
              <a:rPr lang="en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if</a:t>
            </a:r>
            <a:r>
              <a:rPr lang="zh-CN" altLang="e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lang="en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if-else </a:t>
            </a: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和 </a:t>
            </a:r>
            <a:r>
              <a:rPr lang="en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else if</a:t>
            </a:r>
            <a:r>
              <a:rPr lang="zh-CN" altLang="e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，</a:t>
            </a: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实现单分支、双分支和多分支判断。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E053A9-57A6-4CEA-A24C-6C8D0A7B41F3}"/>
              </a:ext>
            </a:extLst>
          </p:cNvPr>
          <p:cNvSpPr>
            <a:spLocks noGrp="1"/>
          </p:cNvSpPr>
          <p:nvPr/>
        </p:nvSpPr>
        <p:spPr>
          <a:xfrm>
            <a:off x="1266825" y="2714625"/>
            <a:ext cx="35242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029DAE-F021-4E54-9D0D-D93A8C118DA2}"/>
              </a:ext>
            </a:extLst>
          </p:cNvPr>
          <p:cNvSpPr>
            <a:spLocks noGrp="1"/>
          </p:cNvSpPr>
          <p:nvPr/>
        </p:nvSpPr>
        <p:spPr>
          <a:xfrm>
            <a:off x="1676400" y="2714625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能用 </a:t>
            </a:r>
            <a:r>
              <a:rPr lang="en-US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&amp;&amp;</a:t>
            </a: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lang="en-US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||</a:t>
            </a: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lang="en-US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! </a:t>
            </a: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组合条件，理解短路求值及其对程序执行的影响。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A227E-A290-4AF4-9236-E43BD8B5C98A}"/>
              </a:ext>
            </a:extLst>
          </p:cNvPr>
          <p:cNvSpPr>
            <a:spLocks noGrp="1"/>
          </p:cNvSpPr>
          <p:nvPr/>
        </p:nvSpPr>
        <p:spPr>
          <a:xfrm>
            <a:off x="1266825" y="3476625"/>
            <a:ext cx="35242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8398D7-1ED9-43DC-9489-D4DDCB9B9CF3}"/>
              </a:ext>
            </a:extLst>
          </p:cNvPr>
          <p:cNvSpPr>
            <a:spLocks noGrp="1"/>
          </p:cNvSpPr>
          <p:nvPr/>
        </p:nvSpPr>
        <p:spPr>
          <a:xfrm>
            <a:off x="1676400" y="3476625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能使用 </a:t>
            </a:r>
            <a:r>
              <a:rPr lang="en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switch </a:t>
            </a: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处理固定选项，理解 </a:t>
            </a:r>
            <a:r>
              <a:rPr lang="en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case</a:t>
            </a:r>
            <a:r>
              <a:rPr lang="zh-CN" altLang="e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lang="en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break </a:t>
            </a: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和 </a:t>
            </a:r>
            <a:r>
              <a:rPr lang="en" altLang="zh-CN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default </a:t>
            </a: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的作用。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E15C0C-6AF7-447A-A26B-C4D0C435F95F}"/>
              </a:ext>
            </a:extLst>
          </p:cNvPr>
          <p:cNvSpPr>
            <a:spLocks noGrp="1"/>
          </p:cNvSpPr>
          <p:nvPr/>
        </p:nvSpPr>
        <p:spPr>
          <a:xfrm>
            <a:off x="1266825" y="4238625"/>
            <a:ext cx="35242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14C120-C929-4E4C-BA28-74BB1B1AD96C}"/>
              </a:ext>
            </a:extLst>
          </p:cNvPr>
          <p:cNvSpPr>
            <a:spLocks noGrp="1"/>
          </p:cNvSpPr>
          <p:nvPr/>
        </p:nvSpPr>
        <p:spPr>
          <a:xfrm>
            <a:off x="1676400" y="4238625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175" b="1" dirty="0">
                <a:solidFill>
                  <a:srgbClr val="000000"/>
                </a:solidFill>
                <a:latin typeface="Hiragino Sans GB"/>
                <a:ea typeface="Hiragino Sans GB"/>
                <a:cs typeface="Hiragino Sans GB"/>
              </a:rPr>
              <a:t>能合理安排判断顺序，正确划分区间，避免边界遗漏和条件书写错误。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33D7CA-131C-040F-3292-90A86530CBCE}"/>
              </a:ext>
            </a:extLst>
          </p:cNvPr>
          <p:cNvSpPr>
            <a:spLocks noGrp="1"/>
          </p:cNvSpPr>
          <p:nvPr/>
        </p:nvSpPr>
        <p:spPr>
          <a:xfrm>
            <a:off x="1270941" y="4897654"/>
            <a:ext cx="35242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91B0E1-EF4F-54AD-65FE-512E1A230505}"/>
              </a:ext>
            </a:extLst>
          </p:cNvPr>
          <p:cNvSpPr>
            <a:spLocks noGrp="1"/>
          </p:cNvSpPr>
          <p:nvPr/>
        </p:nvSpPr>
        <p:spPr>
          <a:xfrm>
            <a:off x="1680516" y="4897654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/>
            <a:r>
              <a:rPr lang="zh-CN" altLang="zh-CN" sz="2175" b="1" dirty="0">
                <a:solidFill>
                  <a:srgbClr val="000000"/>
                </a:solidFill>
                <a:latin typeface="Hiragino Sans GB"/>
                <a:ea typeface="Hiragino Sans GB"/>
              </a:rPr>
              <a:t>能独立完成简单分支程序，并用典型值、边界值检查运行结果。</a:t>
            </a:r>
          </a:p>
        </p:txBody>
      </p:sp>
    </p:spTree>
    <p:extLst>
      <p:ext uri="{BB962C8B-B14F-4D97-AF65-F5344CB8AC3E}">
        <p14:creationId xmlns:p14="http://schemas.microsoft.com/office/powerpoint/2010/main" val="6916117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37"/>
          <p:cNvSpPr>
            <a:spLocks noGrp="1"/>
          </p:cNvSpPr>
          <p:nvPr>
            <p:ph type="sldNum" sz="quarter" idx="12"/>
          </p:nvPr>
        </p:nvSpPr>
        <p:spPr>
          <a:xfrm>
            <a:off x="1749554" y="6568506"/>
            <a:ext cx="242759" cy="365125"/>
          </a:xfrm>
        </p:spPr>
        <p:txBody>
          <a:bodyPr/>
          <a:lstStyle/>
          <a:p>
            <a:fld id="{34D15DCF-B6C0-436A-B323-0F6F8456F113}" type="slidenum">
              <a:rPr lang="zh-CN" altLang="en-US" sz="140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40</a:t>
            </a:fld>
            <a:endParaRPr lang="zh-CN" altLang="en-US" sz="1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灯片编号占位符 37"/>
          <p:cNvSpPr txBox="1"/>
          <p:nvPr/>
        </p:nvSpPr>
        <p:spPr>
          <a:xfrm>
            <a:off x="1768915" y="6631687"/>
            <a:ext cx="242759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D15DCF-B6C0-436A-B323-0F6F8456F113}" type="slidenum">
              <a:rPr lang="zh-CN" altLang="en-US" sz="140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40</a:t>
            </a:fld>
            <a:endParaRPr lang="zh-CN" altLang="en-US" sz="1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144385" y="1663238"/>
            <a:ext cx="9903230" cy="3531524"/>
          </a:xfrm>
          <a:prstGeom prst="roundRect">
            <a:avLst/>
          </a:prstGeom>
          <a:solidFill>
            <a:srgbClr val="005D9D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b="1" dirty="0"/>
              <a:t>Q&amp;&amp;A</a:t>
            </a:r>
            <a:endParaRPr lang="zh-CN" altLang="en-US" sz="5400" b="1" dirty="0"/>
          </a:p>
        </p:txBody>
      </p:sp>
    </p:spTree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方正正纤黑简体"/>
        <a:cs typeface=""/>
      </a:majorFont>
      <a:minorFont>
        <a:latin typeface="Arial"/>
        <a:ea typeface="方正正纤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6204</TotalTime>
  <Words>5073</Words>
  <Application>Microsoft Office PowerPoint</Application>
  <PresentationFormat>宽屏</PresentationFormat>
  <Paragraphs>1016</Paragraphs>
  <Slides>40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7" baseType="lpstr">
      <vt:lpstr>Helvetica Neue</vt:lpstr>
      <vt:lpstr>Hiragino Sans GB</vt:lpstr>
      <vt:lpstr>方正正纤黑简体</vt:lpstr>
      <vt:lpstr>华文仿宋</vt:lpstr>
      <vt:lpstr>华文楷体</vt:lpstr>
      <vt:lpstr>华文中宋</vt:lpstr>
      <vt:lpstr>楷体_GB2312</vt:lpstr>
      <vt:lpstr>宋体</vt:lpstr>
      <vt:lpstr>微软雅黑</vt:lpstr>
      <vt:lpstr>-apple-system</vt:lpstr>
      <vt:lpstr>Arial</vt:lpstr>
      <vt:lpstr>Calibri</vt:lpstr>
      <vt:lpstr>Consolas</vt:lpstr>
      <vt:lpstr>Courier New</vt:lpstr>
      <vt:lpstr>Times New Roman</vt:lpstr>
      <vt:lpstr>Office 主题</vt:lpstr>
      <vt:lpstr>Microsoft Word 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双分支: if-else Statements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Logical Operators</vt:lpstr>
      <vt:lpstr>Logical Operators</vt:lpstr>
      <vt:lpstr>Logical Operators</vt:lpstr>
      <vt:lpstr>Logical Operators</vt:lpstr>
      <vt:lpstr>Logical Operators</vt:lpstr>
      <vt:lpstr>Bitwise Operators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张童</dc:creator>
  <cp:lastModifiedBy>xuewei</cp:lastModifiedBy>
  <cp:revision>390</cp:revision>
  <cp:lastPrinted>2026-10-13T02:56:49Z</cp:lastPrinted>
  <dcterms:created xsi:type="dcterms:W3CDTF">2016-04-28T00:01:00Z</dcterms:created>
  <dcterms:modified xsi:type="dcterms:W3CDTF">2026-10-13T07:14:29Z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FC1D5CD577274636A2918583CF8CBF48_13</vt:lpwstr>
  </property>
  <property fmtid="{D5CDD505-2E9C-101B-9397-08002B2CF9AE}" pid="3" name="KSOProductBuildVer">
    <vt:lpwstr>2052-12.1.0.23542</vt:lpwstr>
  </property>
</Properties>
</file>